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Introduce yourself and the topic: the Morris Worm, released on 2 November 1988, is widely regarded as the first major worm to spread across the Internet. Mention it was written by a Cornell graduate student and infected roughly 6,000 of the ~60,000 computers then online. Say you will cover what it was, how it worked, its impact, the response, and the lasting security lessons.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scene. The 1988 Internet was a small, trusting research network of about 60,000 machines, mostly UNIX systems at universities, labs and government sites. There was no World Wide Web, little security monitoring, slow patching and no coordinated incident response. Explain that this trusting, loosely defended environment is exactly why a single self-replicating program could spread so widely.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the worm precisely. A worm is a standalone program that copies itself across a network without needing a host file or a user to run it — that is the key difference from a virus. This one targeted BSD-derived UNIX on VAX and Sun machines, was released on 2 November 1988 through an MIT computer to hide its Cornell origin, and was written by Robert Tappan Morris. His stated aim was to measure the Internet, but a design flaw made it replicate far too aggressively. It is historic as the first worm to cause large-scale Internet disruption.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the story of the release. On the evening of 2 November 1988, Robert Tappan Morris, a 23-year-old Cornell graduate student, launched the worm through a machine at MIT so it would not look like it came from Cornell. Within hours it was spreading far faster than intended. In the early morning of 3 November an anonymous message — sent on Morris's behalf from Harvard — apologised and gave instructions for stopping it, but network congestion delayed its delivery. Emphasise that the intent was investigative, but the outcome was a major incident.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lifecycle left to right. (1) Find a reachable host on the network. (2) Identify a vulnerability or weak account. (3) Exploit it to get a foothold. (4) Copy the worm across. (5) Execute the copy on the new machine. (6) Scan for more hosts. (7) Spread further. Then stress the loop: each new host repeats all seven steps, so the number of infected machines grows exponentially. Keep the explanation conceptual — this is about understanding the pattern, not reproducing the attack.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Describe the attack surface at a high level. The worm did not rely on a single hole — it combined a debug feature left enabled in the sendmail mail service, a flaw in the finger service, trusted remote-shell relationships between machines, and weak passwords guessed from a small word list and account names. Because UNIX services were widely and uniformly deployed, each weakness opened many identical targets. The lesson: layered weaknesses meant closing one door was not enough.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exponential dynamic using the diagram. Because the worm self-replicated, one infected host spawned several, each of which spawned several more — growth compounded instead of adding up. Multiple propagation paths meant defenders could not stop it by closing just one. Critically, a bug in its reinfection check meant it often re-infected machines it had already compromised, so extra copies piled up, consuming CPU and memory until systems slowed to a crawl. So the damage came less from destruction and more from runaway replication and overload.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 scale carefully, separating fact from estimate. Within about a day the worm affected roughly 6,000 computers — around 10% of the estimated 60,000 then connected. Affected sites included universities, NASA facilities and research labs. Crucially, it did not destroy data; the damage was operational — machines bogged down, email delayed, work halted, and many systems had to be taken offline to clean. Dollar damage estimates ranged widely, from about $100,000 to several million, and should be presented as contemporary estimates rather than an exact figure.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Describe how the incident was handled. Administrators first noticed machines slowing and running duplicate processes. The response pattern was: Detect, Isolate (disconnect affected hosts), Analyze (teams at Berkeley, MIT and elsewhere reverse-engineered the code and shared fixes), Clean and Patch the exploited services, then Restore systems over the following days. The key takeaway: this was an improvised, community effort because no formal structure existed — and that gap is precisely what led to the creation of CERT/CC.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the two legacies. Legally: Morris became the first person convicted under the 1986 Computer Fraud and Abuse Act; in 1990 he received three years' probation, a fine of about $10,000, and 400 hours of community service — no jail. The case showed that unleashing such code carried genuine criminal liability. In cybersecurity terms it was a wake-up call: it exposed how fragile the network was and led directly to the first CERT Coordination Center, and it accelerated attention to secure coding, patching and monitoring — the beginning of cybersecurity as a profession.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Turn the incident into defensive principles. Run through the nine cards grouped loosely: identity and access (strong authentication, access control, least privilege), system hygiene (secure configuration — disable debug modes, patch management, vulnerability management), code quality (secure coding — validate input), and operations (network monitoring, segmentation to contain spread, and a tested incident-response plan). The message: every one of these maps directly to a weakness the Morris Worm exploited, and together they are how modern organisations prevent a repeat.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Bridge 1988 to the present, and label it clearly as modern analysis. Point column by column: network trust moved from open and trusting to zero-trust and segmented; monitoring went from almost none to IDS/IPS, SIEM and continuous monitoring; defences from weak passwords to firewalls, endpoint protection and MFA; patching from slow and manual to automated; and response from improvised to dedicated CERT and SOC teams. Conclude that the Morris Worm exposed gaps that directly shaped every one of these modern controls.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core message. A single self-replicating program, exploiting avoidable weaknesses, turned one vulnerable host into a network-wide crisis within a day. Summarise the arc: Attack, Propagation, Impact, Response, Lessons. End on the enduring point — security has to be designed in, monitored and practised before an incident, not improvised afterwards. The Morris Worm made Internet security visible and still shapes how we defend networks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 the sources you relied on and note their authority: the FBI history, Spafford's technical analysis, the MIT 'With Microscope and Tweezers' paper, the U.S. GAO report, the Second Circuit court opinion for the legal facts, CERT/CC, and the Computer History Museum. Make clear the historical facts come from these sources, while the then-vs-today comparison is your own modern analysis.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jp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image" Target="../media/image-2-2.jp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slideLayout" Target="../slideLayouts/slideLayout1.xml"/><Relationship Id="rId9"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image" Target="../media/image-8-2.jp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image" Target="../media/image-11-9.png"/><Relationship Id="rId10" Type="http://schemas.openxmlformats.org/officeDocument/2006/relationships/image" Target="../media/image-11-10.png"/><Relationship Id="rId11" Type="http://schemas.openxmlformats.org/officeDocument/2006/relationships/slideLayout" Target="../slideLayouts/slideLayout1.xml"/><Relationship Id="rId1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assets/terminal.jpg">    </p:cNvPr>
          <p:cNvPicPr>
            <a:picLocks noChangeAspect="1"/>
          </p:cNvPicPr>
          <p:nvPr/>
        </p:nvPicPr>
        <p:blipFill>
          <a:blip r:embed="rId2"/>
          <a:srcRect l="0" r="0" t="0" b="0"/>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6121F">
              <a:alpha val="78000"/>
            </a:srgbClr>
          </a:solidFill>
          <a:ln/>
        </p:spPr>
      </p:sp>
      <p:sp>
        <p:nvSpPr>
          <p:cNvPr id="4" name="Shape 1"/>
          <p:cNvSpPr/>
          <p:nvPr/>
        </p:nvSpPr>
        <p:spPr>
          <a:xfrm>
            <a:off x="0" y="0"/>
            <a:ext cx="6949440" cy="6858000"/>
          </a:xfrm>
          <a:prstGeom prst="rect">
            <a:avLst/>
          </a:prstGeom>
          <a:solidFill>
            <a:srgbClr val="06121F">
              <a:alpha val="82000"/>
            </a:srgbClr>
          </a:solidFill>
          <a:ln/>
        </p:spPr>
      </p:sp>
      <p:sp>
        <p:nvSpPr>
          <p:cNvPr id="5" name="Text 2"/>
          <p:cNvSpPr txBox="1"/>
          <p:nvPr/>
        </p:nvSpPr>
        <p:spPr>
          <a:xfrm>
            <a:off x="777240" y="1234440"/>
            <a:ext cx="7315200" cy="292608"/>
          </a:xfrm>
          <a:prstGeom prst="rect">
            <a:avLst/>
          </a:prstGeom>
          <a:noFill/>
          <a:ln/>
        </p:spPr>
        <p:txBody>
          <a:bodyPr wrap="square" lIns="0" tIns="0" rIns="0" bIns="0" rtlCol="0" anchor="ctr"/>
          <a:lstStyle/>
          <a:p>
            <a:pPr indent="0" marL="0">
              <a:buNone/>
            </a:pPr>
            <a:r>
              <a:rPr lang="en-US" sz="1250" spc="250" kern="0" dirty="0">
                <a:solidFill>
                  <a:srgbClr val="22D3EE"/>
                </a:solidFill>
                <a:latin typeface="Courier New" pitchFamily="34" charset="0"/>
                <a:ea typeface="Courier New" pitchFamily="34" charset="-122"/>
                <a:cs typeface="Courier New" pitchFamily="34" charset="-120"/>
              </a:rPr>
              <a:t>CYBER SECURITY  ·  CASE STUDY</a:t>
            </a:r>
            <a:endParaRPr lang="en-US" sz="1250" dirty="0"/>
          </a:p>
        </p:txBody>
      </p:sp>
      <p:sp>
        <p:nvSpPr>
          <p:cNvPr id="6" name="Text 3"/>
          <p:cNvSpPr txBox="1"/>
          <p:nvPr/>
        </p:nvSpPr>
        <p:spPr>
          <a:xfrm>
            <a:off x="731520" y="1600200"/>
            <a:ext cx="8229600" cy="2194560"/>
          </a:xfrm>
          <a:prstGeom prst="rect">
            <a:avLst/>
          </a:prstGeom>
          <a:noFill/>
          <a:ln/>
        </p:spPr>
        <p:txBody>
          <a:bodyPr wrap="square" lIns="0" tIns="0" rIns="0" bIns="0" rtlCol="0" anchor="ctr"/>
          <a:lstStyle/>
          <a:p>
            <a:pPr indent="0" marL="0">
              <a:lnSpc>
                <a:spcPct val="98000"/>
              </a:lnSpc>
              <a:buNone/>
            </a:pPr>
            <a:r>
              <a:rPr lang="en-US" sz="6000" b="1" dirty="0">
                <a:solidFill>
                  <a:srgbClr val="FFFFFF"/>
                </a:solidFill>
                <a:latin typeface="Arial" pitchFamily="34" charset="0"/>
                <a:ea typeface="Arial" pitchFamily="34" charset="-122"/>
                <a:cs typeface="Arial" pitchFamily="34" charset="-120"/>
              </a:rPr>
              <a:t>The Morris Worm</a:t>
            </a:r>
            <a:endParaRPr lang="en-US" sz="6000" dirty="0"/>
          </a:p>
          <a:p>
            <a:pPr indent="0" marL="0">
              <a:lnSpc>
                <a:spcPct val="98000"/>
              </a:lnSpc>
              <a:buNone/>
            </a:pPr>
            <a:r>
              <a:rPr lang="en-US" sz="6000" b="1" dirty="0">
                <a:solidFill>
                  <a:srgbClr val="22D3EE"/>
                </a:solidFill>
                <a:latin typeface="Arial" pitchFamily="34" charset="0"/>
                <a:ea typeface="Arial" pitchFamily="34" charset="-122"/>
                <a:cs typeface="Arial" pitchFamily="34" charset="-120"/>
              </a:rPr>
              <a:t>1988 Cyber Attack</a:t>
            </a:r>
            <a:endParaRPr lang="en-US" sz="6000" dirty="0"/>
          </a:p>
        </p:txBody>
      </p:sp>
      <p:sp>
        <p:nvSpPr>
          <p:cNvPr id="7" name="Shape 4"/>
          <p:cNvSpPr/>
          <p:nvPr/>
        </p:nvSpPr>
        <p:spPr>
          <a:xfrm>
            <a:off x="777240" y="3977640"/>
            <a:ext cx="1737360" cy="45720"/>
          </a:xfrm>
          <a:prstGeom prst="rect">
            <a:avLst/>
          </a:prstGeom>
          <a:solidFill>
            <a:srgbClr val="22D3EE"/>
          </a:solidFill>
          <a:ln/>
        </p:spPr>
      </p:sp>
      <p:sp>
        <p:nvSpPr>
          <p:cNvPr id="8" name="Text 5"/>
          <p:cNvSpPr txBox="1"/>
          <p:nvPr/>
        </p:nvSpPr>
        <p:spPr>
          <a:xfrm>
            <a:off x="777240" y="4206240"/>
            <a:ext cx="6583680" cy="640080"/>
          </a:xfrm>
          <a:prstGeom prst="rect">
            <a:avLst/>
          </a:prstGeom>
          <a:noFill/>
          <a:ln/>
        </p:spPr>
        <p:txBody>
          <a:bodyPr wrap="square" lIns="0" tIns="0" rIns="0" bIns="0" rtlCol="0" anchor="ctr"/>
          <a:lstStyle/>
          <a:p>
            <a:pPr indent="0" marL="0">
              <a:buNone/>
            </a:pPr>
            <a:r>
              <a:rPr lang="en-US" sz="1700" dirty="0">
                <a:solidFill>
                  <a:srgbClr val="EAF4FB"/>
                </a:solidFill>
                <a:latin typeface="Arial" pitchFamily="34" charset="0"/>
                <a:ea typeface="Arial" pitchFamily="34" charset="-122"/>
                <a:cs typeface="Arial" pitchFamily="34" charset="-120"/>
              </a:rPr>
              <a:t>One of the first self-replicating programs to disrupt the early Internet — released November 2, 1988.</a:t>
            </a:r>
            <a:endParaRPr lang="en-US" sz="1700" dirty="0"/>
          </a:p>
        </p:txBody>
      </p:sp>
      <p:sp>
        <p:nvSpPr>
          <p:cNvPr id="9" name="Shape 6"/>
          <p:cNvSpPr/>
          <p:nvPr/>
        </p:nvSpPr>
        <p:spPr>
          <a:xfrm>
            <a:off x="777240" y="5029200"/>
            <a:ext cx="6309360" cy="1417320"/>
          </a:xfrm>
          <a:prstGeom prst="roundRect">
            <a:avLst>
              <a:gd name="adj" fmla="val 6452"/>
            </a:avLst>
          </a:prstGeom>
          <a:solidFill>
            <a:srgbClr val="0B2A45"/>
          </a:solidFill>
          <a:ln/>
          <a:effectLst>
            <a:outerShdw sx="100000" sy="100000" kx="0" ky="0" algn="bl" rotWithShape="0" blurRad="127000" dist="38100" dir="5400000">
              <a:srgbClr val="000000">
                <a:alpha val="35000"/>
              </a:srgbClr>
            </a:outerShdw>
          </a:effectLst>
        </p:spPr>
      </p:sp>
      <p:sp>
        <p:nvSpPr>
          <p:cNvPr id="10" name="Text 7"/>
          <p:cNvSpPr txBox="1"/>
          <p:nvPr/>
        </p:nvSpPr>
        <p:spPr>
          <a:xfrm>
            <a:off x="1005840" y="5175504"/>
            <a:ext cx="3017520" cy="274320"/>
          </a:xfrm>
          <a:prstGeom prst="rect">
            <a:avLst/>
          </a:prstGeom>
          <a:noFill/>
          <a:ln/>
        </p:spPr>
        <p:txBody>
          <a:bodyPr wrap="square" lIns="0" tIns="0" rIns="0" bIns="0" rtlCol="0" anchor="ctr"/>
          <a:lstStyle/>
          <a:p>
            <a:pPr indent="0" marL="0">
              <a:buNone/>
            </a:pPr>
            <a:r>
              <a:rPr lang="en-US" sz="1150" b="1" dirty="0">
                <a:solidFill>
                  <a:srgbClr val="22D3EE"/>
                </a:solidFill>
                <a:latin typeface="Courier New" pitchFamily="34" charset="0"/>
                <a:ea typeface="Courier New" pitchFamily="34" charset="-122"/>
                <a:cs typeface="Courier New" pitchFamily="34" charset="-120"/>
              </a:rPr>
              <a:t>Name:  </a:t>
            </a:r>
            <a:pPr indent="0" marL="0">
              <a:buNone/>
            </a:pPr>
            <a:r>
              <a:rPr lang="en-US" sz="1150" dirty="0">
                <a:solidFill>
                  <a:srgbClr val="94A3B8"/>
                </a:solidFill>
                <a:latin typeface="Courier New" pitchFamily="34" charset="0"/>
                <a:ea typeface="Courier New" pitchFamily="34" charset="-122"/>
                <a:cs typeface="Courier New" pitchFamily="34" charset="-120"/>
              </a:rPr>
              <a:t>______________</a:t>
            </a:r>
            <a:endParaRPr lang="en-US" sz="1150" dirty="0"/>
          </a:p>
        </p:txBody>
      </p:sp>
      <p:sp>
        <p:nvSpPr>
          <p:cNvPr id="11" name="Text 8"/>
          <p:cNvSpPr txBox="1"/>
          <p:nvPr/>
        </p:nvSpPr>
        <p:spPr>
          <a:xfrm>
            <a:off x="4114800" y="5175504"/>
            <a:ext cx="3017520" cy="274320"/>
          </a:xfrm>
          <a:prstGeom prst="rect">
            <a:avLst/>
          </a:prstGeom>
          <a:noFill/>
          <a:ln/>
        </p:spPr>
        <p:txBody>
          <a:bodyPr wrap="square" lIns="0" tIns="0" rIns="0" bIns="0" rtlCol="0" anchor="ctr"/>
          <a:lstStyle/>
          <a:p>
            <a:pPr indent="0" marL="0">
              <a:buNone/>
            </a:pPr>
            <a:r>
              <a:rPr lang="en-US" sz="1150" b="1" dirty="0">
                <a:solidFill>
                  <a:srgbClr val="22D3EE"/>
                </a:solidFill>
                <a:latin typeface="Courier New" pitchFamily="34" charset="0"/>
                <a:ea typeface="Courier New" pitchFamily="34" charset="-122"/>
                <a:cs typeface="Courier New" pitchFamily="34" charset="-120"/>
              </a:rPr>
              <a:t>Enrollment No.:  </a:t>
            </a:r>
            <a:pPr indent="0" marL="0">
              <a:buNone/>
            </a:pPr>
            <a:r>
              <a:rPr lang="en-US" sz="1150" dirty="0">
                <a:solidFill>
                  <a:srgbClr val="94A3B8"/>
                </a:solidFill>
                <a:latin typeface="Courier New" pitchFamily="34" charset="0"/>
                <a:ea typeface="Courier New" pitchFamily="34" charset="-122"/>
                <a:cs typeface="Courier New" pitchFamily="34" charset="-120"/>
              </a:rPr>
              <a:t>______________</a:t>
            </a:r>
            <a:endParaRPr lang="en-US" sz="1150" dirty="0"/>
          </a:p>
        </p:txBody>
      </p:sp>
      <p:sp>
        <p:nvSpPr>
          <p:cNvPr id="12" name="Text 9"/>
          <p:cNvSpPr txBox="1"/>
          <p:nvPr/>
        </p:nvSpPr>
        <p:spPr>
          <a:xfrm>
            <a:off x="1005840" y="5541264"/>
            <a:ext cx="3017520" cy="274320"/>
          </a:xfrm>
          <a:prstGeom prst="rect">
            <a:avLst/>
          </a:prstGeom>
          <a:noFill/>
          <a:ln/>
        </p:spPr>
        <p:txBody>
          <a:bodyPr wrap="square" lIns="0" tIns="0" rIns="0" bIns="0" rtlCol="0" anchor="ctr"/>
          <a:lstStyle/>
          <a:p>
            <a:pPr indent="0" marL="0">
              <a:buNone/>
            </a:pPr>
            <a:r>
              <a:rPr lang="en-US" sz="1150" b="1" dirty="0">
                <a:solidFill>
                  <a:srgbClr val="22D3EE"/>
                </a:solidFill>
                <a:latin typeface="Courier New" pitchFamily="34" charset="0"/>
                <a:ea typeface="Courier New" pitchFamily="34" charset="-122"/>
                <a:cs typeface="Courier New" pitchFamily="34" charset="-120"/>
              </a:rPr>
              <a:t>Class:  </a:t>
            </a:r>
            <a:pPr indent="0" marL="0">
              <a:buNone/>
            </a:pPr>
            <a:r>
              <a:rPr lang="en-US" sz="1150" dirty="0">
                <a:solidFill>
                  <a:srgbClr val="94A3B8"/>
                </a:solidFill>
                <a:latin typeface="Courier New" pitchFamily="34" charset="0"/>
                <a:ea typeface="Courier New" pitchFamily="34" charset="-122"/>
                <a:cs typeface="Courier New" pitchFamily="34" charset="-120"/>
              </a:rPr>
              <a:t>______________</a:t>
            </a:r>
            <a:endParaRPr lang="en-US" sz="1150" dirty="0"/>
          </a:p>
        </p:txBody>
      </p:sp>
      <p:sp>
        <p:nvSpPr>
          <p:cNvPr id="13" name="Text 10"/>
          <p:cNvSpPr txBox="1"/>
          <p:nvPr/>
        </p:nvSpPr>
        <p:spPr>
          <a:xfrm>
            <a:off x="4114800" y="5541264"/>
            <a:ext cx="3017520" cy="274320"/>
          </a:xfrm>
          <a:prstGeom prst="rect">
            <a:avLst/>
          </a:prstGeom>
          <a:noFill/>
          <a:ln/>
        </p:spPr>
        <p:txBody>
          <a:bodyPr wrap="square" lIns="0" tIns="0" rIns="0" bIns="0" rtlCol="0" anchor="ctr"/>
          <a:lstStyle/>
          <a:p>
            <a:pPr indent="0" marL="0">
              <a:buNone/>
            </a:pPr>
            <a:r>
              <a:rPr lang="en-US" sz="1150" b="1" dirty="0">
                <a:solidFill>
                  <a:srgbClr val="22D3EE"/>
                </a:solidFill>
                <a:latin typeface="Courier New" pitchFamily="34" charset="0"/>
                <a:ea typeface="Courier New" pitchFamily="34" charset="-122"/>
                <a:cs typeface="Courier New" pitchFamily="34" charset="-120"/>
              </a:rPr>
              <a:t>Subject:  </a:t>
            </a:r>
            <a:pPr indent="0" marL="0">
              <a:buNone/>
            </a:pPr>
            <a:r>
              <a:rPr lang="en-US" sz="1150" dirty="0">
                <a:solidFill>
                  <a:srgbClr val="94A3B8"/>
                </a:solidFill>
                <a:latin typeface="Courier New" pitchFamily="34" charset="0"/>
                <a:ea typeface="Courier New" pitchFamily="34" charset="-122"/>
                <a:cs typeface="Courier New" pitchFamily="34" charset="-120"/>
              </a:rPr>
              <a:t>______________</a:t>
            </a:r>
            <a:endParaRPr lang="en-US" sz="1150" dirty="0"/>
          </a:p>
        </p:txBody>
      </p:sp>
      <p:sp>
        <p:nvSpPr>
          <p:cNvPr id="14" name="Text 11"/>
          <p:cNvSpPr txBox="1"/>
          <p:nvPr/>
        </p:nvSpPr>
        <p:spPr>
          <a:xfrm>
            <a:off x="1005840" y="5907024"/>
            <a:ext cx="3017520" cy="274320"/>
          </a:xfrm>
          <a:prstGeom prst="rect">
            <a:avLst/>
          </a:prstGeom>
          <a:noFill/>
          <a:ln/>
        </p:spPr>
        <p:txBody>
          <a:bodyPr wrap="square" lIns="0" tIns="0" rIns="0" bIns="0" rtlCol="0" anchor="ctr"/>
          <a:lstStyle/>
          <a:p>
            <a:pPr indent="0" marL="0">
              <a:buNone/>
            </a:pPr>
            <a:r>
              <a:rPr lang="en-US" sz="1150" b="1" dirty="0">
                <a:solidFill>
                  <a:srgbClr val="22D3EE"/>
                </a:solidFill>
                <a:latin typeface="Courier New" pitchFamily="34" charset="0"/>
                <a:ea typeface="Courier New" pitchFamily="34" charset="-122"/>
                <a:cs typeface="Courier New" pitchFamily="34" charset="-120"/>
              </a:rPr>
              <a:t>Guided By:  </a:t>
            </a:r>
            <a:pPr indent="0" marL="0">
              <a:buNone/>
            </a:pPr>
            <a:r>
              <a:rPr lang="en-US" sz="1150" dirty="0">
                <a:solidFill>
                  <a:srgbClr val="94A3B8"/>
                </a:solidFill>
                <a:latin typeface="Courier New" pitchFamily="34" charset="0"/>
                <a:ea typeface="Courier New" pitchFamily="34" charset="-122"/>
                <a:cs typeface="Courier New" pitchFamily="34" charset="-120"/>
              </a:rPr>
              <a:t>______________</a:t>
            </a:r>
            <a:endParaRPr lang="en-US" sz="1150" dirty="0"/>
          </a:p>
        </p:txBody>
      </p:sp>
      <p:sp>
        <p:nvSpPr>
          <p:cNvPr id="15" name="Text 12"/>
          <p:cNvSpPr txBox="1"/>
          <p:nvPr/>
        </p:nvSpPr>
        <p:spPr>
          <a:xfrm>
            <a:off x="4114800" y="5907024"/>
            <a:ext cx="2743200" cy="274320"/>
          </a:xfrm>
          <a:prstGeom prst="rect">
            <a:avLst/>
          </a:prstGeom>
          <a:noFill/>
          <a:ln/>
        </p:spPr>
        <p:txBody>
          <a:bodyPr wrap="square" lIns="0" tIns="0" rIns="0" bIns="0" rtlCol="0" anchor="ctr"/>
          <a:lstStyle/>
          <a:p>
            <a:pPr indent="0" marL="0">
              <a:buNone/>
            </a:pPr>
            <a:r>
              <a:rPr lang="en-US" sz="1050" i="1" dirty="0">
                <a:solidFill>
                  <a:srgbClr val="94A3B8"/>
                </a:solidFill>
                <a:latin typeface="Courier New" pitchFamily="34" charset="0"/>
                <a:ea typeface="Courier New" pitchFamily="34" charset="-122"/>
                <a:cs typeface="Courier New" pitchFamily="34" charset="-120"/>
              </a:rPr>
              <a:t>Cyber Security · Case Study</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11430000" y="6400800"/>
            <a:ext cx="548640" cy="320040"/>
          </a:xfrm>
          <a:prstGeom prst="rect">
            <a:avLst/>
          </a:prstGeom>
          <a:noFill/>
          <a:ln/>
        </p:spPr>
        <p:txBody>
          <a:bodyPr wrap="square" lIns="0" tIns="0" rIns="0" bIns="0" rtlCol="0" anchor="ctr"/>
          <a:lstStyle/>
          <a:p>
            <a:pPr algn="r" indent="0" marL="0">
              <a:buNone/>
            </a:pPr>
            <a:r>
              <a:rPr lang="en-US" sz="1100" dirty="0">
                <a:solidFill>
                  <a:srgbClr val="94A3B8"/>
                </a:solidFill>
                <a:latin typeface="Courier New" pitchFamily="34" charset="0"/>
                <a:ea typeface="Courier New" pitchFamily="34" charset="-122"/>
                <a:cs typeface="Courier New" pitchFamily="34" charset="-120"/>
              </a:rPr>
              <a:t>2</a:t>
            </a:r>
            <a:endParaRPr lang="en-US" sz="1100" dirty="0"/>
          </a:p>
        </p:txBody>
      </p:sp>
      <p:pic>
        <p:nvPicPr>
          <p:cNvPr id="3" name="Image 0" descr="assets/network.jpg">    </p:cNvPr>
          <p:cNvPicPr>
            <a:picLocks noChangeAspect="1"/>
          </p:cNvPicPr>
          <p:nvPr/>
        </p:nvPicPr>
        <p:blipFill>
          <a:blip r:embed="rId2"/>
          <a:srcRect l="0" r="0" t="0" b="0"/>
          <a:stretch/>
        </p:blipFill>
        <p:spPr>
          <a:xfrm>
            <a:off x="0" y="0"/>
            <a:ext cx="5852160" cy="6858000"/>
          </a:xfrm>
          <a:prstGeom prst="rect">
            <a:avLst/>
          </a:prstGeom>
        </p:spPr>
      </p:pic>
      <p:sp>
        <p:nvSpPr>
          <p:cNvPr id="4" name="Shape 1"/>
          <p:cNvSpPr/>
          <p:nvPr/>
        </p:nvSpPr>
        <p:spPr>
          <a:xfrm>
            <a:off x="0" y="0"/>
            <a:ext cx="5852160" cy="6858000"/>
          </a:xfrm>
          <a:prstGeom prst="rect">
            <a:avLst/>
          </a:prstGeom>
          <a:solidFill>
            <a:srgbClr val="06121F">
              <a:alpha val="65000"/>
            </a:srgbClr>
          </a:solidFill>
          <a:ln/>
        </p:spPr>
      </p:sp>
      <p:sp>
        <p:nvSpPr>
          <p:cNvPr id="5" name="Text 2"/>
          <p:cNvSpPr txBox="1"/>
          <p:nvPr/>
        </p:nvSpPr>
        <p:spPr>
          <a:xfrm>
            <a:off x="6355080" y="502920"/>
            <a:ext cx="5486400" cy="292608"/>
          </a:xfrm>
          <a:prstGeom prst="rect">
            <a:avLst/>
          </a:prstGeom>
          <a:noFill/>
          <a:ln/>
        </p:spPr>
        <p:txBody>
          <a:bodyPr wrap="square" lIns="0" tIns="0" rIns="0" bIns="0" rtlCol="0" anchor="ctr"/>
          <a:lstStyle/>
          <a:p>
            <a:pPr indent="0" marL="0">
              <a:buNone/>
            </a:pPr>
            <a:r>
              <a:rPr lang="en-US" sz="1250" spc="250" kern="0" dirty="0">
                <a:solidFill>
                  <a:srgbClr val="22D3EE"/>
                </a:solidFill>
                <a:latin typeface="Courier New" pitchFamily="34" charset="0"/>
                <a:ea typeface="Courier New" pitchFamily="34" charset="-122"/>
                <a:cs typeface="Courier New" pitchFamily="34" charset="-120"/>
              </a:rPr>
              <a:t>THE ENVIRONMENT</a:t>
            </a:r>
            <a:endParaRPr lang="en-US" sz="1250" dirty="0"/>
          </a:p>
        </p:txBody>
      </p:sp>
      <p:sp>
        <p:nvSpPr>
          <p:cNvPr id="6" name="Text 3"/>
          <p:cNvSpPr txBox="1"/>
          <p:nvPr/>
        </p:nvSpPr>
        <p:spPr>
          <a:xfrm>
            <a:off x="6355080" y="822960"/>
            <a:ext cx="5669280" cy="1097280"/>
          </a:xfrm>
          <a:prstGeom prst="rect">
            <a:avLst/>
          </a:prstGeom>
          <a:noFill/>
          <a:ln/>
        </p:spPr>
        <p:txBody>
          <a:bodyPr wrap="square" lIns="0" tIns="0" rIns="0" bIns="0" rtlCol="0" anchor="ctr"/>
          <a:lstStyle/>
          <a:p>
            <a:pPr indent="0" marL="0">
              <a:lnSpc>
                <a:spcPct val="98000"/>
              </a:lnSpc>
              <a:buNone/>
            </a:pPr>
            <a:r>
              <a:rPr lang="en-US" sz="3100" b="1" dirty="0">
                <a:solidFill>
                  <a:srgbClr val="FFFFFF"/>
                </a:solidFill>
                <a:latin typeface="Arial" pitchFamily="34" charset="0"/>
                <a:ea typeface="Arial" pitchFamily="34" charset="-122"/>
                <a:cs typeface="Arial" pitchFamily="34" charset="-120"/>
              </a:rPr>
              <a:t>The Internet before the storm</a:t>
            </a:r>
            <a:endParaRPr lang="en-US" sz="3100" dirty="0"/>
          </a:p>
        </p:txBody>
      </p:sp>
      <p:sp>
        <p:nvSpPr>
          <p:cNvPr id="7" name="Text 4"/>
          <p:cNvSpPr txBox="1"/>
          <p:nvPr/>
        </p:nvSpPr>
        <p:spPr>
          <a:xfrm>
            <a:off x="6355080" y="1874520"/>
            <a:ext cx="5486400" cy="685800"/>
          </a:xfrm>
          <a:prstGeom prst="rect">
            <a:avLst/>
          </a:prstGeom>
          <a:noFill/>
          <a:ln/>
        </p:spPr>
        <p:txBody>
          <a:bodyPr wrap="square" lIns="0" tIns="0" rIns="0" bIns="0" rtlCol="0" anchor="ctr"/>
          <a:lstStyle/>
          <a:p>
            <a:pPr indent="0" marL="0">
              <a:buNone/>
            </a:pPr>
            <a:r>
              <a:rPr lang="en-US" sz="1400" dirty="0">
                <a:solidFill>
                  <a:srgbClr val="EAF4FB"/>
                </a:solidFill>
                <a:latin typeface="Arial" pitchFamily="34" charset="0"/>
                <a:ea typeface="Arial" pitchFamily="34" charset="-122"/>
                <a:cs typeface="Arial" pitchFamily="34" charset="-120"/>
              </a:rPr>
              <a:t>In 1988 the network was small, open and built on mutual trust — with few of the defences we rely on today.</a:t>
            </a:r>
            <a:endParaRPr lang="en-US" sz="1400" dirty="0"/>
          </a:p>
        </p:txBody>
      </p:sp>
      <p:sp>
        <p:nvSpPr>
          <p:cNvPr id="8" name="Shape 5"/>
          <p:cNvSpPr/>
          <p:nvPr/>
        </p:nvSpPr>
        <p:spPr>
          <a:xfrm>
            <a:off x="6355080" y="2697480"/>
            <a:ext cx="457200" cy="457200"/>
          </a:xfrm>
          <a:prstGeom prst="ellipse">
            <a:avLst/>
          </a:prstGeom>
          <a:solidFill>
            <a:srgbClr val="0B2A45"/>
          </a:solidFill>
          <a:ln/>
        </p:spPr>
      </p:sp>
      <p:pic>
        <p:nvPicPr>
          <p:cNvPr id="9" name="Image 1" descr="assets/icons/share2.png">    </p:cNvPr>
          <p:cNvPicPr>
            <a:picLocks noChangeAspect="1"/>
          </p:cNvPicPr>
          <p:nvPr/>
        </p:nvPicPr>
        <p:blipFill>
          <a:blip r:embed="rId3"/>
          <a:stretch>
            <a:fillRect/>
          </a:stretch>
        </p:blipFill>
        <p:spPr>
          <a:xfrm>
            <a:off x="6483096" y="2825496"/>
            <a:ext cx="201168" cy="201168"/>
          </a:xfrm>
          <a:prstGeom prst="rect">
            <a:avLst/>
          </a:prstGeom>
        </p:spPr>
      </p:pic>
      <p:sp>
        <p:nvSpPr>
          <p:cNvPr id="10" name="Text 6"/>
          <p:cNvSpPr txBox="1"/>
          <p:nvPr/>
        </p:nvSpPr>
        <p:spPr>
          <a:xfrm>
            <a:off x="6995160" y="2642616"/>
            <a:ext cx="4892040" cy="566928"/>
          </a:xfrm>
          <a:prstGeom prst="rect">
            <a:avLst/>
          </a:prstGeom>
          <a:noFill/>
          <a:ln/>
        </p:spPr>
        <p:txBody>
          <a:bodyPr wrap="square" lIns="0" tIns="0" rIns="0" bIns="0" rtlCol="0" anchor="ctr"/>
          <a:lstStyle/>
          <a:p>
            <a:pPr indent="0" marL="0">
              <a:buNone/>
            </a:pPr>
            <a:r>
              <a:rPr lang="en-US" sz="1350" dirty="0">
                <a:solidFill>
                  <a:srgbClr val="EAF4FB"/>
                </a:solidFill>
                <a:latin typeface="Arial" pitchFamily="34" charset="0"/>
                <a:ea typeface="Arial" pitchFamily="34" charset="-122"/>
                <a:cs typeface="Arial" pitchFamily="34" charset="-120"/>
              </a:rPr>
              <a:t>ARPANET and research networks linked universities, laboratories and government sites.</a:t>
            </a:r>
            <a:endParaRPr lang="en-US" sz="1350" dirty="0"/>
          </a:p>
        </p:txBody>
      </p:sp>
      <p:sp>
        <p:nvSpPr>
          <p:cNvPr id="11" name="Shape 7"/>
          <p:cNvSpPr/>
          <p:nvPr/>
        </p:nvSpPr>
        <p:spPr>
          <a:xfrm>
            <a:off x="6355080" y="3538728"/>
            <a:ext cx="457200" cy="457200"/>
          </a:xfrm>
          <a:prstGeom prst="ellipse">
            <a:avLst/>
          </a:prstGeom>
          <a:solidFill>
            <a:srgbClr val="0B2A45"/>
          </a:solidFill>
          <a:ln/>
        </p:spPr>
      </p:sp>
      <p:pic>
        <p:nvPicPr>
          <p:cNvPr id="12" name="Image 2" descr="assets/icons/cpu.png">    </p:cNvPr>
          <p:cNvPicPr>
            <a:picLocks noChangeAspect="1"/>
          </p:cNvPicPr>
          <p:nvPr/>
        </p:nvPicPr>
        <p:blipFill>
          <a:blip r:embed="rId4"/>
          <a:stretch>
            <a:fillRect/>
          </a:stretch>
        </p:blipFill>
        <p:spPr>
          <a:xfrm>
            <a:off x="6483096" y="3666744"/>
            <a:ext cx="201168" cy="201168"/>
          </a:xfrm>
          <a:prstGeom prst="rect">
            <a:avLst/>
          </a:prstGeom>
        </p:spPr>
      </p:pic>
      <p:sp>
        <p:nvSpPr>
          <p:cNvPr id="13" name="Text 8"/>
          <p:cNvSpPr txBox="1"/>
          <p:nvPr/>
        </p:nvSpPr>
        <p:spPr>
          <a:xfrm>
            <a:off x="6995160" y="3483864"/>
            <a:ext cx="4892040" cy="566928"/>
          </a:xfrm>
          <a:prstGeom prst="rect">
            <a:avLst/>
          </a:prstGeom>
          <a:noFill/>
          <a:ln/>
        </p:spPr>
        <p:txBody>
          <a:bodyPr wrap="square" lIns="0" tIns="0" rIns="0" bIns="0" rtlCol="0" anchor="ctr"/>
          <a:lstStyle/>
          <a:p>
            <a:pPr indent="0" marL="0">
              <a:buNone/>
            </a:pPr>
            <a:r>
              <a:rPr lang="en-US" sz="1350" dirty="0">
                <a:solidFill>
                  <a:srgbClr val="EAF4FB"/>
                </a:solidFill>
                <a:latin typeface="Arial" pitchFamily="34" charset="0"/>
                <a:ea typeface="Arial" pitchFamily="34" charset="-122"/>
                <a:cs typeface="Arial" pitchFamily="34" charset="-120"/>
              </a:rPr>
              <a:t>About 60,000 computers were connected to the Internet — small by modern standards.</a:t>
            </a:r>
            <a:endParaRPr lang="en-US" sz="1350" dirty="0"/>
          </a:p>
        </p:txBody>
      </p:sp>
      <p:sp>
        <p:nvSpPr>
          <p:cNvPr id="14" name="Shape 9"/>
          <p:cNvSpPr/>
          <p:nvPr/>
        </p:nvSpPr>
        <p:spPr>
          <a:xfrm>
            <a:off x="6355080" y="4379976"/>
            <a:ext cx="457200" cy="457200"/>
          </a:xfrm>
          <a:prstGeom prst="ellipse">
            <a:avLst/>
          </a:prstGeom>
          <a:solidFill>
            <a:srgbClr val="0B2A45"/>
          </a:solidFill>
          <a:ln/>
        </p:spPr>
      </p:sp>
      <p:pic>
        <p:nvPicPr>
          <p:cNvPr id="15" name="Image 3" descr="assets/icons/eyeoff.png">    </p:cNvPr>
          <p:cNvPicPr>
            <a:picLocks noChangeAspect="1"/>
          </p:cNvPicPr>
          <p:nvPr/>
        </p:nvPicPr>
        <p:blipFill>
          <a:blip r:embed="rId5"/>
          <a:stretch>
            <a:fillRect/>
          </a:stretch>
        </p:blipFill>
        <p:spPr>
          <a:xfrm>
            <a:off x="6483096" y="4507992"/>
            <a:ext cx="201168" cy="201168"/>
          </a:xfrm>
          <a:prstGeom prst="rect">
            <a:avLst/>
          </a:prstGeom>
        </p:spPr>
      </p:pic>
      <p:sp>
        <p:nvSpPr>
          <p:cNvPr id="16" name="Text 10"/>
          <p:cNvSpPr txBox="1"/>
          <p:nvPr/>
        </p:nvSpPr>
        <p:spPr>
          <a:xfrm>
            <a:off x="6995160" y="4325112"/>
            <a:ext cx="4892040" cy="566928"/>
          </a:xfrm>
          <a:prstGeom prst="rect">
            <a:avLst/>
          </a:prstGeom>
          <a:noFill/>
          <a:ln/>
        </p:spPr>
        <p:txBody>
          <a:bodyPr wrap="square" lIns="0" tIns="0" rIns="0" bIns="0" rtlCol="0" anchor="ctr"/>
          <a:lstStyle/>
          <a:p>
            <a:pPr indent="0" marL="0">
              <a:buNone/>
            </a:pPr>
            <a:r>
              <a:rPr lang="en-US" sz="1350" dirty="0">
                <a:solidFill>
                  <a:srgbClr val="EAF4FB"/>
                </a:solidFill>
                <a:latin typeface="Arial" pitchFamily="34" charset="0"/>
                <a:ea typeface="Arial" pitchFamily="34" charset="-122"/>
                <a:cs typeface="Arial" pitchFamily="34" charset="-120"/>
              </a:rPr>
              <a:t>Security monitoring, patching and incident response were immature and ad-hoc.</a:t>
            </a:r>
            <a:endParaRPr lang="en-US" sz="1350" dirty="0"/>
          </a:p>
        </p:txBody>
      </p:sp>
      <p:sp>
        <p:nvSpPr>
          <p:cNvPr id="17" name="Shape 11"/>
          <p:cNvSpPr/>
          <p:nvPr/>
        </p:nvSpPr>
        <p:spPr>
          <a:xfrm>
            <a:off x="6355080" y="5221224"/>
            <a:ext cx="457200" cy="457200"/>
          </a:xfrm>
          <a:prstGeom prst="ellipse">
            <a:avLst/>
          </a:prstGeom>
          <a:solidFill>
            <a:srgbClr val="0B2A45"/>
          </a:solidFill>
          <a:ln/>
        </p:spPr>
      </p:sp>
      <p:pic>
        <p:nvPicPr>
          <p:cNvPr id="18" name="Image 4" descr="assets/icons/globe.png">    </p:cNvPr>
          <p:cNvPicPr>
            <a:picLocks noChangeAspect="1"/>
          </p:cNvPicPr>
          <p:nvPr/>
        </p:nvPicPr>
        <p:blipFill>
          <a:blip r:embed="rId6"/>
          <a:stretch>
            <a:fillRect/>
          </a:stretch>
        </p:blipFill>
        <p:spPr>
          <a:xfrm>
            <a:off x="6483096" y="5349240"/>
            <a:ext cx="201168" cy="201168"/>
          </a:xfrm>
          <a:prstGeom prst="rect">
            <a:avLst/>
          </a:prstGeom>
        </p:spPr>
      </p:pic>
      <p:sp>
        <p:nvSpPr>
          <p:cNvPr id="19" name="Text 12"/>
          <p:cNvSpPr txBox="1"/>
          <p:nvPr/>
        </p:nvSpPr>
        <p:spPr>
          <a:xfrm>
            <a:off x="6995160" y="5166360"/>
            <a:ext cx="4892040" cy="566928"/>
          </a:xfrm>
          <a:prstGeom prst="rect">
            <a:avLst/>
          </a:prstGeom>
          <a:noFill/>
          <a:ln/>
        </p:spPr>
        <p:txBody>
          <a:bodyPr wrap="square" lIns="0" tIns="0" rIns="0" bIns="0" rtlCol="0" anchor="ctr"/>
          <a:lstStyle/>
          <a:p>
            <a:pPr indent="0" marL="0">
              <a:buNone/>
            </a:pPr>
            <a:r>
              <a:rPr lang="en-US" sz="1350" dirty="0">
                <a:solidFill>
                  <a:srgbClr val="EAF4FB"/>
                </a:solidFill>
                <a:latin typeface="Arial" pitchFamily="34" charset="0"/>
                <a:ea typeface="Arial" pitchFamily="34" charset="-122"/>
                <a:cs typeface="Arial" pitchFamily="34" charset="-120"/>
              </a:rPr>
              <a:t>The World Wide Web did not yet exist; UNIX systems and email tied the network together.</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11430000" y="6400800"/>
            <a:ext cx="548640" cy="320040"/>
          </a:xfrm>
          <a:prstGeom prst="rect">
            <a:avLst/>
          </a:prstGeom>
          <a:noFill/>
          <a:ln/>
        </p:spPr>
        <p:txBody>
          <a:bodyPr wrap="square" lIns="0" tIns="0" rIns="0" bIns="0" rtlCol="0" anchor="ctr"/>
          <a:lstStyle/>
          <a:p>
            <a:pPr algn="r" indent="0" marL="0">
              <a:buNone/>
            </a:pPr>
            <a:r>
              <a:rPr lang="en-US" sz="1100" dirty="0">
                <a:solidFill>
                  <a:srgbClr val="94A3B8"/>
                </a:solidFill>
                <a:latin typeface="Courier New" pitchFamily="34" charset="0"/>
                <a:ea typeface="Courier New" pitchFamily="34" charset="-122"/>
                <a:cs typeface="Courier New" pitchFamily="34" charset="-120"/>
              </a:rPr>
              <a:t>3</a:t>
            </a:r>
            <a:endParaRPr lang="en-US" sz="1100" dirty="0"/>
          </a:p>
        </p:txBody>
      </p:sp>
      <p:sp>
        <p:nvSpPr>
          <p:cNvPr id="3" name="Text 1"/>
          <p:cNvSpPr txBox="1"/>
          <p:nvPr/>
        </p:nvSpPr>
        <p:spPr>
          <a:xfrm>
            <a:off x="685800" y="502920"/>
            <a:ext cx="5486400" cy="292608"/>
          </a:xfrm>
          <a:prstGeom prst="rect">
            <a:avLst/>
          </a:prstGeom>
          <a:noFill/>
          <a:ln/>
        </p:spPr>
        <p:txBody>
          <a:bodyPr wrap="square" lIns="0" tIns="0" rIns="0" bIns="0" rtlCol="0" anchor="ctr"/>
          <a:lstStyle/>
          <a:p>
            <a:pPr indent="0" marL="0">
              <a:buNone/>
            </a:pPr>
            <a:r>
              <a:rPr lang="en-US" sz="1250" spc="250" kern="0" dirty="0">
                <a:solidFill>
                  <a:srgbClr val="22D3EE"/>
                </a:solidFill>
                <a:latin typeface="Courier New" pitchFamily="34" charset="0"/>
                <a:ea typeface="Courier New" pitchFamily="34" charset="-122"/>
                <a:cs typeface="Courier New" pitchFamily="34" charset="-120"/>
              </a:rPr>
              <a:t>DEFINITION</a:t>
            </a:r>
            <a:endParaRPr lang="en-US" sz="1250" dirty="0"/>
          </a:p>
        </p:txBody>
      </p:sp>
      <p:sp>
        <p:nvSpPr>
          <p:cNvPr id="4" name="Text 2"/>
          <p:cNvSpPr txBox="1"/>
          <p:nvPr/>
        </p:nvSpPr>
        <p:spPr>
          <a:xfrm>
            <a:off x="685800" y="822960"/>
            <a:ext cx="10058400" cy="1097280"/>
          </a:xfrm>
          <a:prstGeom prst="rect">
            <a:avLst/>
          </a:prstGeom>
          <a:noFill/>
          <a:ln/>
        </p:spPr>
        <p:txBody>
          <a:bodyPr wrap="square" lIns="0" tIns="0" rIns="0" bIns="0" rtlCol="0" anchor="ctr"/>
          <a:lstStyle/>
          <a:p>
            <a:pPr indent="0" marL="0">
              <a:lnSpc>
                <a:spcPct val="98000"/>
              </a:lnSpc>
              <a:buNone/>
            </a:pPr>
            <a:r>
              <a:rPr lang="en-US" sz="3800" b="1" dirty="0">
                <a:solidFill>
                  <a:srgbClr val="FFFFFF"/>
                </a:solidFill>
                <a:latin typeface="Arial" pitchFamily="34" charset="0"/>
                <a:ea typeface="Arial" pitchFamily="34" charset="-122"/>
                <a:cs typeface="Arial" pitchFamily="34" charset="-120"/>
              </a:rPr>
              <a:t>What was the Morris Worm?</a:t>
            </a:r>
            <a:endParaRPr lang="en-US" sz="3800" dirty="0"/>
          </a:p>
        </p:txBody>
      </p:sp>
      <p:sp>
        <p:nvSpPr>
          <p:cNvPr id="5" name="Text 3"/>
          <p:cNvSpPr txBox="1"/>
          <p:nvPr/>
        </p:nvSpPr>
        <p:spPr>
          <a:xfrm>
            <a:off x="685800" y="1783080"/>
            <a:ext cx="10789920" cy="685800"/>
          </a:xfrm>
          <a:prstGeom prst="rect">
            <a:avLst/>
          </a:prstGeom>
          <a:noFill/>
          <a:ln/>
        </p:spPr>
        <p:txBody>
          <a:bodyPr wrap="square" lIns="0" tIns="0" rIns="0" bIns="0" rtlCol="0" anchor="ctr"/>
          <a:lstStyle/>
          <a:p>
            <a:pPr indent="0" marL="0">
              <a:buNone/>
            </a:pPr>
            <a:r>
              <a:rPr lang="en-US" sz="1500" dirty="0">
                <a:solidFill>
                  <a:srgbClr val="EAF4FB"/>
                </a:solidFill>
                <a:latin typeface="Arial" pitchFamily="34" charset="0"/>
                <a:ea typeface="Arial" pitchFamily="34" charset="-122"/>
                <a:cs typeface="Arial" pitchFamily="34" charset="-120"/>
              </a:rPr>
              <a:t>A self-replicating program that copied itself from machine to machine across the Internet — a worm, not a virus, because it needed no host file and no user action to spread.</a:t>
            </a:r>
            <a:endParaRPr lang="en-US" sz="1500" dirty="0"/>
          </a:p>
        </p:txBody>
      </p:sp>
      <p:sp>
        <p:nvSpPr>
          <p:cNvPr id="6" name="Shape 4"/>
          <p:cNvSpPr/>
          <p:nvPr/>
        </p:nvSpPr>
        <p:spPr>
          <a:xfrm>
            <a:off x="685800" y="2743200"/>
            <a:ext cx="3456432" cy="1417320"/>
          </a:xfrm>
          <a:prstGeom prst="roundRect">
            <a:avLst>
              <a:gd name="adj" fmla="val 6452"/>
            </a:avLst>
          </a:prstGeom>
          <a:solidFill>
            <a:srgbClr val="EAF4FB"/>
          </a:solidFill>
          <a:ln/>
          <a:effectLst>
            <a:outerShdw sx="100000" sy="100000" kx="0" ky="0" algn="bl" rotWithShape="0" blurRad="127000" dist="38100" dir="5400000">
              <a:srgbClr val="000000">
                <a:alpha val="35000"/>
              </a:srgbClr>
            </a:outerShdw>
          </a:effectLst>
        </p:spPr>
      </p:sp>
      <p:sp>
        <p:nvSpPr>
          <p:cNvPr id="7" name="Text 5"/>
          <p:cNvSpPr txBox="1"/>
          <p:nvPr/>
        </p:nvSpPr>
        <p:spPr>
          <a:xfrm>
            <a:off x="941832" y="2944368"/>
            <a:ext cx="2999232" cy="320040"/>
          </a:xfrm>
          <a:prstGeom prst="rect">
            <a:avLst/>
          </a:prstGeom>
          <a:noFill/>
          <a:ln/>
        </p:spPr>
        <p:txBody>
          <a:bodyPr wrap="square" lIns="0" tIns="0" rIns="0" bIns="0" rtlCol="0" anchor="ctr"/>
          <a:lstStyle/>
          <a:p>
            <a:pPr indent="0" marL="0">
              <a:buNone/>
            </a:pPr>
            <a:r>
              <a:rPr lang="en-US" sz="1200" b="1" spc="100" kern="0" dirty="0">
                <a:solidFill>
                  <a:srgbClr val="22D3EE"/>
                </a:solidFill>
                <a:latin typeface="Courier New" pitchFamily="34" charset="0"/>
                <a:ea typeface="Courier New" pitchFamily="34" charset="-122"/>
                <a:cs typeface="Courier New" pitchFamily="34" charset="-120"/>
              </a:rPr>
              <a:t>Type</a:t>
            </a:r>
            <a:endParaRPr lang="en-US" sz="1200" dirty="0"/>
          </a:p>
        </p:txBody>
      </p:sp>
      <p:sp>
        <p:nvSpPr>
          <p:cNvPr id="8" name="Text 6"/>
          <p:cNvSpPr txBox="1"/>
          <p:nvPr/>
        </p:nvSpPr>
        <p:spPr>
          <a:xfrm>
            <a:off x="941832" y="3310128"/>
            <a:ext cx="2999232" cy="731520"/>
          </a:xfrm>
          <a:prstGeom prst="rect">
            <a:avLst/>
          </a:prstGeom>
          <a:noFill/>
          <a:ln/>
        </p:spPr>
        <p:txBody>
          <a:bodyPr wrap="square" lIns="0" tIns="0" rIns="0" bIns="0" rtlCol="0" anchor="ctr"/>
          <a:lstStyle/>
          <a:p>
            <a:pPr indent="0" marL="0">
              <a:lnSpc>
                <a:spcPct val="100000"/>
              </a:lnSpc>
              <a:buNone/>
            </a:pPr>
            <a:r>
              <a:rPr lang="en-US" sz="1450" dirty="0">
                <a:solidFill>
                  <a:srgbClr val="0B2A45"/>
                </a:solidFill>
                <a:latin typeface="Arial" pitchFamily="34" charset="0"/>
                <a:ea typeface="Arial" pitchFamily="34" charset="-122"/>
                <a:cs typeface="Arial" pitchFamily="34" charset="-120"/>
              </a:rPr>
              <a:t>Standalone self-replicating worm targeting UNIX</a:t>
            </a:r>
            <a:endParaRPr lang="en-US" sz="1450" dirty="0"/>
          </a:p>
        </p:txBody>
      </p:sp>
      <p:sp>
        <p:nvSpPr>
          <p:cNvPr id="9" name="Shape 7"/>
          <p:cNvSpPr/>
          <p:nvPr/>
        </p:nvSpPr>
        <p:spPr>
          <a:xfrm>
            <a:off x="4471416" y="2743200"/>
            <a:ext cx="3456432" cy="1417320"/>
          </a:xfrm>
          <a:prstGeom prst="roundRect">
            <a:avLst>
              <a:gd name="adj" fmla="val 6452"/>
            </a:avLst>
          </a:prstGeom>
          <a:solidFill>
            <a:srgbClr val="EAF4FB"/>
          </a:solidFill>
          <a:ln/>
          <a:effectLst>
            <a:outerShdw sx="100000" sy="100000" kx="0" ky="0" algn="bl" rotWithShape="0" blurRad="127000" dist="38100" dir="5400000">
              <a:srgbClr val="000000">
                <a:alpha val="35000"/>
              </a:srgbClr>
            </a:outerShdw>
          </a:effectLst>
        </p:spPr>
      </p:sp>
      <p:sp>
        <p:nvSpPr>
          <p:cNvPr id="10" name="Text 8"/>
          <p:cNvSpPr txBox="1"/>
          <p:nvPr/>
        </p:nvSpPr>
        <p:spPr>
          <a:xfrm>
            <a:off x="4727448" y="2944368"/>
            <a:ext cx="2999232" cy="320040"/>
          </a:xfrm>
          <a:prstGeom prst="rect">
            <a:avLst/>
          </a:prstGeom>
          <a:noFill/>
          <a:ln/>
        </p:spPr>
        <p:txBody>
          <a:bodyPr wrap="square" lIns="0" tIns="0" rIns="0" bIns="0" rtlCol="0" anchor="ctr"/>
          <a:lstStyle/>
          <a:p>
            <a:pPr indent="0" marL="0">
              <a:buNone/>
            </a:pPr>
            <a:r>
              <a:rPr lang="en-US" sz="1200" b="1" spc="100" kern="0" dirty="0">
                <a:solidFill>
                  <a:srgbClr val="22D3EE"/>
                </a:solidFill>
                <a:latin typeface="Courier New" pitchFamily="34" charset="0"/>
                <a:ea typeface="Courier New" pitchFamily="34" charset="-122"/>
                <a:cs typeface="Courier New" pitchFamily="34" charset="-120"/>
              </a:rPr>
              <a:t>Released</a:t>
            </a:r>
            <a:endParaRPr lang="en-US" sz="1200" dirty="0"/>
          </a:p>
        </p:txBody>
      </p:sp>
      <p:sp>
        <p:nvSpPr>
          <p:cNvPr id="11" name="Text 9"/>
          <p:cNvSpPr txBox="1"/>
          <p:nvPr/>
        </p:nvSpPr>
        <p:spPr>
          <a:xfrm>
            <a:off x="4727448" y="3310128"/>
            <a:ext cx="2999232" cy="731520"/>
          </a:xfrm>
          <a:prstGeom prst="rect">
            <a:avLst/>
          </a:prstGeom>
          <a:noFill/>
          <a:ln/>
        </p:spPr>
        <p:txBody>
          <a:bodyPr wrap="square" lIns="0" tIns="0" rIns="0" bIns="0" rtlCol="0" anchor="ctr"/>
          <a:lstStyle/>
          <a:p>
            <a:pPr indent="0" marL="0">
              <a:lnSpc>
                <a:spcPct val="100000"/>
              </a:lnSpc>
              <a:buNone/>
            </a:pPr>
            <a:r>
              <a:rPr lang="en-US" sz="1450" dirty="0">
                <a:solidFill>
                  <a:srgbClr val="0B2A45"/>
                </a:solidFill>
                <a:latin typeface="Arial" pitchFamily="34" charset="0"/>
                <a:ea typeface="Arial" pitchFamily="34" charset="-122"/>
                <a:cs typeface="Arial" pitchFamily="34" charset="-120"/>
              </a:rPr>
              <a:t>November 2, 1988 — launched via an MIT computer</a:t>
            </a:r>
            <a:endParaRPr lang="en-US" sz="1450" dirty="0"/>
          </a:p>
        </p:txBody>
      </p:sp>
      <p:sp>
        <p:nvSpPr>
          <p:cNvPr id="12" name="Shape 10"/>
          <p:cNvSpPr/>
          <p:nvPr/>
        </p:nvSpPr>
        <p:spPr>
          <a:xfrm>
            <a:off x="8257032" y="2743200"/>
            <a:ext cx="3456432" cy="1417320"/>
          </a:xfrm>
          <a:prstGeom prst="roundRect">
            <a:avLst>
              <a:gd name="adj" fmla="val 6452"/>
            </a:avLst>
          </a:prstGeom>
          <a:solidFill>
            <a:srgbClr val="EAF4FB"/>
          </a:solidFill>
          <a:ln/>
          <a:effectLst>
            <a:outerShdw sx="100000" sy="100000" kx="0" ky="0" algn="bl" rotWithShape="0" blurRad="127000" dist="38100" dir="5400000">
              <a:srgbClr val="000000">
                <a:alpha val="35000"/>
              </a:srgbClr>
            </a:outerShdw>
          </a:effectLst>
        </p:spPr>
      </p:sp>
      <p:sp>
        <p:nvSpPr>
          <p:cNvPr id="13" name="Text 11"/>
          <p:cNvSpPr txBox="1"/>
          <p:nvPr/>
        </p:nvSpPr>
        <p:spPr>
          <a:xfrm>
            <a:off x="8513064" y="2944368"/>
            <a:ext cx="2999232" cy="320040"/>
          </a:xfrm>
          <a:prstGeom prst="rect">
            <a:avLst/>
          </a:prstGeom>
          <a:noFill/>
          <a:ln/>
        </p:spPr>
        <p:txBody>
          <a:bodyPr wrap="square" lIns="0" tIns="0" rIns="0" bIns="0" rtlCol="0" anchor="ctr"/>
          <a:lstStyle/>
          <a:p>
            <a:pPr indent="0" marL="0">
              <a:buNone/>
            </a:pPr>
            <a:r>
              <a:rPr lang="en-US" sz="1200" b="1" spc="100" kern="0" dirty="0">
                <a:solidFill>
                  <a:srgbClr val="22D3EE"/>
                </a:solidFill>
                <a:latin typeface="Courier New" pitchFamily="34" charset="0"/>
                <a:ea typeface="Courier New" pitchFamily="34" charset="-122"/>
                <a:cs typeface="Courier New" pitchFamily="34" charset="-120"/>
              </a:rPr>
              <a:t>Author</a:t>
            </a:r>
            <a:endParaRPr lang="en-US" sz="1200" dirty="0"/>
          </a:p>
        </p:txBody>
      </p:sp>
      <p:sp>
        <p:nvSpPr>
          <p:cNvPr id="14" name="Text 12"/>
          <p:cNvSpPr txBox="1"/>
          <p:nvPr/>
        </p:nvSpPr>
        <p:spPr>
          <a:xfrm>
            <a:off x="8513064" y="3310128"/>
            <a:ext cx="2999232" cy="731520"/>
          </a:xfrm>
          <a:prstGeom prst="rect">
            <a:avLst/>
          </a:prstGeom>
          <a:noFill/>
          <a:ln/>
        </p:spPr>
        <p:txBody>
          <a:bodyPr wrap="square" lIns="0" tIns="0" rIns="0" bIns="0" rtlCol="0" anchor="ctr"/>
          <a:lstStyle/>
          <a:p>
            <a:pPr indent="0" marL="0">
              <a:lnSpc>
                <a:spcPct val="100000"/>
              </a:lnSpc>
              <a:buNone/>
            </a:pPr>
            <a:r>
              <a:rPr lang="en-US" sz="1450" dirty="0">
                <a:solidFill>
                  <a:srgbClr val="0B2A45"/>
                </a:solidFill>
                <a:latin typeface="Arial" pitchFamily="34" charset="0"/>
                <a:ea typeface="Arial" pitchFamily="34" charset="-122"/>
                <a:cs typeface="Arial" pitchFamily="34" charset="-120"/>
              </a:rPr>
              <a:t>Robert Tappan Morris, Cornell graduate student</a:t>
            </a:r>
            <a:endParaRPr lang="en-US" sz="1450" dirty="0"/>
          </a:p>
        </p:txBody>
      </p:sp>
      <p:sp>
        <p:nvSpPr>
          <p:cNvPr id="15" name="Shape 13"/>
          <p:cNvSpPr/>
          <p:nvPr/>
        </p:nvSpPr>
        <p:spPr>
          <a:xfrm>
            <a:off x="685800" y="4453128"/>
            <a:ext cx="3456432" cy="1417320"/>
          </a:xfrm>
          <a:prstGeom prst="roundRect">
            <a:avLst>
              <a:gd name="adj" fmla="val 6452"/>
            </a:avLst>
          </a:prstGeom>
          <a:solidFill>
            <a:srgbClr val="EAF4FB"/>
          </a:solidFill>
          <a:ln/>
          <a:effectLst>
            <a:outerShdw sx="100000" sy="100000" kx="0" ky="0" algn="bl" rotWithShape="0" blurRad="127000" dist="38100" dir="5400000">
              <a:srgbClr val="000000">
                <a:alpha val="35000"/>
              </a:srgbClr>
            </a:outerShdw>
          </a:effectLst>
        </p:spPr>
      </p:sp>
      <p:sp>
        <p:nvSpPr>
          <p:cNvPr id="16" name="Text 14"/>
          <p:cNvSpPr txBox="1"/>
          <p:nvPr/>
        </p:nvSpPr>
        <p:spPr>
          <a:xfrm>
            <a:off x="941832" y="4654296"/>
            <a:ext cx="2999232" cy="320040"/>
          </a:xfrm>
          <a:prstGeom prst="rect">
            <a:avLst/>
          </a:prstGeom>
          <a:noFill/>
          <a:ln/>
        </p:spPr>
        <p:txBody>
          <a:bodyPr wrap="square" lIns="0" tIns="0" rIns="0" bIns="0" rtlCol="0" anchor="ctr"/>
          <a:lstStyle/>
          <a:p>
            <a:pPr indent="0" marL="0">
              <a:buNone/>
            </a:pPr>
            <a:r>
              <a:rPr lang="en-US" sz="1200" b="1" spc="100" kern="0" dirty="0">
                <a:solidFill>
                  <a:srgbClr val="22D3EE"/>
                </a:solidFill>
                <a:latin typeface="Courier New" pitchFamily="34" charset="0"/>
                <a:ea typeface="Courier New" pitchFamily="34" charset="-122"/>
                <a:cs typeface="Courier New" pitchFamily="34" charset="-120"/>
              </a:rPr>
              <a:t>Targets</a:t>
            </a:r>
            <a:endParaRPr lang="en-US" sz="1200" dirty="0"/>
          </a:p>
        </p:txBody>
      </p:sp>
      <p:sp>
        <p:nvSpPr>
          <p:cNvPr id="17" name="Text 15"/>
          <p:cNvSpPr txBox="1"/>
          <p:nvPr/>
        </p:nvSpPr>
        <p:spPr>
          <a:xfrm>
            <a:off x="941832" y="5020056"/>
            <a:ext cx="2999232" cy="731520"/>
          </a:xfrm>
          <a:prstGeom prst="rect">
            <a:avLst/>
          </a:prstGeom>
          <a:noFill/>
          <a:ln/>
        </p:spPr>
        <p:txBody>
          <a:bodyPr wrap="square" lIns="0" tIns="0" rIns="0" bIns="0" rtlCol="0" anchor="ctr"/>
          <a:lstStyle/>
          <a:p>
            <a:pPr indent="0" marL="0">
              <a:lnSpc>
                <a:spcPct val="100000"/>
              </a:lnSpc>
              <a:buNone/>
            </a:pPr>
            <a:r>
              <a:rPr lang="en-US" sz="1450" dirty="0">
                <a:solidFill>
                  <a:srgbClr val="0B2A45"/>
                </a:solidFill>
                <a:latin typeface="Arial" pitchFamily="34" charset="0"/>
                <a:ea typeface="Arial" pitchFamily="34" charset="-122"/>
                <a:cs typeface="Arial" pitchFamily="34" charset="-120"/>
              </a:rPr>
              <a:t>BSD-derived UNIX on VAX and Sun systems</a:t>
            </a:r>
            <a:endParaRPr lang="en-US" sz="1450" dirty="0"/>
          </a:p>
        </p:txBody>
      </p:sp>
      <p:sp>
        <p:nvSpPr>
          <p:cNvPr id="18" name="Shape 16"/>
          <p:cNvSpPr/>
          <p:nvPr/>
        </p:nvSpPr>
        <p:spPr>
          <a:xfrm>
            <a:off x="4471416" y="4453128"/>
            <a:ext cx="3456432" cy="1417320"/>
          </a:xfrm>
          <a:prstGeom prst="roundRect">
            <a:avLst>
              <a:gd name="adj" fmla="val 6452"/>
            </a:avLst>
          </a:prstGeom>
          <a:solidFill>
            <a:srgbClr val="EAF4FB"/>
          </a:solidFill>
          <a:ln/>
          <a:effectLst>
            <a:outerShdw sx="100000" sy="100000" kx="0" ky="0" algn="bl" rotWithShape="0" blurRad="127000" dist="38100" dir="5400000">
              <a:srgbClr val="000000">
                <a:alpha val="35000"/>
              </a:srgbClr>
            </a:outerShdw>
          </a:effectLst>
        </p:spPr>
      </p:sp>
      <p:sp>
        <p:nvSpPr>
          <p:cNvPr id="19" name="Text 17"/>
          <p:cNvSpPr txBox="1"/>
          <p:nvPr/>
        </p:nvSpPr>
        <p:spPr>
          <a:xfrm>
            <a:off x="4727448" y="4654296"/>
            <a:ext cx="2999232" cy="320040"/>
          </a:xfrm>
          <a:prstGeom prst="rect">
            <a:avLst/>
          </a:prstGeom>
          <a:noFill/>
          <a:ln/>
        </p:spPr>
        <p:txBody>
          <a:bodyPr wrap="square" lIns="0" tIns="0" rIns="0" bIns="0" rtlCol="0" anchor="ctr"/>
          <a:lstStyle/>
          <a:p>
            <a:pPr indent="0" marL="0">
              <a:buNone/>
            </a:pPr>
            <a:r>
              <a:rPr lang="en-US" sz="1200" b="1" spc="100" kern="0" dirty="0">
                <a:solidFill>
                  <a:srgbClr val="22D3EE"/>
                </a:solidFill>
                <a:latin typeface="Courier New" pitchFamily="34" charset="0"/>
                <a:ea typeface="Courier New" pitchFamily="34" charset="-122"/>
                <a:cs typeface="Courier New" pitchFamily="34" charset="-120"/>
              </a:rPr>
              <a:t>Stated intent</a:t>
            </a:r>
            <a:endParaRPr lang="en-US" sz="1200" dirty="0"/>
          </a:p>
        </p:txBody>
      </p:sp>
      <p:sp>
        <p:nvSpPr>
          <p:cNvPr id="20" name="Text 18"/>
          <p:cNvSpPr txBox="1"/>
          <p:nvPr/>
        </p:nvSpPr>
        <p:spPr>
          <a:xfrm>
            <a:off x="4727448" y="5020056"/>
            <a:ext cx="2999232" cy="731520"/>
          </a:xfrm>
          <a:prstGeom prst="rect">
            <a:avLst/>
          </a:prstGeom>
          <a:noFill/>
          <a:ln/>
        </p:spPr>
        <p:txBody>
          <a:bodyPr wrap="square" lIns="0" tIns="0" rIns="0" bIns="0" rtlCol="0" anchor="ctr"/>
          <a:lstStyle/>
          <a:p>
            <a:pPr indent="0" marL="0">
              <a:lnSpc>
                <a:spcPct val="100000"/>
              </a:lnSpc>
              <a:buNone/>
            </a:pPr>
            <a:r>
              <a:rPr lang="en-US" sz="1450" dirty="0">
                <a:solidFill>
                  <a:srgbClr val="0B2A45"/>
                </a:solidFill>
                <a:latin typeface="Arial" pitchFamily="34" charset="0"/>
                <a:ea typeface="Arial" pitchFamily="34" charset="-122"/>
                <a:cs typeface="Arial" pitchFamily="34" charset="-120"/>
              </a:rPr>
              <a:t>To gauge the size of the Internet, not to destroy data</a:t>
            </a:r>
            <a:endParaRPr lang="en-US" sz="1450" dirty="0"/>
          </a:p>
        </p:txBody>
      </p:sp>
      <p:sp>
        <p:nvSpPr>
          <p:cNvPr id="21" name="Shape 19"/>
          <p:cNvSpPr/>
          <p:nvPr/>
        </p:nvSpPr>
        <p:spPr>
          <a:xfrm>
            <a:off x="8257032" y="4453128"/>
            <a:ext cx="3456432" cy="1417320"/>
          </a:xfrm>
          <a:prstGeom prst="roundRect">
            <a:avLst>
              <a:gd name="adj" fmla="val 6452"/>
            </a:avLst>
          </a:prstGeom>
          <a:solidFill>
            <a:srgbClr val="EAF4FB"/>
          </a:solidFill>
          <a:ln/>
          <a:effectLst>
            <a:outerShdw sx="100000" sy="100000" kx="0" ky="0" algn="bl" rotWithShape="0" blurRad="127000" dist="38100" dir="5400000">
              <a:srgbClr val="000000">
                <a:alpha val="35000"/>
              </a:srgbClr>
            </a:outerShdw>
          </a:effectLst>
        </p:spPr>
      </p:sp>
      <p:sp>
        <p:nvSpPr>
          <p:cNvPr id="22" name="Text 20"/>
          <p:cNvSpPr txBox="1"/>
          <p:nvPr/>
        </p:nvSpPr>
        <p:spPr>
          <a:xfrm>
            <a:off x="8513064" y="4654296"/>
            <a:ext cx="2999232" cy="320040"/>
          </a:xfrm>
          <a:prstGeom prst="rect">
            <a:avLst/>
          </a:prstGeom>
          <a:noFill/>
          <a:ln/>
        </p:spPr>
        <p:txBody>
          <a:bodyPr wrap="square" lIns="0" tIns="0" rIns="0" bIns="0" rtlCol="0" anchor="ctr"/>
          <a:lstStyle/>
          <a:p>
            <a:pPr indent="0" marL="0">
              <a:buNone/>
            </a:pPr>
            <a:r>
              <a:rPr lang="en-US" sz="1200" b="1" spc="100" kern="0" dirty="0">
                <a:solidFill>
                  <a:srgbClr val="22D3EE"/>
                </a:solidFill>
                <a:latin typeface="Courier New" pitchFamily="34" charset="0"/>
                <a:ea typeface="Courier New" pitchFamily="34" charset="-122"/>
                <a:cs typeface="Courier New" pitchFamily="34" charset="-120"/>
              </a:rPr>
              <a:t>Why historic</a:t>
            </a:r>
            <a:endParaRPr lang="en-US" sz="1200" dirty="0"/>
          </a:p>
        </p:txBody>
      </p:sp>
      <p:sp>
        <p:nvSpPr>
          <p:cNvPr id="23" name="Text 21"/>
          <p:cNvSpPr txBox="1"/>
          <p:nvPr/>
        </p:nvSpPr>
        <p:spPr>
          <a:xfrm>
            <a:off x="8513064" y="5020056"/>
            <a:ext cx="2999232" cy="731520"/>
          </a:xfrm>
          <a:prstGeom prst="rect">
            <a:avLst/>
          </a:prstGeom>
          <a:noFill/>
          <a:ln/>
        </p:spPr>
        <p:txBody>
          <a:bodyPr wrap="square" lIns="0" tIns="0" rIns="0" bIns="0" rtlCol="0" anchor="ctr"/>
          <a:lstStyle/>
          <a:p>
            <a:pPr indent="0" marL="0">
              <a:lnSpc>
                <a:spcPct val="100000"/>
              </a:lnSpc>
              <a:buNone/>
            </a:pPr>
            <a:r>
              <a:rPr lang="en-US" sz="1450" dirty="0">
                <a:solidFill>
                  <a:srgbClr val="0B2A45"/>
                </a:solidFill>
                <a:latin typeface="Arial" pitchFamily="34" charset="0"/>
                <a:ea typeface="Arial" pitchFamily="34" charset="-122"/>
                <a:cs typeface="Arial" pitchFamily="34" charset="-120"/>
              </a:rPr>
              <a:t>First worm to cause large-scale Internet disruption</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11430000" y="6400800"/>
            <a:ext cx="548640" cy="320040"/>
          </a:xfrm>
          <a:prstGeom prst="rect">
            <a:avLst/>
          </a:prstGeom>
          <a:noFill/>
          <a:ln/>
        </p:spPr>
        <p:txBody>
          <a:bodyPr wrap="square" lIns="0" tIns="0" rIns="0" bIns="0" rtlCol="0" anchor="ctr"/>
          <a:lstStyle/>
          <a:p>
            <a:pPr algn="r" indent="0" marL="0">
              <a:buNone/>
            </a:pPr>
            <a:r>
              <a:rPr lang="en-US" sz="1100" dirty="0">
                <a:solidFill>
                  <a:srgbClr val="94A3B8"/>
                </a:solidFill>
                <a:latin typeface="Courier New" pitchFamily="34" charset="0"/>
                <a:ea typeface="Courier New" pitchFamily="34" charset="-122"/>
                <a:cs typeface="Courier New" pitchFamily="34" charset="-120"/>
              </a:rPr>
              <a:t>4</a:t>
            </a:r>
            <a:endParaRPr lang="en-US" sz="1100" dirty="0"/>
          </a:p>
        </p:txBody>
      </p:sp>
      <p:sp>
        <p:nvSpPr>
          <p:cNvPr id="3" name="Text 1"/>
          <p:cNvSpPr txBox="1"/>
          <p:nvPr/>
        </p:nvSpPr>
        <p:spPr>
          <a:xfrm>
            <a:off x="685800" y="822960"/>
            <a:ext cx="5486400" cy="292608"/>
          </a:xfrm>
          <a:prstGeom prst="rect">
            <a:avLst/>
          </a:prstGeom>
          <a:noFill/>
          <a:ln/>
        </p:spPr>
        <p:txBody>
          <a:bodyPr wrap="square" lIns="0" tIns="0" rIns="0" bIns="0" rtlCol="0" anchor="ctr"/>
          <a:lstStyle/>
          <a:p>
            <a:pPr indent="0" marL="0">
              <a:buNone/>
            </a:pPr>
            <a:r>
              <a:rPr lang="en-US" sz="1250" spc="250" kern="0" dirty="0">
                <a:solidFill>
                  <a:srgbClr val="22D3EE"/>
                </a:solidFill>
                <a:latin typeface="Courier New" pitchFamily="34" charset="0"/>
                <a:ea typeface="Courier New" pitchFamily="34" charset="-122"/>
                <a:cs typeface="Courier New" pitchFamily="34" charset="-120"/>
              </a:rPr>
              <a:t>THE RELEASE</a:t>
            </a:r>
            <a:endParaRPr lang="en-US" sz="1250" dirty="0"/>
          </a:p>
        </p:txBody>
      </p:sp>
      <p:sp>
        <p:nvSpPr>
          <p:cNvPr id="4" name="Text 2"/>
          <p:cNvSpPr txBox="1"/>
          <p:nvPr/>
        </p:nvSpPr>
        <p:spPr>
          <a:xfrm>
            <a:off x="685800" y="1143000"/>
            <a:ext cx="5943600" cy="1097280"/>
          </a:xfrm>
          <a:prstGeom prst="rect">
            <a:avLst/>
          </a:prstGeom>
          <a:noFill/>
          <a:ln/>
        </p:spPr>
        <p:txBody>
          <a:bodyPr wrap="square" lIns="0" tIns="0" rIns="0" bIns="0" rtlCol="0" anchor="ctr"/>
          <a:lstStyle/>
          <a:p>
            <a:pPr indent="0" marL="0">
              <a:lnSpc>
                <a:spcPct val="98000"/>
              </a:lnSpc>
              <a:buNone/>
            </a:pPr>
            <a:r>
              <a:rPr lang="en-US" sz="3600" b="1" dirty="0">
                <a:solidFill>
                  <a:srgbClr val="FFFFFF"/>
                </a:solidFill>
                <a:latin typeface="Arial" pitchFamily="34" charset="0"/>
                <a:ea typeface="Arial" pitchFamily="34" charset="-122"/>
                <a:cs typeface="Arial" pitchFamily="34" charset="-120"/>
              </a:rPr>
              <a:t>A graduate student</a:t>
            </a:r>
            <a:endParaRPr lang="en-US" sz="3600" dirty="0"/>
          </a:p>
          <a:p>
            <a:pPr indent="0" marL="0">
              <a:lnSpc>
                <a:spcPct val="98000"/>
              </a:lnSpc>
              <a:buNone/>
            </a:pPr>
            <a:r>
              <a:rPr lang="en-US" sz="3600" b="1" dirty="0">
                <a:solidFill>
                  <a:srgbClr val="FFFFFF"/>
                </a:solidFill>
                <a:latin typeface="Arial" pitchFamily="34" charset="0"/>
                <a:ea typeface="Arial" pitchFamily="34" charset="-122"/>
                <a:cs typeface="Arial" pitchFamily="34" charset="-120"/>
              </a:rPr>
              <a:t>releases the worm</a:t>
            </a:r>
            <a:endParaRPr lang="en-US" sz="3600" dirty="0"/>
          </a:p>
        </p:txBody>
      </p:sp>
      <p:sp>
        <p:nvSpPr>
          <p:cNvPr id="5" name="Shape 3"/>
          <p:cNvSpPr/>
          <p:nvPr/>
        </p:nvSpPr>
        <p:spPr>
          <a:xfrm>
            <a:off x="685800" y="2926080"/>
            <a:ext cx="1645920" cy="45720"/>
          </a:xfrm>
          <a:prstGeom prst="rect">
            <a:avLst/>
          </a:prstGeom>
          <a:solidFill>
            <a:srgbClr val="22D3EE"/>
          </a:solidFill>
          <a:ln/>
        </p:spPr>
      </p:sp>
      <p:sp>
        <p:nvSpPr>
          <p:cNvPr id="6" name="Text 4"/>
          <p:cNvSpPr txBox="1"/>
          <p:nvPr/>
        </p:nvSpPr>
        <p:spPr>
          <a:xfrm>
            <a:off x="685800" y="3154680"/>
            <a:ext cx="5760720" cy="1280160"/>
          </a:xfrm>
          <a:prstGeom prst="rect">
            <a:avLst/>
          </a:prstGeom>
          <a:noFill/>
          <a:ln/>
        </p:spPr>
        <p:txBody>
          <a:bodyPr wrap="square" lIns="0" tIns="0" rIns="0" bIns="0" rtlCol="0" anchor="ctr"/>
          <a:lstStyle/>
          <a:p>
            <a:pPr indent="0" marL="0">
              <a:lnSpc>
                <a:spcPct val="105000"/>
              </a:lnSpc>
              <a:buNone/>
            </a:pPr>
            <a:r>
              <a:rPr lang="en-US" sz="1500" dirty="0">
                <a:solidFill>
                  <a:srgbClr val="EAF4FB"/>
                </a:solidFill>
                <a:latin typeface="Arial" pitchFamily="34" charset="0"/>
                <a:ea typeface="Arial" pitchFamily="34" charset="-122"/>
                <a:cs typeface="Arial" pitchFamily="34" charset="-120"/>
              </a:rPr>
              <a:t>Robert Tappan Morris, a 23-year-old Cornell graduate student, launched the program through a computer at MIT on the evening of November 2, 1988 — routing it through MIT to disguise that it originated at Cornell.</a:t>
            </a:r>
            <a:endParaRPr lang="en-US" sz="1500" dirty="0"/>
          </a:p>
        </p:txBody>
      </p:sp>
      <p:sp>
        <p:nvSpPr>
          <p:cNvPr id="7" name="Shape 5"/>
          <p:cNvSpPr/>
          <p:nvPr/>
        </p:nvSpPr>
        <p:spPr>
          <a:xfrm>
            <a:off x="685800" y="4572000"/>
            <a:ext cx="402336" cy="402336"/>
          </a:xfrm>
          <a:prstGeom prst="ellipse">
            <a:avLst/>
          </a:prstGeom>
          <a:solidFill>
            <a:srgbClr val="22D3EE"/>
          </a:solidFill>
          <a:ln/>
        </p:spPr>
      </p:sp>
      <p:sp>
        <p:nvSpPr>
          <p:cNvPr id="8" name="Text 6"/>
          <p:cNvSpPr txBox="1"/>
          <p:nvPr/>
        </p:nvSpPr>
        <p:spPr>
          <a:xfrm>
            <a:off x="685800" y="4572000"/>
            <a:ext cx="402336" cy="402336"/>
          </a:xfrm>
          <a:prstGeom prst="rect">
            <a:avLst/>
          </a:prstGeom>
          <a:noFill/>
          <a:ln/>
        </p:spPr>
        <p:txBody>
          <a:bodyPr wrap="square" lIns="0" tIns="0" rIns="0" bIns="0" rtlCol="0" anchor="ctr"/>
          <a:lstStyle/>
          <a:p>
            <a:pPr algn="ctr" indent="0" marL="0">
              <a:buNone/>
            </a:pPr>
            <a:r>
              <a:rPr lang="en-US" sz="1400" b="1" dirty="0">
                <a:solidFill>
                  <a:srgbClr val="06121F"/>
                </a:solidFill>
                <a:latin typeface="Courier New" pitchFamily="34" charset="0"/>
                <a:ea typeface="Courier New" pitchFamily="34" charset="-122"/>
                <a:cs typeface="Courier New" pitchFamily="34" charset="-120"/>
              </a:rPr>
              <a:t>1</a:t>
            </a:r>
            <a:endParaRPr lang="en-US" sz="1400" dirty="0"/>
          </a:p>
        </p:txBody>
      </p:sp>
      <p:sp>
        <p:nvSpPr>
          <p:cNvPr id="9" name="Text 7"/>
          <p:cNvSpPr txBox="1"/>
          <p:nvPr/>
        </p:nvSpPr>
        <p:spPr>
          <a:xfrm>
            <a:off x="1280160" y="4535424"/>
            <a:ext cx="5120640" cy="457200"/>
          </a:xfrm>
          <a:prstGeom prst="rect">
            <a:avLst/>
          </a:prstGeom>
          <a:noFill/>
          <a:ln/>
        </p:spPr>
        <p:txBody>
          <a:bodyPr wrap="square" lIns="0" tIns="0" rIns="0" bIns="0" rtlCol="0" anchor="ctr"/>
          <a:lstStyle/>
          <a:p>
            <a:pPr indent="0" marL="0">
              <a:buNone/>
            </a:pPr>
            <a:r>
              <a:rPr lang="en-US" sz="1200" b="1" dirty="0">
                <a:solidFill>
                  <a:srgbClr val="22D3EE"/>
                </a:solidFill>
                <a:latin typeface="Courier New" pitchFamily="34" charset="0"/>
                <a:ea typeface="Courier New" pitchFamily="34" charset="-122"/>
                <a:cs typeface="Courier New" pitchFamily="34" charset="-120"/>
              </a:rPr>
              <a:t>Nov 2, 1988 — evening  </a:t>
            </a:r>
            <a:pPr indent="0" marL="0">
              <a:buNone/>
            </a:pPr>
            <a:r>
              <a:rPr lang="en-US" sz="1300" dirty="0">
                <a:solidFill>
                  <a:srgbClr val="EAF4FB"/>
                </a:solidFill>
                <a:latin typeface="Arial" pitchFamily="34" charset="0"/>
                <a:ea typeface="Arial" pitchFamily="34" charset="-122"/>
                <a:cs typeface="Arial" pitchFamily="34" charset="-120"/>
              </a:rPr>
              <a:t>Worm released via an MIT machine.</a:t>
            </a:r>
            <a:endParaRPr lang="en-US" sz="1200" dirty="0"/>
          </a:p>
        </p:txBody>
      </p:sp>
      <p:sp>
        <p:nvSpPr>
          <p:cNvPr id="10" name="Shape 8"/>
          <p:cNvSpPr/>
          <p:nvPr/>
        </p:nvSpPr>
        <p:spPr>
          <a:xfrm>
            <a:off x="685800" y="5138928"/>
            <a:ext cx="402336" cy="402336"/>
          </a:xfrm>
          <a:prstGeom prst="ellipse">
            <a:avLst/>
          </a:prstGeom>
          <a:solidFill>
            <a:srgbClr val="22D3EE"/>
          </a:solidFill>
          <a:ln/>
        </p:spPr>
      </p:sp>
      <p:sp>
        <p:nvSpPr>
          <p:cNvPr id="11" name="Text 9"/>
          <p:cNvSpPr txBox="1"/>
          <p:nvPr/>
        </p:nvSpPr>
        <p:spPr>
          <a:xfrm>
            <a:off x="685800" y="5138928"/>
            <a:ext cx="402336" cy="402336"/>
          </a:xfrm>
          <a:prstGeom prst="rect">
            <a:avLst/>
          </a:prstGeom>
          <a:noFill/>
          <a:ln/>
        </p:spPr>
        <p:txBody>
          <a:bodyPr wrap="square" lIns="0" tIns="0" rIns="0" bIns="0" rtlCol="0" anchor="ctr"/>
          <a:lstStyle/>
          <a:p>
            <a:pPr algn="ctr" indent="0" marL="0">
              <a:buNone/>
            </a:pPr>
            <a:r>
              <a:rPr lang="en-US" sz="1400" b="1" dirty="0">
                <a:solidFill>
                  <a:srgbClr val="06121F"/>
                </a:solidFill>
                <a:latin typeface="Courier New" pitchFamily="34" charset="0"/>
                <a:ea typeface="Courier New" pitchFamily="34" charset="-122"/>
                <a:cs typeface="Courier New" pitchFamily="34" charset="-120"/>
              </a:rPr>
              <a:t>2</a:t>
            </a:r>
            <a:endParaRPr lang="en-US" sz="1400" dirty="0"/>
          </a:p>
        </p:txBody>
      </p:sp>
      <p:sp>
        <p:nvSpPr>
          <p:cNvPr id="12" name="Text 10"/>
          <p:cNvSpPr txBox="1"/>
          <p:nvPr/>
        </p:nvSpPr>
        <p:spPr>
          <a:xfrm>
            <a:off x="1280160" y="5102352"/>
            <a:ext cx="5120640" cy="457200"/>
          </a:xfrm>
          <a:prstGeom prst="rect">
            <a:avLst/>
          </a:prstGeom>
          <a:noFill/>
          <a:ln/>
        </p:spPr>
        <p:txBody>
          <a:bodyPr wrap="square" lIns="0" tIns="0" rIns="0" bIns="0" rtlCol="0" anchor="ctr"/>
          <a:lstStyle/>
          <a:p>
            <a:pPr indent="0" marL="0">
              <a:buNone/>
            </a:pPr>
            <a:r>
              <a:rPr lang="en-US" sz="1200" b="1" dirty="0">
                <a:solidFill>
                  <a:srgbClr val="22D3EE"/>
                </a:solidFill>
                <a:latin typeface="Courier New" pitchFamily="34" charset="0"/>
                <a:ea typeface="Courier New" pitchFamily="34" charset="-122"/>
                <a:cs typeface="Courier New" pitchFamily="34" charset="-120"/>
              </a:rPr>
              <a:t>Within hours  </a:t>
            </a:r>
            <a:pPr indent="0" marL="0">
              <a:buNone/>
            </a:pPr>
            <a:r>
              <a:rPr lang="en-US" sz="1300" dirty="0">
                <a:solidFill>
                  <a:srgbClr val="EAF4FB"/>
                </a:solidFill>
                <a:latin typeface="Arial" pitchFamily="34" charset="0"/>
                <a:ea typeface="Arial" pitchFamily="34" charset="-122"/>
                <a:cs typeface="Arial" pitchFamily="34" charset="-120"/>
              </a:rPr>
              <a:t>It spreads rapidly across connected UNIX hosts.</a:t>
            </a:r>
            <a:endParaRPr lang="en-US" sz="1200" dirty="0"/>
          </a:p>
        </p:txBody>
      </p:sp>
      <p:sp>
        <p:nvSpPr>
          <p:cNvPr id="13" name="Shape 11"/>
          <p:cNvSpPr/>
          <p:nvPr/>
        </p:nvSpPr>
        <p:spPr>
          <a:xfrm>
            <a:off x="685800" y="5705856"/>
            <a:ext cx="402336" cy="402336"/>
          </a:xfrm>
          <a:prstGeom prst="ellipse">
            <a:avLst/>
          </a:prstGeom>
          <a:solidFill>
            <a:srgbClr val="22D3EE"/>
          </a:solidFill>
          <a:ln/>
        </p:spPr>
      </p:sp>
      <p:sp>
        <p:nvSpPr>
          <p:cNvPr id="14" name="Text 12"/>
          <p:cNvSpPr txBox="1"/>
          <p:nvPr/>
        </p:nvSpPr>
        <p:spPr>
          <a:xfrm>
            <a:off x="685800" y="5705856"/>
            <a:ext cx="402336" cy="402336"/>
          </a:xfrm>
          <a:prstGeom prst="rect">
            <a:avLst/>
          </a:prstGeom>
          <a:noFill/>
          <a:ln/>
        </p:spPr>
        <p:txBody>
          <a:bodyPr wrap="square" lIns="0" tIns="0" rIns="0" bIns="0" rtlCol="0" anchor="ctr"/>
          <a:lstStyle/>
          <a:p>
            <a:pPr algn="ctr" indent="0" marL="0">
              <a:buNone/>
            </a:pPr>
            <a:r>
              <a:rPr lang="en-US" sz="1400" b="1" dirty="0">
                <a:solidFill>
                  <a:srgbClr val="06121F"/>
                </a:solidFill>
                <a:latin typeface="Courier New" pitchFamily="34" charset="0"/>
                <a:ea typeface="Courier New" pitchFamily="34" charset="-122"/>
                <a:cs typeface="Courier New" pitchFamily="34" charset="-120"/>
              </a:rPr>
              <a:t>3</a:t>
            </a:r>
            <a:endParaRPr lang="en-US" sz="1400" dirty="0"/>
          </a:p>
        </p:txBody>
      </p:sp>
      <p:sp>
        <p:nvSpPr>
          <p:cNvPr id="15" name="Text 13"/>
          <p:cNvSpPr txBox="1"/>
          <p:nvPr/>
        </p:nvSpPr>
        <p:spPr>
          <a:xfrm>
            <a:off x="1280160" y="5669280"/>
            <a:ext cx="5120640" cy="457200"/>
          </a:xfrm>
          <a:prstGeom prst="rect">
            <a:avLst/>
          </a:prstGeom>
          <a:noFill/>
          <a:ln/>
        </p:spPr>
        <p:txBody>
          <a:bodyPr wrap="square" lIns="0" tIns="0" rIns="0" bIns="0" rtlCol="0" anchor="ctr"/>
          <a:lstStyle/>
          <a:p>
            <a:pPr indent="0" marL="0">
              <a:buNone/>
            </a:pPr>
            <a:r>
              <a:rPr lang="en-US" sz="1200" b="1" dirty="0">
                <a:solidFill>
                  <a:srgbClr val="22D3EE"/>
                </a:solidFill>
                <a:latin typeface="Courier New" pitchFamily="34" charset="0"/>
                <a:ea typeface="Courier New" pitchFamily="34" charset="-122"/>
                <a:cs typeface="Courier New" pitchFamily="34" charset="-120"/>
              </a:rPr>
              <a:t>Nov 3, early hours  </a:t>
            </a:r>
            <a:pPr indent="0" marL="0">
              <a:buNone/>
            </a:pPr>
            <a:r>
              <a:rPr lang="en-US" sz="1300" dirty="0">
                <a:solidFill>
                  <a:srgbClr val="EAF4FB"/>
                </a:solidFill>
                <a:latin typeface="Arial" pitchFamily="34" charset="0"/>
                <a:ea typeface="Arial" pitchFamily="34" charset="-122"/>
                <a:cs typeface="Arial" pitchFamily="34" charset="-120"/>
              </a:rPr>
              <a:t>An apology and fix instructions are posted anonymously.</a:t>
            </a:r>
            <a:endParaRPr lang="en-US" sz="1200" dirty="0"/>
          </a:p>
        </p:txBody>
      </p:sp>
      <p:pic>
        <p:nvPicPr>
          <p:cNvPr id="16" name="Image 0" descr="assets/programmer.png">    </p:cNvPr>
          <p:cNvPicPr>
            <a:picLocks noChangeAspect="1"/>
          </p:cNvPicPr>
          <p:nvPr/>
        </p:nvPicPr>
        <p:blipFill>
          <a:blip r:embed="rId2"/>
          <a:srcRect l="0" r="0" t="0" b="0"/>
          <a:stretch/>
        </p:blipFill>
        <p:spPr>
          <a:xfrm>
            <a:off x="7406640" y="685800"/>
            <a:ext cx="4023360" cy="5486400"/>
          </a:xfrm>
          <a:prstGeom prst="rect">
            <a:avLst/>
          </a:prstGeom>
        </p:spPr>
      </p:pic>
      <p:sp>
        <p:nvSpPr>
          <p:cNvPr id="17" name="Shape 14"/>
          <p:cNvSpPr/>
          <p:nvPr/>
        </p:nvSpPr>
        <p:spPr>
          <a:xfrm>
            <a:off x="7406640" y="685800"/>
            <a:ext cx="4023360" cy="5486400"/>
          </a:xfrm>
          <a:prstGeom prst="rect">
            <a:avLst/>
          </a:prstGeom>
          <a:solidFill>
            <a:srgbClr val="06121F">
              <a:alpha val="40000"/>
            </a:srgbClr>
          </a:solidFill>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11430000" y="6400800"/>
            <a:ext cx="548640" cy="320040"/>
          </a:xfrm>
          <a:prstGeom prst="rect">
            <a:avLst/>
          </a:prstGeom>
          <a:noFill/>
          <a:ln/>
        </p:spPr>
        <p:txBody>
          <a:bodyPr wrap="square" lIns="0" tIns="0" rIns="0" bIns="0" rtlCol="0" anchor="ctr"/>
          <a:lstStyle/>
          <a:p>
            <a:pPr algn="r" indent="0" marL="0">
              <a:buNone/>
            </a:pPr>
            <a:r>
              <a:rPr lang="en-US" sz="1100" dirty="0">
                <a:solidFill>
                  <a:srgbClr val="94A3B8"/>
                </a:solidFill>
                <a:latin typeface="Courier New" pitchFamily="34" charset="0"/>
                <a:ea typeface="Courier New" pitchFamily="34" charset="-122"/>
                <a:cs typeface="Courier New" pitchFamily="34" charset="-120"/>
              </a:rPr>
              <a:t>5</a:t>
            </a:r>
            <a:endParaRPr lang="en-US" sz="1100" dirty="0"/>
          </a:p>
        </p:txBody>
      </p:sp>
      <p:sp>
        <p:nvSpPr>
          <p:cNvPr id="3" name="Text 1"/>
          <p:cNvSpPr txBox="1"/>
          <p:nvPr/>
        </p:nvSpPr>
        <p:spPr>
          <a:xfrm>
            <a:off x="685800" y="457200"/>
            <a:ext cx="5486400" cy="292608"/>
          </a:xfrm>
          <a:prstGeom prst="rect">
            <a:avLst/>
          </a:prstGeom>
          <a:noFill/>
          <a:ln/>
        </p:spPr>
        <p:txBody>
          <a:bodyPr wrap="square" lIns="0" tIns="0" rIns="0" bIns="0" rtlCol="0" anchor="ctr"/>
          <a:lstStyle/>
          <a:p>
            <a:pPr indent="0" marL="0">
              <a:buNone/>
            </a:pPr>
            <a:r>
              <a:rPr lang="en-US" sz="1250" spc="250" kern="0" dirty="0">
                <a:solidFill>
                  <a:srgbClr val="22D3EE"/>
                </a:solidFill>
                <a:latin typeface="Courier New" pitchFamily="34" charset="0"/>
                <a:ea typeface="Courier New" pitchFamily="34" charset="-122"/>
                <a:cs typeface="Courier New" pitchFamily="34" charset="-120"/>
              </a:rPr>
              <a:t>THE MECHANISM</a:t>
            </a:r>
            <a:endParaRPr lang="en-US" sz="1250" dirty="0"/>
          </a:p>
        </p:txBody>
      </p:sp>
      <p:sp>
        <p:nvSpPr>
          <p:cNvPr id="4" name="Text 2"/>
          <p:cNvSpPr txBox="1"/>
          <p:nvPr/>
        </p:nvSpPr>
        <p:spPr>
          <a:xfrm>
            <a:off x="685800" y="777240"/>
            <a:ext cx="10789920" cy="1097280"/>
          </a:xfrm>
          <a:prstGeom prst="rect">
            <a:avLst/>
          </a:prstGeom>
          <a:noFill/>
          <a:ln/>
        </p:spPr>
        <p:txBody>
          <a:bodyPr wrap="square" lIns="0" tIns="0" rIns="0" bIns="0" rtlCol="0" anchor="ctr"/>
          <a:lstStyle/>
          <a:p>
            <a:pPr indent="0" marL="0">
              <a:lnSpc>
                <a:spcPct val="98000"/>
              </a:lnSpc>
              <a:buNone/>
            </a:pPr>
            <a:r>
              <a:rPr lang="en-US" sz="3800" b="1" dirty="0">
                <a:solidFill>
                  <a:srgbClr val="FFFFFF"/>
                </a:solidFill>
                <a:latin typeface="Arial" pitchFamily="34" charset="0"/>
                <a:ea typeface="Arial" pitchFamily="34" charset="-122"/>
                <a:cs typeface="Arial" pitchFamily="34" charset="-120"/>
              </a:rPr>
              <a:t>How the Morris Worm worked</a:t>
            </a:r>
            <a:endParaRPr lang="en-US" sz="3800" dirty="0"/>
          </a:p>
        </p:txBody>
      </p:sp>
      <p:sp>
        <p:nvSpPr>
          <p:cNvPr id="5" name="Text 3"/>
          <p:cNvSpPr txBox="1"/>
          <p:nvPr/>
        </p:nvSpPr>
        <p:spPr>
          <a:xfrm>
            <a:off x="685800" y="1737360"/>
            <a:ext cx="10789920" cy="548640"/>
          </a:xfrm>
          <a:prstGeom prst="rect">
            <a:avLst/>
          </a:prstGeom>
          <a:noFill/>
          <a:ln/>
        </p:spPr>
        <p:txBody>
          <a:bodyPr wrap="square" lIns="0" tIns="0" rIns="0" bIns="0" rtlCol="0" anchor="ctr"/>
          <a:lstStyle/>
          <a:p>
            <a:pPr indent="0" marL="0">
              <a:buNone/>
            </a:pPr>
            <a:r>
              <a:rPr lang="en-US" sz="1450" dirty="0">
                <a:solidFill>
                  <a:srgbClr val="EAF4FB"/>
                </a:solidFill>
                <a:latin typeface="Arial" pitchFamily="34" charset="0"/>
                <a:ea typeface="Arial" pitchFamily="34" charset="-122"/>
                <a:cs typeface="Arial" pitchFamily="34" charset="-120"/>
              </a:rPr>
              <a:t>Each infected machine repeated the same cycle — and every new host became another launch point, driving exponential spread.</a:t>
            </a:r>
            <a:endParaRPr lang="en-US" sz="1450" dirty="0"/>
          </a:p>
        </p:txBody>
      </p:sp>
      <p:sp>
        <p:nvSpPr>
          <p:cNvPr id="6" name="Shape 4"/>
          <p:cNvSpPr/>
          <p:nvPr/>
        </p:nvSpPr>
        <p:spPr>
          <a:xfrm>
            <a:off x="685800" y="2606040"/>
            <a:ext cx="1389888" cy="1737360"/>
          </a:xfrm>
          <a:prstGeom prst="roundRect">
            <a:avLst>
              <a:gd name="adj" fmla="val 6579"/>
            </a:avLst>
          </a:prstGeom>
          <a:solidFill>
            <a:srgbClr val="EAF4FB"/>
          </a:solidFill>
          <a:ln/>
          <a:effectLst>
            <a:outerShdw sx="100000" sy="100000" kx="0" ky="0" algn="bl" rotWithShape="0" blurRad="127000" dist="38100" dir="5400000">
              <a:srgbClr val="000000">
                <a:alpha val="35000"/>
              </a:srgbClr>
            </a:outerShdw>
          </a:effectLst>
        </p:spPr>
      </p:sp>
      <p:sp>
        <p:nvSpPr>
          <p:cNvPr id="7" name="Shape 5"/>
          <p:cNvSpPr/>
          <p:nvPr/>
        </p:nvSpPr>
        <p:spPr>
          <a:xfrm>
            <a:off x="1152144" y="2807208"/>
            <a:ext cx="457200" cy="457200"/>
          </a:xfrm>
          <a:prstGeom prst="ellipse">
            <a:avLst/>
          </a:prstGeom>
          <a:solidFill>
            <a:srgbClr val="22D3EE"/>
          </a:solidFill>
          <a:ln/>
        </p:spPr>
      </p:sp>
      <p:sp>
        <p:nvSpPr>
          <p:cNvPr id="8" name="Text 6"/>
          <p:cNvSpPr txBox="1"/>
          <p:nvPr/>
        </p:nvSpPr>
        <p:spPr>
          <a:xfrm>
            <a:off x="1152144" y="2807208"/>
            <a:ext cx="457200" cy="457200"/>
          </a:xfrm>
          <a:prstGeom prst="rect">
            <a:avLst/>
          </a:prstGeom>
          <a:noFill/>
          <a:ln/>
        </p:spPr>
        <p:txBody>
          <a:bodyPr wrap="square" lIns="0" tIns="0" rIns="0" bIns="0" rtlCol="0" anchor="ctr"/>
          <a:lstStyle/>
          <a:p>
            <a:pPr algn="ctr" indent="0" marL="0">
              <a:buNone/>
            </a:pPr>
            <a:r>
              <a:rPr lang="en-US" sz="1400" b="1" dirty="0">
                <a:solidFill>
                  <a:srgbClr val="06121F"/>
                </a:solidFill>
                <a:latin typeface="Courier New" pitchFamily="34" charset="0"/>
                <a:ea typeface="Courier New" pitchFamily="34" charset="-122"/>
                <a:cs typeface="Courier New" pitchFamily="34" charset="-120"/>
              </a:rPr>
              <a:t>01</a:t>
            </a:r>
            <a:endParaRPr lang="en-US" sz="1400" dirty="0"/>
          </a:p>
        </p:txBody>
      </p:sp>
      <p:sp>
        <p:nvSpPr>
          <p:cNvPr id="9" name="Text 7"/>
          <p:cNvSpPr txBox="1"/>
          <p:nvPr/>
        </p:nvSpPr>
        <p:spPr>
          <a:xfrm>
            <a:off x="777240" y="3383280"/>
            <a:ext cx="1207008" cy="822960"/>
          </a:xfrm>
          <a:prstGeom prst="rect">
            <a:avLst/>
          </a:prstGeom>
          <a:noFill/>
          <a:ln/>
        </p:spPr>
        <p:txBody>
          <a:bodyPr wrap="square" lIns="0" tIns="0" rIns="0" bIns="0" rtlCol="0" anchor="t"/>
          <a:lstStyle/>
          <a:p>
            <a:pPr algn="ctr" indent="0" marL="0">
              <a:lnSpc>
                <a:spcPct val="95000"/>
              </a:lnSpc>
              <a:buNone/>
            </a:pPr>
            <a:r>
              <a:rPr lang="en-US" sz="1300" b="1" dirty="0">
                <a:solidFill>
                  <a:srgbClr val="0B2A45"/>
                </a:solidFill>
                <a:latin typeface="Arial" pitchFamily="34" charset="0"/>
                <a:ea typeface="Arial" pitchFamily="34" charset="-122"/>
                <a:cs typeface="Arial" pitchFamily="34" charset="-120"/>
              </a:rPr>
              <a:t>Find host</a:t>
            </a:r>
            <a:endParaRPr lang="en-US" sz="1300" dirty="0"/>
          </a:p>
        </p:txBody>
      </p:sp>
      <p:sp>
        <p:nvSpPr>
          <p:cNvPr id="10" name="Text 8"/>
          <p:cNvSpPr txBox="1"/>
          <p:nvPr/>
        </p:nvSpPr>
        <p:spPr>
          <a:xfrm>
            <a:off x="1962150" y="3291840"/>
            <a:ext cx="411480" cy="365760"/>
          </a:xfrm>
          <a:prstGeom prst="rect">
            <a:avLst/>
          </a:prstGeom>
          <a:noFill/>
          <a:ln/>
        </p:spPr>
        <p:txBody>
          <a:bodyPr wrap="square" lIns="0" tIns="0" rIns="0" bIns="0" rtlCol="0" anchor="ctr"/>
          <a:lstStyle/>
          <a:p>
            <a:pPr algn="ctr" indent="0" marL="0">
              <a:buNone/>
            </a:pPr>
            <a:r>
              <a:rPr lang="en-US" sz="2200" b="1" dirty="0">
                <a:solidFill>
                  <a:srgbClr val="22D3EE"/>
                </a:solidFill>
                <a:latin typeface="Arial" pitchFamily="34" charset="0"/>
                <a:ea typeface="Arial" pitchFamily="34" charset="-122"/>
                <a:cs typeface="Arial" pitchFamily="34" charset="-120"/>
              </a:rPr>
              <a:t>→</a:t>
            </a:r>
            <a:endParaRPr lang="en-US" sz="2200" dirty="0"/>
          </a:p>
        </p:txBody>
      </p:sp>
      <p:sp>
        <p:nvSpPr>
          <p:cNvPr id="11" name="Shape 9"/>
          <p:cNvSpPr/>
          <p:nvPr/>
        </p:nvSpPr>
        <p:spPr>
          <a:xfrm>
            <a:off x="2260092" y="2606040"/>
            <a:ext cx="1389888" cy="1737360"/>
          </a:xfrm>
          <a:prstGeom prst="roundRect">
            <a:avLst>
              <a:gd name="adj" fmla="val 6579"/>
            </a:avLst>
          </a:prstGeom>
          <a:solidFill>
            <a:srgbClr val="EAF4FB"/>
          </a:solidFill>
          <a:ln/>
          <a:effectLst>
            <a:outerShdw sx="100000" sy="100000" kx="0" ky="0" algn="bl" rotWithShape="0" blurRad="127000" dist="38100" dir="5400000">
              <a:srgbClr val="000000">
                <a:alpha val="35000"/>
              </a:srgbClr>
            </a:outerShdw>
          </a:effectLst>
        </p:spPr>
      </p:sp>
      <p:sp>
        <p:nvSpPr>
          <p:cNvPr id="12" name="Shape 10"/>
          <p:cNvSpPr/>
          <p:nvPr/>
        </p:nvSpPr>
        <p:spPr>
          <a:xfrm>
            <a:off x="2726436" y="2807208"/>
            <a:ext cx="457200" cy="457200"/>
          </a:xfrm>
          <a:prstGeom prst="ellipse">
            <a:avLst/>
          </a:prstGeom>
          <a:solidFill>
            <a:srgbClr val="22D3EE"/>
          </a:solidFill>
          <a:ln/>
        </p:spPr>
      </p:sp>
      <p:sp>
        <p:nvSpPr>
          <p:cNvPr id="13" name="Text 11"/>
          <p:cNvSpPr txBox="1"/>
          <p:nvPr/>
        </p:nvSpPr>
        <p:spPr>
          <a:xfrm>
            <a:off x="2726436" y="2807208"/>
            <a:ext cx="457200" cy="457200"/>
          </a:xfrm>
          <a:prstGeom prst="rect">
            <a:avLst/>
          </a:prstGeom>
          <a:noFill/>
          <a:ln/>
        </p:spPr>
        <p:txBody>
          <a:bodyPr wrap="square" lIns="0" tIns="0" rIns="0" bIns="0" rtlCol="0" anchor="ctr"/>
          <a:lstStyle/>
          <a:p>
            <a:pPr algn="ctr" indent="0" marL="0">
              <a:buNone/>
            </a:pPr>
            <a:r>
              <a:rPr lang="en-US" sz="1400" b="1" dirty="0">
                <a:solidFill>
                  <a:srgbClr val="06121F"/>
                </a:solidFill>
                <a:latin typeface="Courier New" pitchFamily="34" charset="0"/>
                <a:ea typeface="Courier New" pitchFamily="34" charset="-122"/>
                <a:cs typeface="Courier New" pitchFamily="34" charset="-120"/>
              </a:rPr>
              <a:t>02</a:t>
            </a:r>
            <a:endParaRPr lang="en-US" sz="1400" dirty="0"/>
          </a:p>
        </p:txBody>
      </p:sp>
      <p:sp>
        <p:nvSpPr>
          <p:cNvPr id="14" name="Text 12"/>
          <p:cNvSpPr txBox="1"/>
          <p:nvPr/>
        </p:nvSpPr>
        <p:spPr>
          <a:xfrm>
            <a:off x="2351532" y="3383280"/>
            <a:ext cx="1207008" cy="822960"/>
          </a:xfrm>
          <a:prstGeom prst="rect">
            <a:avLst/>
          </a:prstGeom>
          <a:noFill/>
          <a:ln/>
        </p:spPr>
        <p:txBody>
          <a:bodyPr wrap="square" lIns="0" tIns="0" rIns="0" bIns="0" rtlCol="0" anchor="t"/>
          <a:lstStyle/>
          <a:p>
            <a:pPr algn="ctr" indent="0" marL="0">
              <a:lnSpc>
                <a:spcPct val="95000"/>
              </a:lnSpc>
              <a:buNone/>
            </a:pPr>
            <a:r>
              <a:rPr lang="en-US" sz="1300" b="1" dirty="0">
                <a:solidFill>
                  <a:srgbClr val="0B2A45"/>
                </a:solidFill>
                <a:latin typeface="Arial" pitchFamily="34" charset="0"/>
                <a:ea typeface="Arial" pitchFamily="34" charset="-122"/>
                <a:cs typeface="Arial" pitchFamily="34" charset="-120"/>
              </a:rPr>
              <a:t>Identify vulnerability</a:t>
            </a:r>
            <a:endParaRPr lang="en-US" sz="1300" dirty="0"/>
          </a:p>
        </p:txBody>
      </p:sp>
      <p:sp>
        <p:nvSpPr>
          <p:cNvPr id="15" name="Text 13"/>
          <p:cNvSpPr txBox="1"/>
          <p:nvPr/>
        </p:nvSpPr>
        <p:spPr>
          <a:xfrm>
            <a:off x="3536442" y="3291840"/>
            <a:ext cx="411480" cy="365760"/>
          </a:xfrm>
          <a:prstGeom prst="rect">
            <a:avLst/>
          </a:prstGeom>
          <a:noFill/>
          <a:ln/>
        </p:spPr>
        <p:txBody>
          <a:bodyPr wrap="square" lIns="0" tIns="0" rIns="0" bIns="0" rtlCol="0" anchor="ctr"/>
          <a:lstStyle/>
          <a:p>
            <a:pPr algn="ctr" indent="0" marL="0">
              <a:buNone/>
            </a:pPr>
            <a:r>
              <a:rPr lang="en-US" sz="2200" b="1" dirty="0">
                <a:solidFill>
                  <a:srgbClr val="22D3EE"/>
                </a:solidFill>
                <a:latin typeface="Arial" pitchFamily="34" charset="0"/>
                <a:ea typeface="Arial" pitchFamily="34" charset="-122"/>
                <a:cs typeface="Arial" pitchFamily="34" charset="-120"/>
              </a:rPr>
              <a:t>→</a:t>
            </a:r>
            <a:endParaRPr lang="en-US" sz="2200" dirty="0"/>
          </a:p>
        </p:txBody>
      </p:sp>
      <p:sp>
        <p:nvSpPr>
          <p:cNvPr id="16" name="Shape 14"/>
          <p:cNvSpPr/>
          <p:nvPr/>
        </p:nvSpPr>
        <p:spPr>
          <a:xfrm>
            <a:off x="3834384" y="2606040"/>
            <a:ext cx="1389888" cy="1737360"/>
          </a:xfrm>
          <a:prstGeom prst="roundRect">
            <a:avLst>
              <a:gd name="adj" fmla="val 6579"/>
            </a:avLst>
          </a:prstGeom>
          <a:solidFill>
            <a:srgbClr val="EAF4FB"/>
          </a:solidFill>
          <a:ln/>
          <a:effectLst>
            <a:outerShdw sx="100000" sy="100000" kx="0" ky="0" algn="bl" rotWithShape="0" blurRad="127000" dist="38100" dir="5400000">
              <a:srgbClr val="000000">
                <a:alpha val="35000"/>
              </a:srgbClr>
            </a:outerShdw>
          </a:effectLst>
        </p:spPr>
      </p:sp>
      <p:sp>
        <p:nvSpPr>
          <p:cNvPr id="17" name="Shape 15"/>
          <p:cNvSpPr/>
          <p:nvPr/>
        </p:nvSpPr>
        <p:spPr>
          <a:xfrm>
            <a:off x="4300728" y="2807208"/>
            <a:ext cx="457200" cy="457200"/>
          </a:xfrm>
          <a:prstGeom prst="ellipse">
            <a:avLst/>
          </a:prstGeom>
          <a:solidFill>
            <a:srgbClr val="22D3EE"/>
          </a:solidFill>
          <a:ln/>
        </p:spPr>
      </p:sp>
      <p:sp>
        <p:nvSpPr>
          <p:cNvPr id="18" name="Text 16"/>
          <p:cNvSpPr txBox="1"/>
          <p:nvPr/>
        </p:nvSpPr>
        <p:spPr>
          <a:xfrm>
            <a:off x="4300728" y="2807208"/>
            <a:ext cx="457200" cy="457200"/>
          </a:xfrm>
          <a:prstGeom prst="rect">
            <a:avLst/>
          </a:prstGeom>
          <a:noFill/>
          <a:ln/>
        </p:spPr>
        <p:txBody>
          <a:bodyPr wrap="square" lIns="0" tIns="0" rIns="0" bIns="0" rtlCol="0" anchor="ctr"/>
          <a:lstStyle/>
          <a:p>
            <a:pPr algn="ctr" indent="0" marL="0">
              <a:buNone/>
            </a:pPr>
            <a:r>
              <a:rPr lang="en-US" sz="1400" b="1" dirty="0">
                <a:solidFill>
                  <a:srgbClr val="06121F"/>
                </a:solidFill>
                <a:latin typeface="Courier New" pitchFamily="34" charset="0"/>
                <a:ea typeface="Courier New" pitchFamily="34" charset="-122"/>
                <a:cs typeface="Courier New" pitchFamily="34" charset="-120"/>
              </a:rPr>
              <a:t>03</a:t>
            </a:r>
            <a:endParaRPr lang="en-US" sz="1400" dirty="0"/>
          </a:p>
        </p:txBody>
      </p:sp>
      <p:sp>
        <p:nvSpPr>
          <p:cNvPr id="19" name="Text 17"/>
          <p:cNvSpPr txBox="1"/>
          <p:nvPr/>
        </p:nvSpPr>
        <p:spPr>
          <a:xfrm>
            <a:off x="3925824" y="3383280"/>
            <a:ext cx="1207008" cy="822960"/>
          </a:xfrm>
          <a:prstGeom prst="rect">
            <a:avLst/>
          </a:prstGeom>
          <a:noFill/>
          <a:ln/>
        </p:spPr>
        <p:txBody>
          <a:bodyPr wrap="square" lIns="0" tIns="0" rIns="0" bIns="0" rtlCol="0" anchor="t"/>
          <a:lstStyle/>
          <a:p>
            <a:pPr algn="ctr" indent="0" marL="0">
              <a:lnSpc>
                <a:spcPct val="95000"/>
              </a:lnSpc>
              <a:buNone/>
            </a:pPr>
            <a:r>
              <a:rPr lang="en-US" sz="1300" b="1" dirty="0">
                <a:solidFill>
                  <a:srgbClr val="0B2A45"/>
                </a:solidFill>
                <a:latin typeface="Arial" pitchFamily="34" charset="0"/>
                <a:ea typeface="Arial" pitchFamily="34" charset="-122"/>
                <a:cs typeface="Arial" pitchFamily="34" charset="-120"/>
              </a:rPr>
              <a:t>Exploit</a:t>
            </a:r>
            <a:endParaRPr lang="en-US" sz="1300" dirty="0"/>
          </a:p>
        </p:txBody>
      </p:sp>
      <p:sp>
        <p:nvSpPr>
          <p:cNvPr id="20" name="Text 18"/>
          <p:cNvSpPr txBox="1"/>
          <p:nvPr/>
        </p:nvSpPr>
        <p:spPr>
          <a:xfrm>
            <a:off x="5110734" y="3291840"/>
            <a:ext cx="411480" cy="365760"/>
          </a:xfrm>
          <a:prstGeom prst="rect">
            <a:avLst/>
          </a:prstGeom>
          <a:noFill/>
          <a:ln/>
        </p:spPr>
        <p:txBody>
          <a:bodyPr wrap="square" lIns="0" tIns="0" rIns="0" bIns="0" rtlCol="0" anchor="ctr"/>
          <a:lstStyle/>
          <a:p>
            <a:pPr algn="ctr" indent="0" marL="0">
              <a:buNone/>
            </a:pPr>
            <a:r>
              <a:rPr lang="en-US" sz="2200" b="1" dirty="0">
                <a:solidFill>
                  <a:srgbClr val="22D3EE"/>
                </a:solidFill>
                <a:latin typeface="Arial" pitchFamily="34" charset="0"/>
                <a:ea typeface="Arial" pitchFamily="34" charset="-122"/>
                <a:cs typeface="Arial" pitchFamily="34" charset="-120"/>
              </a:rPr>
              <a:t>→</a:t>
            </a:r>
            <a:endParaRPr lang="en-US" sz="2200" dirty="0"/>
          </a:p>
        </p:txBody>
      </p:sp>
      <p:sp>
        <p:nvSpPr>
          <p:cNvPr id="21" name="Shape 19"/>
          <p:cNvSpPr/>
          <p:nvPr/>
        </p:nvSpPr>
        <p:spPr>
          <a:xfrm>
            <a:off x="5408676" y="2606040"/>
            <a:ext cx="1389888" cy="1737360"/>
          </a:xfrm>
          <a:prstGeom prst="roundRect">
            <a:avLst>
              <a:gd name="adj" fmla="val 6579"/>
            </a:avLst>
          </a:prstGeom>
          <a:solidFill>
            <a:srgbClr val="EAF4FB"/>
          </a:solidFill>
          <a:ln/>
          <a:effectLst>
            <a:outerShdw sx="100000" sy="100000" kx="0" ky="0" algn="bl" rotWithShape="0" blurRad="127000" dist="38100" dir="5400000">
              <a:srgbClr val="000000">
                <a:alpha val="35000"/>
              </a:srgbClr>
            </a:outerShdw>
          </a:effectLst>
        </p:spPr>
      </p:sp>
      <p:sp>
        <p:nvSpPr>
          <p:cNvPr id="22" name="Shape 20"/>
          <p:cNvSpPr/>
          <p:nvPr/>
        </p:nvSpPr>
        <p:spPr>
          <a:xfrm>
            <a:off x="5875020" y="2807208"/>
            <a:ext cx="457200" cy="457200"/>
          </a:xfrm>
          <a:prstGeom prst="ellipse">
            <a:avLst/>
          </a:prstGeom>
          <a:solidFill>
            <a:srgbClr val="22D3EE"/>
          </a:solidFill>
          <a:ln/>
        </p:spPr>
      </p:sp>
      <p:sp>
        <p:nvSpPr>
          <p:cNvPr id="23" name="Text 21"/>
          <p:cNvSpPr txBox="1"/>
          <p:nvPr/>
        </p:nvSpPr>
        <p:spPr>
          <a:xfrm>
            <a:off x="5875020" y="2807208"/>
            <a:ext cx="457200" cy="457200"/>
          </a:xfrm>
          <a:prstGeom prst="rect">
            <a:avLst/>
          </a:prstGeom>
          <a:noFill/>
          <a:ln/>
        </p:spPr>
        <p:txBody>
          <a:bodyPr wrap="square" lIns="0" tIns="0" rIns="0" bIns="0" rtlCol="0" anchor="ctr"/>
          <a:lstStyle/>
          <a:p>
            <a:pPr algn="ctr" indent="0" marL="0">
              <a:buNone/>
            </a:pPr>
            <a:r>
              <a:rPr lang="en-US" sz="1400" b="1" dirty="0">
                <a:solidFill>
                  <a:srgbClr val="06121F"/>
                </a:solidFill>
                <a:latin typeface="Courier New" pitchFamily="34" charset="0"/>
                <a:ea typeface="Courier New" pitchFamily="34" charset="-122"/>
                <a:cs typeface="Courier New" pitchFamily="34" charset="-120"/>
              </a:rPr>
              <a:t>04</a:t>
            </a:r>
            <a:endParaRPr lang="en-US" sz="1400" dirty="0"/>
          </a:p>
        </p:txBody>
      </p:sp>
      <p:sp>
        <p:nvSpPr>
          <p:cNvPr id="24" name="Text 22"/>
          <p:cNvSpPr txBox="1"/>
          <p:nvPr/>
        </p:nvSpPr>
        <p:spPr>
          <a:xfrm>
            <a:off x="5500116" y="3383280"/>
            <a:ext cx="1207008" cy="822960"/>
          </a:xfrm>
          <a:prstGeom prst="rect">
            <a:avLst/>
          </a:prstGeom>
          <a:noFill/>
          <a:ln/>
        </p:spPr>
        <p:txBody>
          <a:bodyPr wrap="square" lIns="0" tIns="0" rIns="0" bIns="0" rtlCol="0" anchor="t"/>
          <a:lstStyle/>
          <a:p>
            <a:pPr algn="ctr" indent="0" marL="0">
              <a:lnSpc>
                <a:spcPct val="95000"/>
              </a:lnSpc>
              <a:buNone/>
            </a:pPr>
            <a:r>
              <a:rPr lang="en-US" sz="1300" b="1" dirty="0">
                <a:solidFill>
                  <a:srgbClr val="0B2A45"/>
                </a:solidFill>
                <a:latin typeface="Arial" pitchFamily="34" charset="0"/>
                <a:ea typeface="Arial" pitchFamily="34" charset="-122"/>
                <a:cs typeface="Arial" pitchFamily="34" charset="-120"/>
              </a:rPr>
              <a:t>Copy worm</a:t>
            </a:r>
            <a:endParaRPr lang="en-US" sz="1300" dirty="0"/>
          </a:p>
        </p:txBody>
      </p:sp>
      <p:sp>
        <p:nvSpPr>
          <p:cNvPr id="25" name="Text 23"/>
          <p:cNvSpPr txBox="1"/>
          <p:nvPr/>
        </p:nvSpPr>
        <p:spPr>
          <a:xfrm>
            <a:off x="6685026" y="3291840"/>
            <a:ext cx="411480" cy="365760"/>
          </a:xfrm>
          <a:prstGeom prst="rect">
            <a:avLst/>
          </a:prstGeom>
          <a:noFill/>
          <a:ln/>
        </p:spPr>
        <p:txBody>
          <a:bodyPr wrap="square" lIns="0" tIns="0" rIns="0" bIns="0" rtlCol="0" anchor="ctr"/>
          <a:lstStyle/>
          <a:p>
            <a:pPr algn="ctr" indent="0" marL="0">
              <a:buNone/>
            </a:pPr>
            <a:r>
              <a:rPr lang="en-US" sz="2200" b="1" dirty="0">
                <a:solidFill>
                  <a:srgbClr val="22D3EE"/>
                </a:solidFill>
                <a:latin typeface="Arial" pitchFamily="34" charset="0"/>
                <a:ea typeface="Arial" pitchFamily="34" charset="-122"/>
                <a:cs typeface="Arial" pitchFamily="34" charset="-120"/>
              </a:rPr>
              <a:t>→</a:t>
            </a:r>
            <a:endParaRPr lang="en-US" sz="2200" dirty="0"/>
          </a:p>
        </p:txBody>
      </p:sp>
      <p:sp>
        <p:nvSpPr>
          <p:cNvPr id="26" name="Shape 24"/>
          <p:cNvSpPr/>
          <p:nvPr/>
        </p:nvSpPr>
        <p:spPr>
          <a:xfrm>
            <a:off x="6982968" y="2606040"/>
            <a:ext cx="1389888" cy="1737360"/>
          </a:xfrm>
          <a:prstGeom prst="roundRect">
            <a:avLst>
              <a:gd name="adj" fmla="val 6579"/>
            </a:avLst>
          </a:prstGeom>
          <a:solidFill>
            <a:srgbClr val="EAF4FB"/>
          </a:solidFill>
          <a:ln/>
          <a:effectLst>
            <a:outerShdw sx="100000" sy="100000" kx="0" ky="0" algn="bl" rotWithShape="0" blurRad="127000" dist="38100" dir="5400000">
              <a:srgbClr val="000000">
                <a:alpha val="35000"/>
              </a:srgbClr>
            </a:outerShdw>
          </a:effectLst>
        </p:spPr>
      </p:sp>
      <p:sp>
        <p:nvSpPr>
          <p:cNvPr id="27" name="Shape 25"/>
          <p:cNvSpPr/>
          <p:nvPr/>
        </p:nvSpPr>
        <p:spPr>
          <a:xfrm>
            <a:off x="7449312" y="2807208"/>
            <a:ext cx="457200" cy="457200"/>
          </a:xfrm>
          <a:prstGeom prst="ellipse">
            <a:avLst/>
          </a:prstGeom>
          <a:solidFill>
            <a:srgbClr val="22D3EE"/>
          </a:solidFill>
          <a:ln/>
        </p:spPr>
      </p:sp>
      <p:sp>
        <p:nvSpPr>
          <p:cNvPr id="28" name="Text 26"/>
          <p:cNvSpPr txBox="1"/>
          <p:nvPr/>
        </p:nvSpPr>
        <p:spPr>
          <a:xfrm>
            <a:off x="7449312" y="2807208"/>
            <a:ext cx="457200" cy="457200"/>
          </a:xfrm>
          <a:prstGeom prst="rect">
            <a:avLst/>
          </a:prstGeom>
          <a:noFill/>
          <a:ln/>
        </p:spPr>
        <p:txBody>
          <a:bodyPr wrap="square" lIns="0" tIns="0" rIns="0" bIns="0" rtlCol="0" anchor="ctr"/>
          <a:lstStyle/>
          <a:p>
            <a:pPr algn="ctr" indent="0" marL="0">
              <a:buNone/>
            </a:pPr>
            <a:r>
              <a:rPr lang="en-US" sz="1400" b="1" dirty="0">
                <a:solidFill>
                  <a:srgbClr val="06121F"/>
                </a:solidFill>
                <a:latin typeface="Courier New" pitchFamily="34" charset="0"/>
                <a:ea typeface="Courier New" pitchFamily="34" charset="-122"/>
                <a:cs typeface="Courier New" pitchFamily="34" charset="-120"/>
              </a:rPr>
              <a:t>05</a:t>
            </a:r>
            <a:endParaRPr lang="en-US" sz="1400" dirty="0"/>
          </a:p>
        </p:txBody>
      </p:sp>
      <p:sp>
        <p:nvSpPr>
          <p:cNvPr id="29" name="Text 27"/>
          <p:cNvSpPr txBox="1"/>
          <p:nvPr/>
        </p:nvSpPr>
        <p:spPr>
          <a:xfrm>
            <a:off x="7074408" y="3383280"/>
            <a:ext cx="1207008" cy="822960"/>
          </a:xfrm>
          <a:prstGeom prst="rect">
            <a:avLst/>
          </a:prstGeom>
          <a:noFill/>
          <a:ln/>
        </p:spPr>
        <p:txBody>
          <a:bodyPr wrap="square" lIns="0" tIns="0" rIns="0" bIns="0" rtlCol="0" anchor="t"/>
          <a:lstStyle/>
          <a:p>
            <a:pPr algn="ctr" indent="0" marL="0">
              <a:lnSpc>
                <a:spcPct val="95000"/>
              </a:lnSpc>
              <a:buNone/>
            </a:pPr>
            <a:r>
              <a:rPr lang="en-US" sz="1300" b="1" dirty="0">
                <a:solidFill>
                  <a:srgbClr val="0B2A45"/>
                </a:solidFill>
                <a:latin typeface="Arial" pitchFamily="34" charset="0"/>
                <a:ea typeface="Arial" pitchFamily="34" charset="-122"/>
                <a:cs typeface="Arial" pitchFamily="34" charset="-120"/>
              </a:rPr>
              <a:t>Execute</a:t>
            </a:r>
            <a:endParaRPr lang="en-US" sz="1300" dirty="0"/>
          </a:p>
        </p:txBody>
      </p:sp>
      <p:sp>
        <p:nvSpPr>
          <p:cNvPr id="30" name="Text 28"/>
          <p:cNvSpPr txBox="1"/>
          <p:nvPr/>
        </p:nvSpPr>
        <p:spPr>
          <a:xfrm>
            <a:off x="8259318" y="3291840"/>
            <a:ext cx="411480" cy="365760"/>
          </a:xfrm>
          <a:prstGeom prst="rect">
            <a:avLst/>
          </a:prstGeom>
          <a:noFill/>
          <a:ln/>
        </p:spPr>
        <p:txBody>
          <a:bodyPr wrap="square" lIns="0" tIns="0" rIns="0" bIns="0" rtlCol="0" anchor="ctr"/>
          <a:lstStyle/>
          <a:p>
            <a:pPr algn="ctr" indent="0" marL="0">
              <a:buNone/>
            </a:pPr>
            <a:r>
              <a:rPr lang="en-US" sz="2200" b="1" dirty="0">
                <a:solidFill>
                  <a:srgbClr val="22D3EE"/>
                </a:solidFill>
                <a:latin typeface="Arial" pitchFamily="34" charset="0"/>
                <a:ea typeface="Arial" pitchFamily="34" charset="-122"/>
                <a:cs typeface="Arial" pitchFamily="34" charset="-120"/>
              </a:rPr>
              <a:t>→</a:t>
            </a:r>
            <a:endParaRPr lang="en-US" sz="2200" dirty="0"/>
          </a:p>
        </p:txBody>
      </p:sp>
      <p:sp>
        <p:nvSpPr>
          <p:cNvPr id="31" name="Shape 29"/>
          <p:cNvSpPr/>
          <p:nvPr/>
        </p:nvSpPr>
        <p:spPr>
          <a:xfrm>
            <a:off x="8557260" y="2606040"/>
            <a:ext cx="1389888" cy="1737360"/>
          </a:xfrm>
          <a:prstGeom prst="roundRect">
            <a:avLst>
              <a:gd name="adj" fmla="val 6579"/>
            </a:avLst>
          </a:prstGeom>
          <a:solidFill>
            <a:srgbClr val="EAF4FB"/>
          </a:solidFill>
          <a:ln/>
          <a:effectLst>
            <a:outerShdw sx="100000" sy="100000" kx="0" ky="0" algn="bl" rotWithShape="0" blurRad="127000" dist="38100" dir="5400000">
              <a:srgbClr val="000000">
                <a:alpha val="35000"/>
              </a:srgbClr>
            </a:outerShdw>
          </a:effectLst>
        </p:spPr>
      </p:sp>
      <p:sp>
        <p:nvSpPr>
          <p:cNvPr id="32" name="Shape 30"/>
          <p:cNvSpPr/>
          <p:nvPr/>
        </p:nvSpPr>
        <p:spPr>
          <a:xfrm>
            <a:off x="9023604" y="2807208"/>
            <a:ext cx="457200" cy="457200"/>
          </a:xfrm>
          <a:prstGeom prst="ellipse">
            <a:avLst/>
          </a:prstGeom>
          <a:solidFill>
            <a:srgbClr val="22D3EE"/>
          </a:solidFill>
          <a:ln/>
        </p:spPr>
      </p:sp>
      <p:sp>
        <p:nvSpPr>
          <p:cNvPr id="33" name="Text 31"/>
          <p:cNvSpPr txBox="1"/>
          <p:nvPr/>
        </p:nvSpPr>
        <p:spPr>
          <a:xfrm>
            <a:off x="9023604" y="2807208"/>
            <a:ext cx="457200" cy="457200"/>
          </a:xfrm>
          <a:prstGeom prst="rect">
            <a:avLst/>
          </a:prstGeom>
          <a:noFill/>
          <a:ln/>
        </p:spPr>
        <p:txBody>
          <a:bodyPr wrap="square" lIns="0" tIns="0" rIns="0" bIns="0" rtlCol="0" anchor="ctr"/>
          <a:lstStyle/>
          <a:p>
            <a:pPr algn="ctr" indent="0" marL="0">
              <a:buNone/>
            </a:pPr>
            <a:r>
              <a:rPr lang="en-US" sz="1400" b="1" dirty="0">
                <a:solidFill>
                  <a:srgbClr val="06121F"/>
                </a:solidFill>
                <a:latin typeface="Courier New" pitchFamily="34" charset="0"/>
                <a:ea typeface="Courier New" pitchFamily="34" charset="-122"/>
                <a:cs typeface="Courier New" pitchFamily="34" charset="-120"/>
              </a:rPr>
              <a:t>06</a:t>
            </a:r>
            <a:endParaRPr lang="en-US" sz="1400" dirty="0"/>
          </a:p>
        </p:txBody>
      </p:sp>
      <p:sp>
        <p:nvSpPr>
          <p:cNvPr id="34" name="Text 32"/>
          <p:cNvSpPr txBox="1"/>
          <p:nvPr/>
        </p:nvSpPr>
        <p:spPr>
          <a:xfrm>
            <a:off x="8648700" y="3383280"/>
            <a:ext cx="1207008" cy="822960"/>
          </a:xfrm>
          <a:prstGeom prst="rect">
            <a:avLst/>
          </a:prstGeom>
          <a:noFill/>
          <a:ln/>
        </p:spPr>
        <p:txBody>
          <a:bodyPr wrap="square" lIns="0" tIns="0" rIns="0" bIns="0" rtlCol="0" anchor="t"/>
          <a:lstStyle/>
          <a:p>
            <a:pPr algn="ctr" indent="0" marL="0">
              <a:lnSpc>
                <a:spcPct val="95000"/>
              </a:lnSpc>
              <a:buNone/>
            </a:pPr>
            <a:r>
              <a:rPr lang="en-US" sz="1300" b="1" dirty="0">
                <a:solidFill>
                  <a:srgbClr val="0B2A45"/>
                </a:solidFill>
                <a:latin typeface="Arial" pitchFamily="34" charset="0"/>
                <a:ea typeface="Arial" pitchFamily="34" charset="-122"/>
                <a:cs typeface="Arial" pitchFamily="34" charset="-120"/>
              </a:rPr>
              <a:t>Scan again</a:t>
            </a:r>
            <a:endParaRPr lang="en-US" sz="1300" dirty="0"/>
          </a:p>
        </p:txBody>
      </p:sp>
      <p:sp>
        <p:nvSpPr>
          <p:cNvPr id="35" name="Text 33"/>
          <p:cNvSpPr txBox="1"/>
          <p:nvPr/>
        </p:nvSpPr>
        <p:spPr>
          <a:xfrm>
            <a:off x="9833610" y="3291840"/>
            <a:ext cx="411480" cy="365760"/>
          </a:xfrm>
          <a:prstGeom prst="rect">
            <a:avLst/>
          </a:prstGeom>
          <a:noFill/>
          <a:ln/>
        </p:spPr>
        <p:txBody>
          <a:bodyPr wrap="square" lIns="0" tIns="0" rIns="0" bIns="0" rtlCol="0" anchor="ctr"/>
          <a:lstStyle/>
          <a:p>
            <a:pPr algn="ctr" indent="0" marL="0">
              <a:buNone/>
            </a:pPr>
            <a:r>
              <a:rPr lang="en-US" sz="2200" b="1" dirty="0">
                <a:solidFill>
                  <a:srgbClr val="22D3EE"/>
                </a:solidFill>
                <a:latin typeface="Arial" pitchFamily="34" charset="0"/>
                <a:ea typeface="Arial" pitchFamily="34" charset="-122"/>
                <a:cs typeface="Arial" pitchFamily="34" charset="-120"/>
              </a:rPr>
              <a:t>→</a:t>
            </a:r>
            <a:endParaRPr lang="en-US" sz="2200" dirty="0"/>
          </a:p>
        </p:txBody>
      </p:sp>
      <p:sp>
        <p:nvSpPr>
          <p:cNvPr id="36" name="Shape 34"/>
          <p:cNvSpPr/>
          <p:nvPr/>
        </p:nvSpPr>
        <p:spPr>
          <a:xfrm>
            <a:off x="10131552" y="2606040"/>
            <a:ext cx="1389888" cy="1737360"/>
          </a:xfrm>
          <a:prstGeom prst="roundRect">
            <a:avLst>
              <a:gd name="adj" fmla="val 6579"/>
            </a:avLst>
          </a:prstGeom>
          <a:solidFill>
            <a:srgbClr val="EAF4FB"/>
          </a:solidFill>
          <a:ln/>
          <a:effectLst>
            <a:outerShdw sx="100000" sy="100000" kx="0" ky="0" algn="bl" rotWithShape="0" blurRad="127000" dist="38100" dir="5400000">
              <a:srgbClr val="000000">
                <a:alpha val="35000"/>
              </a:srgbClr>
            </a:outerShdw>
          </a:effectLst>
        </p:spPr>
      </p:sp>
      <p:sp>
        <p:nvSpPr>
          <p:cNvPr id="37" name="Shape 35"/>
          <p:cNvSpPr/>
          <p:nvPr/>
        </p:nvSpPr>
        <p:spPr>
          <a:xfrm>
            <a:off x="10597896" y="2807208"/>
            <a:ext cx="457200" cy="457200"/>
          </a:xfrm>
          <a:prstGeom prst="ellipse">
            <a:avLst/>
          </a:prstGeom>
          <a:solidFill>
            <a:srgbClr val="22D3EE"/>
          </a:solidFill>
          <a:ln/>
        </p:spPr>
      </p:sp>
      <p:sp>
        <p:nvSpPr>
          <p:cNvPr id="38" name="Text 36"/>
          <p:cNvSpPr txBox="1"/>
          <p:nvPr/>
        </p:nvSpPr>
        <p:spPr>
          <a:xfrm>
            <a:off x="10597896" y="2807208"/>
            <a:ext cx="457200" cy="457200"/>
          </a:xfrm>
          <a:prstGeom prst="rect">
            <a:avLst/>
          </a:prstGeom>
          <a:noFill/>
          <a:ln/>
        </p:spPr>
        <p:txBody>
          <a:bodyPr wrap="square" lIns="0" tIns="0" rIns="0" bIns="0" rtlCol="0" anchor="ctr"/>
          <a:lstStyle/>
          <a:p>
            <a:pPr algn="ctr" indent="0" marL="0">
              <a:buNone/>
            </a:pPr>
            <a:r>
              <a:rPr lang="en-US" sz="1400" b="1" dirty="0">
                <a:solidFill>
                  <a:srgbClr val="06121F"/>
                </a:solidFill>
                <a:latin typeface="Courier New" pitchFamily="34" charset="0"/>
                <a:ea typeface="Courier New" pitchFamily="34" charset="-122"/>
                <a:cs typeface="Courier New" pitchFamily="34" charset="-120"/>
              </a:rPr>
              <a:t>07</a:t>
            </a:r>
            <a:endParaRPr lang="en-US" sz="1400" dirty="0"/>
          </a:p>
        </p:txBody>
      </p:sp>
      <p:sp>
        <p:nvSpPr>
          <p:cNvPr id="39" name="Text 37"/>
          <p:cNvSpPr txBox="1"/>
          <p:nvPr/>
        </p:nvSpPr>
        <p:spPr>
          <a:xfrm>
            <a:off x="10222992" y="3383280"/>
            <a:ext cx="1207008" cy="822960"/>
          </a:xfrm>
          <a:prstGeom prst="rect">
            <a:avLst/>
          </a:prstGeom>
          <a:noFill/>
          <a:ln/>
        </p:spPr>
        <p:txBody>
          <a:bodyPr wrap="square" lIns="0" tIns="0" rIns="0" bIns="0" rtlCol="0" anchor="t"/>
          <a:lstStyle/>
          <a:p>
            <a:pPr algn="ctr" indent="0" marL="0">
              <a:lnSpc>
                <a:spcPct val="95000"/>
              </a:lnSpc>
              <a:buNone/>
            </a:pPr>
            <a:r>
              <a:rPr lang="en-US" sz="1300" b="1" dirty="0">
                <a:solidFill>
                  <a:srgbClr val="0B2A45"/>
                </a:solidFill>
                <a:latin typeface="Arial" pitchFamily="34" charset="0"/>
                <a:ea typeface="Arial" pitchFamily="34" charset="-122"/>
                <a:cs typeface="Arial" pitchFamily="34" charset="-120"/>
              </a:rPr>
              <a:t>Spread further</a:t>
            </a:r>
            <a:endParaRPr lang="en-US" sz="1300" dirty="0"/>
          </a:p>
        </p:txBody>
      </p:sp>
      <p:sp>
        <p:nvSpPr>
          <p:cNvPr id="40" name="Shape 38"/>
          <p:cNvSpPr/>
          <p:nvPr/>
        </p:nvSpPr>
        <p:spPr>
          <a:xfrm>
            <a:off x="685800" y="4846320"/>
            <a:ext cx="10817352" cy="868680"/>
          </a:xfrm>
          <a:prstGeom prst="roundRect">
            <a:avLst>
              <a:gd name="adj" fmla="val 8421"/>
            </a:avLst>
          </a:prstGeom>
          <a:solidFill>
            <a:srgbClr val="0B2A45"/>
          </a:solidFill>
          <a:ln/>
        </p:spPr>
      </p:sp>
      <p:sp>
        <p:nvSpPr>
          <p:cNvPr id="41" name="Shape 39"/>
          <p:cNvSpPr/>
          <p:nvPr/>
        </p:nvSpPr>
        <p:spPr>
          <a:xfrm>
            <a:off x="960120" y="5047488"/>
            <a:ext cx="457200" cy="457200"/>
          </a:xfrm>
          <a:prstGeom prst="ellipse">
            <a:avLst/>
          </a:prstGeom>
          <a:solidFill>
            <a:srgbClr val="22D3EE"/>
          </a:solidFill>
          <a:ln/>
        </p:spPr>
      </p:sp>
      <p:pic>
        <p:nvPicPr>
          <p:cNvPr id="42" name="Image 0" descr="assets/icons/refresh.png">    </p:cNvPr>
          <p:cNvPicPr>
            <a:picLocks noChangeAspect="1"/>
          </p:cNvPicPr>
          <p:nvPr/>
        </p:nvPicPr>
        <p:blipFill>
          <a:blip r:embed="rId2"/>
          <a:stretch>
            <a:fillRect/>
          </a:stretch>
        </p:blipFill>
        <p:spPr>
          <a:xfrm>
            <a:off x="1088136" y="5175504"/>
            <a:ext cx="201168" cy="201168"/>
          </a:xfrm>
          <a:prstGeom prst="rect">
            <a:avLst/>
          </a:prstGeom>
        </p:spPr>
      </p:pic>
      <p:sp>
        <p:nvSpPr>
          <p:cNvPr id="43" name="Text 40"/>
          <p:cNvSpPr txBox="1"/>
          <p:nvPr/>
        </p:nvSpPr>
        <p:spPr>
          <a:xfrm>
            <a:off x="1600200" y="4937760"/>
            <a:ext cx="9692640" cy="685800"/>
          </a:xfrm>
          <a:prstGeom prst="rect">
            <a:avLst/>
          </a:prstGeom>
          <a:noFill/>
          <a:ln/>
        </p:spPr>
        <p:txBody>
          <a:bodyPr wrap="square" lIns="0" tIns="0" rIns="0" bIns="0" rtlCol="0" anchor="ctr"/>
          <a:lstStyle/>
          <a:p>
            <a:pPr indent="0" marL="0">
              <a:buNone/>
            </a:pPr>
            <a:r>
              <a:rPr lang="en-US" sz="1350" b="1" dirty="0">
                <a:solidFill>
                  <a:srgbClr val="22D3EE"/>
                </a:solidFill>
                <a:latin typeface="Arial" pitchFamily="34" charset="0"/>
                <a:ea typeface="Arial" pitchFamily="34" charset="-122"/>
                <a:cs typeface="Arial" pitchFamily="34" charset="-120"/>
              </a:rPr>
              <a:t>The cycle repeats.  </a:t>
            </a:r>
            <a:pPr indent="0" marL="0">
              <a:buNone/>
            </a:pPr>
            <a:r>
              <a:rPr lang="en-US" sz="1350" dirty="0">
                <a:solidFill>
                  <a:srgbClr val="EAF4FB"/>
                </a:solidFill>
                <a:latin typeface="Arial" pitchFamily="34" charset="0"/>
                <a:ea typeface="Arial" pitchFamily="34" charset="-122"/>
                <a:cs typeface="Arial" pitchFamily="34" charset="-120"/>
              </a:rPr>
              <a:t>Because every newly infected host started scanning for more targets, one machine quickly became many — the hallmark of worm propagation.</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11430000" y="6400800"/>
            <a:ext cx="548640" cy="320040"/>
          </a:xfrm>
          <a:prstGeom prst="rect">
            <a:avLst/>
          </a:prstGeom>
          <a:noFill/>
          <a:ln/>
        </p:spPr>
        <p:txBody>
          <a:bodyPr wrap="square" lIns="0" tIns="0" rIns="0" bIns="0" rtlCol="0" anchor="ctr"/>
          <a:lstStyle/>
          <a:p>
            <a:pPr algn="r" indent="0" marL="0">
              <a:buNone/>
            </a:pPr>
            <a:r>
              <a:rPr lang="en-US" sz="1100" dirty="0">
                <a:solidFill>
                  <a:srgbClr val="94A3B8"/>
                </a:solidFill>
                <a:latin typeface="Courier New" pitchFamily="34" charset="0"/>
                <a:ea typeface="Courier New" pitchFamily="34" charset="-122"/>
                <a:cs typeface="Courier New" pitchFamily="34" charset="-120"/>
              </a:rPr>
              <a:t>6</a:t>
            </a:r>
            <a:endParaRPr lang="en-US" sz="1100" dirty="0"/>
          </a:p>
        </p:txBody>
      </p:sp>
      <p:sp>
        <p:nvSpPr>
          <p:cNvPr id="3" name="Text 1"/>
          <p:cNvSpPr txBox="1"/>
          <p:nvPr/>
        </p:nvSpPr>
        <p:spPr>
          <a:xfrm>
            <a:off x="685800" y="457200"/>
            <a:ext cx="5486400" cy="292608"/>
          </a:xfrm>
          <a:prstGeom prst="rect">
            <a:avLst/>
          </a:prstGeom>
          <a:noFill/>
          <a:ln/>
        </p:spPr>
        <p:txBody>
          <a:bodyPr wrap="square" lIns="0" tIns="0" rIns="0" bIns="0" rtlCol="0" anchor="ctr"/>
          <a:lstStyle/>
          <a:p>
            <a:pPr indent="0" marL="0">
              <a:buNone/>
            </a:pPr>
            <a:r>
              <a:rPr lang="en-US" sz="1250" spc="250" kern="0" dirty="0">
                <a:solidFill>
                  <a:srgbClr val="22D3EE"/>
                </a:solidFill>
                <a:latin typeface="Courier New" pitchFamily="34" charset="0"/>
                <a:ea typeface="Courier New" pitchFamily="34" charset="-122"/>
                <a:cs typeface="Courier New" pitchFamily="34" charset="-120"/>
              </a:rPr>
              <a:t>ATTACK METHODS</a:t>
            </a:r>
            <a:endParaRPr lang="en-US" sz="1250" dirty="0"/>
          </a:p>
        </p:txBody>
      </p:sp>
      <p:sp>
        <p:nvSpPr>
          <p:cNvPr id="4" name="Text 2"/>
          <p:cNvSpPr txBox="1"/>
          <p:nvPr/>
        </p:nvSpPr>
        <p:spPr>
          <a:xfrm>
            <a:off x="685800" y="777240"/>
            <a:ext cx="10789920" cy="1097280"/>
          </a:xfrm>
          <a:prstGeom prst="rect">
            <a:avLst/>
          </a:prstGeom>
          <a:noFill/>
          <a:ln/>
        </p:spPr>
        <p:txBody>
          <a:bodyPr wrap="square" lIns="0" tIns="0" rIns="0" bIns="0" rtlCol="0" anchor="ctr"/>
          <a:lstStyle/>
          <a:p>
            <a:pPr indent="0" marL="0">
              <a:lnSpc>
                <a:spcPct val="98000"/>
              </a:lnSpc>
              <a:buNone/>
            </a:pPr>
            <a:r>
              <a:rPr lang="en-US" sz="3600" b="1" dirty="0">
                <a:solidFill>
                  <a:srgbClr val="FFFFFF"/>
                </a:solidFill>
                <a:latin typeface="Arial" pitchFamily="34" charset="0"/>
                <a:ea typeface="Arial" pitchFamily="34" charset="-122"/>
                <a:cs typeface="Arial" pitchFamily="34" charset="-120"/>
              </a:rPr>
              <a:t>Vulnerabilities and attack methods</a:t>
            </a:r>
            <a:endParaRPr lang="en-US" sz="3600" dirty="0"/>
          </a:p>
        </p:txBody>
      </p:sp>
      <p:sp>
        <p:nvSpPr>
          <p:cNvPr id="5" name="Text 3"/>
          <p:cNvSpPr txBox="1"/>
          <p:nvPr/>
        </p:nvSpPr>
        <p:spPr>
          <a:xfrm>
            <a:off x="685800" y="1691640"/>
            <a:ext cx="10789920" cy="502920"/>
          </a:xfrm>
          <a:prstGeom prst="rect">
            <a:avLst/>
          </a:prstGeom>
          <a:noFill/>
          <a:ln/>
        </p:spPr>
        <p:txBody>
          <a:bodyPr wrap="square" lIns="0" tIns="0" rIns="0" bIns="0" rtlCol="0" anchor="ctr"/>
          <a:lstStyle/>
          <a:p>
            <a:pPr indent="0" marL="0">
              <a:buNone/>
            </a:pPr>
            <a:r>
              <a:rPr lang="en-US" sz="1450" dirty="0">
                <a:solidFill>
                  <a:srgbClr val="EAF4FB"/>
                </a:solidFill>
                <a:latin typeface="Arial" pitchFamily="34" charset="0"/>
                <a:ea typeface="Arial" pitchFamily="34" charset="-122"/>
                <a:cs typeface="Arial" pitchFamily="34" charset="-120"/>
              </a:rPr>
              <a:t>The worm combined several weaknesses in common UNIX services so that blocking one path alone could not stop it.</a:t>
            </a:r>
            <a:endParaRPr lang="en-US" sz="1450" dirty="0"/>
          </a:p>
        </p:txBody>
      </p:sp>
      <p:sp>
        <p:nvSpPr>
          <p:cNvPr id="6" name="Shape 4"/>
          <p:cNvSpPr/>
          <p:nvPr/>
        </p:nvSpPr>
        <p:spPr>
          <a:xfrm>
            <a:off x="685800" y="2331720"/>
            <a:ext cx="3456432" cy="1572768"/>
          </a:xfrm>
          <a:prstGeom prst="roundRect">
            <a:avLst>
              <a:gd name="adj" fmla="val 5814"/>
            </a:avLst>
          </a:prstGeom>
          <a:solidFill>
            <a:srgbClr val="EAF4FB"/>
          </a:solidFill>
          <a:ln/>
          <a:effectLst>
            <a:outerShdw sx="100000" sy="100000" kx="0" ky="0" algn="bl" rotWithShape="0" blurRad="127000" dist="38100" dir="5400000">
              <a:srgbClr val="000000">
                <a:alpha val="35000"/>
              </a:srgbClr>
            </a:outerShdw>
          </a:effectLst>
        </p:spPr>
      </p:sp>
      <p:sp>
        <p:nvSpPr>
          <p:cNvPr id="7" name="Shape 5"/>
          <p:cNvSpPr/>
          <p:nvPr/>
        </p:nvSpPr>
        <p:spPr>
          <a:xfrm>
            <a:off x="941832" y="2587752"/>
            <a:ext cx="566928" cy="566928"/>
          </a:xfrm>
          <a:prstGeom prst="ellipse">
            <a:avLst/>
          </a:prstGeom>
          <a:solidFill>
            <a:srgbClr val="0B2A45"/>
          </a:solidFill>
          <a:ln/>
        </p:spPr>
      </p:sp>
      <p:pic>
        <p:nvPicPr>
          <p:cNvPr id="8" name="Image 0" descr="assets/icons/mail.png">    </p:cNvPr>
          <p:cNvPicPr>
            <a:picLocks noChangeAspect="1"/>
          </p:cNvPicPr>
          <p:nvPr/>
        </p:nvPicPr>
        <p:blipFill>
          <a:blip r:embed="rId2"/>
          <a:stretch>
            <a:fillRect/>
          </a:stretch>
        </p:blipFill>
        <p:spPr>
          <a:xfrm>
            <a:off x="1100572" y="2746492"/>
            <a:ext cx="249448" cy="249448"/>
          </a:xfrm>
          <a:prstGeom prst="rect">
            <a:avLst/>
          </a:prstGeom>
        </p:spPr>
      </p:pic>
      <p:sp>
        <p:nvSpPr>
          <p:cNvPr id="9" name="Text 6"/>
          <p:cNvSpPr txBox="1"/>
          <p:nvPr/>
        </p:nvSpPr>
        <p:spPr>
          <a:xfrm>
            <a:off x="1645920" y="2606040"/>
            <a:ext cx="2359152" cy="502920"/>
          </a:xfrm>
          <a:prstGeom prst="rect">
            <a:avLst/>
          </a:prstGeom>
          <a:noFill/>
          <a:ln/>
        </p:spPr>
        <p:txBody>
          <a:bodyPr wrap="square" lIns="0" tIns="0" rIns="0" bIns="0" rtlCol="0" anchor="ctr"/>
          <a:lstStyle/>
          <a:p>
            <a:pPr indent="0" marL="0">
              <a:buNone/>
            </a:pPr>
            <a:r>
              <a:rPr lang="en-US" sz="1450" b="1" dirty="0">
                <a:solidFill>
                  <a:srgbClr val="0B2A45"/>
                </a:solidFill>
                <a:latin typeface="Arial" pitchFamily="34" charset="0"/>
                <a:ea typeface="Arial" pitchFamily="34" charset="-122"/>
                <a:cs typeface="Arial" pitchFamily="34" charset="-120"/>
              </a:rPr>
              <a:t>Sendmail debug mode</a:t>
            </a:r>
            <a:endParaRPr lang="en-US" sz="1450" dirty="0"/>
          </a:p>
        </p:txBody>
      </p:sp>
      <p:sp>
        <p:nvSpPr>
          <p:cNvPr id="10" name="Text 7"/>
          <p:cNvSpPr txBox="1"/>
          <p:nvPr/>
        </p:nvSpPr>
        <p:spPr>
          <a:xfrm>
            <a:off x="941832" y="3246120"/>
            <a:ext cx="2999232" cy="594360"/>
          </a:xfrm>
          <a:prstGeom prst="rect">
            <a:avLst/>
          </a:prstGeom>
          <a:noFill/>
          <a:ln/>
        </p:spPr>
        <p:txBody>
          <a:bodyPr wrap="square" lIns="0" tIns="0" rIns="0" bIns="0" rtlCol="0" anchor="ctr"/>
          <a:lstStyle/>
          <a:p>
            <a:pPr indent="0" marL="0">
              <a:lnSpc>
                <a:spcPct val="100000"/>
              </a:lnSpc>
              <a:buNone/>
            </a:pPr>
            <a:r>
              <a:rPr lang="en-US" sz="1200" dirty="0">
                <a:solidFill>
                  <a:srgbClr val="475569"/>
                </a:solidFill>
                <a:latin typeface="Arial" pitchFamily="34" charset="0"/>
                <a:ea typeface="Arial" pitchFamily="34" charset="-122"/>
                <a:cs typeface="Arial" pitchFamily="34" charset="-120"/>
              </a:rPr>
              <a:t>A debugging feature left enabled in the mail service allowed remote commands.</a:t>
            </a:r>
            <a:endParaRPr lang="en-US" sz="1200" dirty="0"/>
          </a:p>
        </p:txBody>
      </p:sp>
      <p:sp>
        <p:nvSpPr>
          <p:cNvPr id="11" name="Shape 8"/>
          <p:cNvSpPr/>
          <p:nvPr/>
        </p:nvSpPr>
        <p:spPr>
          <a:xfrm>
            <a:off x="4471416" y="2331720"/>
            <a:ext cx="3456432" cy="1572768"/>
          </a:xfrm>
          <a:prstGeom prst="roundRect">
            <a:avLst>
              <a:gd name="adj" fmla="val 5814"/>
            </a:avLst>
          </a:prstGeom>
          <a:solidFill>
            <a:srgbClr val="EAF4FB"/>
          </a:solidFill>
          <a:ln/>
          <a:effectLst>
            <a:outerShdw sx="100000" sy="100000" kx="0" ky="0" algn="bl" rotWithShape="0" blurRad="127000" dist="38100" dir="5400000">
              <a:srgbClr val="000000">
                <a:alpha val="35000"/>
              </a:srgbClr>
            </a:outerShdw>
          </a:effectLst>
        </p:spPr>
      </p:sp>
      <p:sp>
        <p:nvSpPr>
          <p:cNvPr id="12" name="Shape 9"/>
          <p:cNvSpPr/>
          <p:nvPr/>
        </p:nvSpPr>
        <p:spPr>
          <a:xfrm>
            <a:off x="4727448" y="2587752"/>
            <a:ext cx="566928" cy="566928"/>
          </a:xfrm>
          <a:prstGeom prst="ellipse">
            <a:avLst/>
          </a:prstGeom>
          <a:solidFill>
            <a:srgbClr val="0B2A45"/>
          </a:solidFill>
          <a:ln/>
        </p:spPr>
      </p:sp>
      <p:pic>
        <p:nvPicPr>
          <p:cNvPr id="13" name="Image 1" descr="assets/icons/user.png">    </p:cNvPr>
          <p:cNvPicPr>
            <a:picLocks noChangeAspect="1"/>
          </p:cNvPicPr>
          <p:nvPr/>
        </p:nvPicPr>
        <p:blipFill>
          <a:blip r:embed="rId3"/>
          <a:stretch>
            <a:fillRect/>
          </a:stretch>
        </p:blipFill>
        <p:spPr>
          <a:xfrm>
            <a:off x="4886188" y="2746492"/>
            <a:ext cx="249448" cy="249448"/>
          </a:xfrm>
          <a:prstGeom prst="rect">
            <a:avLst/>
          </a:prstGeom>
        </p:spPr>
      </p:pic>
      <p:sp>
        <p:nvSpPr>
          <p:cNvPr id="14" name="Text 10"/>
          <p:cNvSpPr txBox="1"/>
          <p:nvPr/>
        </p:nvSpPr>
        <p:spPr>
          <a:xfrm>
            <a:off x="5431536" y="2606040"/>
            <a:ext cx="2359152" cy="502920"/>
          </a:xfrm>
          <a:prstGeom prst="rect">
            <a:avLst/>
          </a:prstGeom>
          <a:noFill/>
          <a:ln/>
        </p:spPr>
        <p:txBody>
          <a:bodyPr wrap="square" lIns="0" tIns="0" rIns="0" bIns="0" rtlCol="0" anchor="ctr"/>
          <a:lstStyle/>
          <a:p>
            <a:pPr indent="0" marL="0">
              <a:buNone/>
            </a:pPr>
            <a:r>
              <a:rPr lang="en-US" sz="1450" b="1" dirty="0">
                <a:solidFill>
                  <a:srgbClr val="0B2A45"/>
                </a:solidFill>
                <a:latin typeface="Arial" pitchFamily="34" charset="0"/>
                <a:ea typeface="Arial" pitchFamily="34" charset="-122"/>
                <a:cs typeface="Arial" pitchFamily="34" charset="-120"/>
              </a:rPr>
              <a:t>fingerd flaw</a:t>
            </a:r>
            <a:endParaRPr lang="en-US" sz="1450" dirty="0"/>
          </a:p>
        </p:txBody>
      </p:sp>
      <p:sp>
        <p:nvSpPr>
          <p:cNvPr id="15" name="Text 11"/>
          <p:cNvSpPr txBox="1"/>
          <p:nvPr/>
        </p:nvSpPr>
        <p:spPr>
          <a:xfrm>
            <a:off x="4727448" y="3246120"/>
            <a:ext cx="2999232" cy="594360"/>
          </a:xfrm>
          <a:prstGeom prst="rect">
            <a:avLst/>
          </a:prstGeom>
          <a:noFill/>
          <a:ln/>
        </p:spPr>
        <p:txBody>
          <a:bodyPr wrap="square" lIns="0" tIns="0" rIns="0" bIns="0" rtlCol="0" anchor="ctr"/>
          <a:lstStyle/>
          <a:p>
            <a:pPr indent="0" marL="0">
              <a:lnSpc>
                <a:spcPct val="100000"/>
              </a:lnSpc>
              <a:buNone/>
            </a:pPr>
            <a:r>
              <a:rPr lang="en-US" sz="1200" dirty="0">
                <a:solidFill>
                  <a:srgbClr val="475569"/>
                </a:solidFill>
                <a:latin typeface="Arial" pitchFamily="34" charset="0"/>
                <a:ea typeface="Arial" pitchFamily="34" charset="-122"/>
                <a:cs typeface="Arial" pitchFamily="34" charset="-120"/>
              </a:rPr>
              <a:t>A flaw in the finger service (which reported who was logged in) was abused for entry.</a:t>
            </a:r>
            <a:endParaRPr lang="en-US" sz="1200" dirty="0"/>
          </a:p>
        </p:txBody>
      </p:sp>
      <p:sp>
        <p:nvSpPr>
          <p:cNvPr id="16" name="Shape 12"/>
          <p:cNvSpPr/>
          <p:nvPr/>
        </p:nvSpPr>
        <p:spPr>
          <a:xfrm>
            <a:off x="8257032" y="2331720"/>
            <a:ext cx="3456432" cy="1572768"/>
          </a:xfrm>
          <a:prstGeom prst="roundRect">
            <a:avLst>
              <a:gd name="adj" fmla="val 5814"/>
            </a:avLst>
          </a:prstGeom>
          <a:solidFill>
            <a:srgbClr val="EAF4FB"/>
          </a:solidFill>
          <a:ln/>
          <a:effectLst>
            <a:outerShdw sx="100000" sy="100000" kx="0" ky="0" algn="bl" rotWithShape="0" blurRad="127000" dist="38100" dir="5400000">
              <a:srgbClr val="000000">
                <a:alpha val="35000"/>
              </a:srgbClr>
            </a:outerShdw>
          </a:effectLst>
        </p:spPr>
      </p:sp>
      <p:sp>
        <p:nvSpPr>
          <p:cNvPr id="17" name="Shape 13"/>
          <p:cNvSpPr/>
          <p:nvPr/>
        </p:nvSpPr>
        <p:spPr>
          <a:xfrm>
            <a:off x="8513064" y="2587752"/>
            <a:ext cx="566928" cy="566928"/>
          </a:xfrm>
          <a:prstGeom prst="ellipse">
            <a:avLst/>
          </a:prstGeom>
          <a:solidFill>
            <a:srgbClr val="0B2A45"/>
          </a:solidFill>
          <a:ln/>
        </p:spPr>
      </p:sp>
      <p:pic>
        <p:nvPicPr>
          <p:cNvPr id="18" name="Image 2" descr="assets/icons/terminal.png">    </p:cNvPr>
          <p:cNvPicPr>
            <a:picLocks noChangeAspect="1"/>
          </p:cNvPicPr>
          <p:nvPr/>
        </p:nvPicPr>
        <p:blipFill>
          <a:blip r:embed="rId4"/>
          <a:stretch>
            <a:fillRect/>
          </a:stretch>
        </p:blipFill>
        <p:spPr>
          <a:xfrm>
            <a:off x="8671804" y="2746492"/>
            <a:ext cx="249448" cy="249448"/>
          </a:xfrm>
          <a:prstGeom prst="rect">
            <a:avLst/>
          </a:prstGeom>
        </p:spPr>
      </p:pic>
      <p:sp>
        <p:nvSpPr>
          <p:cNvPr id="19" name="Text 14"/>
          <p:cNvSpPr txBox="1"/>
          <p:nvPr/>
        </p:nvSpPr>
        <p:spPr>
          <a:xfrm>
            <a:off x="9217152" y="2606040"/>
            <a:ext cx="2359152" cy="502920"/>
          </a:xfrm>
          <a:prstGeom prst="rect">
            <a:avLst/>
          </a:prstGeom>
          <a:noFill/>
          <a:ln/>
        </p:spPr>
        <p:txBody>
          <a:bodyPr wrap="square" lIns="0" tIns="0" rIns="0" bIns="0" rtlCol="0" anchor="ctr"/>
          <a:lstStyle/>
          <a:p>
            <a:pPr indent="0" marL="0">
              <a:buNone/>
            </a:pPr>
            <a:r>
              <a:rPr lang="en-US" sz="1450" b="1" dirty="0">
                <a:solidFill>
                  <a:srgbClr val="0B2A45"/>
                </a:solidFill>
                <a:latin typeface="Arial" pitchFamily="34" charset="0"/>
                <a:ea typeface="Arial" pitchFamily="34" charset="-122"/>
                <a:cs typeface="Arial" pitchFamily="34" charset="-120"/>
              </a:rPr>
              <a:t>rsh / rexec trust</a:t>
            </a:r>
            <a:endParaRPr lang="en-US" sz="1450" dirty="0"/>
          </a:p>
        </p:txBody>
      </p:sp>
      <p:sp>
        <p:nvSpPr>
          <p:cNvPr id="20" name="Text 15"/>
          <p:cNvSpPr txBox="1"/>
          <p:nvPr/>
        </p:nvSpPr>
        <p:spPr>
          <a:xfrm>
            <a:off x="8513064" y="3246120"/>
            <a:ext cx="2999232" cy="594360"/>
          </a:xfrm>
          <a:prstGeom prst="rect">
            <a:avLst/>
          </a:prstGeom>
          <a:noFill/>
          <a:ln/>
        </p:spPr>
        <p:txBody>
          <a:bodyPr wrap="square" lIns="0" tIns="0" rIns="0" bIns="0" rtlCol="0" anchor="ctr"/>
          <a:lstStyle/>
          <a:p>
            <a:pPr indent="0" marL="0">
              <a:lnSpc>
                <a:spcPct val="100000"/>
              </a:lnSpc>
              <a:buNone/>
            </a:pPr>
            <a:r>
              <a:rPr lang="en-US" sz="1200" dirty="0">
                <a:solidFill>
                  <a:srgbClr val="475569"/>
                </a:solidFill>
                <a:latin typeface="Arial" pitchFamily="34" charset="0"/>
                <a:ea typeface="Arial" pitchFamily="34" charset="-122"/>
                <a:cs typeface="Arial" pitchFamily="34" charset="-120"/>
              </a:rPr>
              <a:t>Remote-shell services and trusted-host relationships let it hop between linked machines.</a:t>
            </a:r>
            <a:endParaRPr lang="en-US" sz="1200" dirty="0"/>
          </a:p>
        </p:txBody>
      </p:sp>
      <p:sp>
        <p:nvSpPr>
          <p:cNvPr id="21" name="Shape 16"/>
          <p:cNvSpPr/>
          <p:nvPr/>
        </p:nvSpPr>
        <p:spPr>
          <a:xfrm>
            <a:off x="685800" y="4178808"/>
            <a:ext cx="3456432" cy="1572768"/>
          </a:xfrm>
          <a:prstGeom prst="roundRect">
            <a:avLst>
              <a:gd name="adj" fmla="val 5814"/>
            </a:avLst>
          </a:prstGeom>
          <a:solidFill>
            <a:srgbClr val="EAF4FB"/>
          </a:solidFill>
          <a:ln/>
          <a:effectLst>
            <a:outerShdw sx="100000" sy="100000" kx="0" ky="0" algn="bl" rotWithShape="0" blurRad="127000" dist="38100" dir="5400000">
              <a:srgbClr val="000000">
                <a:alpha val="35000"/>
              </a:srgbClr>
            </a:outerShdw>
          </a:effectLst>
        </p:spPr>
      </p:sp>
      <p:sp>
        <p:nvSpPr>
          <p:cNvPr id="22" name="Shape 17"/>
          <p:cNvSpPr/>
          <p:nvPr/>
        </p:nvSpPr>
        <p:spPr>
          <a:xfrm>
            <a:off x="941832" y="4434840"/>
            <a:ext cx="566928" cy="566928"/>
          </a:xfrm>
          <a:prstGeom prst="ellipse">
            <a:avLst/>
          </a:prstGeom>
          <a:solidFill>
            <a:srgbClr val="0B2A45"/>
          </a:solidFill>
          <a:ln/>
        </p:spPr>
      </p:sp>
      <p:pic>
        <p:nvPicPr>
          <p:cNvPr id="23" name="Image 3" descr="assets/icons/key.png">    </p:cNvPr>
          <p:cNvPicPr>
            <a:picLocks noChangeAspect="1"/>
          </p:cNvPicPr>
          <p:nvPr/>
        </p:nvPicPr>
        <p:blipFill>
          <a:blip r:embed="rId5"/>
          <a:stretch>
            <a:fillRect/>
          </a:stretch>
        </p:blipFill>
        <p:spPr>
          <a:xfrm>
            <a:off x="1100572" y="4593580"/>
            <a:ext cx="249448" cy="249448"/>
          </a:xfrm>
          <a:prstGeom prst="rect">
            <a:avLst/>
          </a:prstGeom>
        </p:spPr>
      </p:pic>
      <p:sp>
        <p:nvSpPr>
          <p:cNvPr id="24" name="Text 18"/>
          <p:cNvSpPr txBox="1"/>
          <p:nvPr/>
        </p:nvSpPr>
        <p:spPr>
          <a:xfrm>
            <a:off x="1645920" y="4453128"/>
            <a:ext cx="2359152" cy="502920"/>
          </a:xfrm>
          <a:prstGeom prst="rect">
            <a:avLst/>
          </a:prstGeom>
          <a:noFill/>
          <a:ln/>
        </p:spPr>
        <p:txBody>
          <a:bodyPr wrap="square" lIns="0" tIns="0" rIns="0" bIns="0" rtlCol="0" anchor="ctr"/>
          <a:lstStyle/>
          <a:p>
            <a:pPr indent="0" marL="0">
              <a:buNone/>
            </a:pPr>
            <a:r>
              <a:rPr lang="en-US" sz="1450" b="1" dirty="0">
                <a:solidFill>
                  <a:srgbClr val="0B2A45"/>
                </a:solidFill>
                <a:latin typeface="Arial" pitchFamily="34" charset="0"/>
                <a:ea typeface="Arial" pitchFamily="34" charset="-122"/>
                <a:cs typeface="Arial" pitchFamily="34" charset="-120"/>
              </a:rPr>
              <a:t>Weak passwords</a:t>
            </a:r>
            <a:endParaRPr lang="en-US" sz="1450" dirty="0"/>
          </a:p>
        </p:txBody>
      </p:sp>
      <p:sp>
        <p:nvSpPr>
          <p:cNvPr id="25" name="Text 19"/>
          <p:cNvSpPr txBox="1"/>
          <p:nvPr/>
        </p:nvSpPr>
        <p:spPr>
          <a:xfrm>
            <a:off x="941832" y="5093208"/>
            <a:ext cx="2999232" cy="594360"/>
          </a:xfrm>
          <a:prstGeom prst="rect">
            <a:avLst/>
          </a:prstGeom>
          <a:noFill/>
          <a:ln/>
        </p:spPr>
        <p:txBody>
          <a:bodyPr wrap="square" lIns="0" tIns="0" rIns="0" bIns="0" rtlCol="0" anchor="ctr"/>
          <a:lstStyle/>
          <a:p>
            <a:pPr indent="0" marL="0">
              <a:lnSpc>
                <a:spcPct val="100000"/>
              </a:lnSpc>
              <a:buNone/>
            </a:pPr>
            <a:r>
              <a:rPr lang="en-US" sz="1200" dirty="0">
                <a:solidFill>
                  <a:srgbClr val="475569"/>
                </a:solidFill>
                <a:latin typeface="Arial" pitchFamily="34" charset="0"/>
                <a:ea typeface="Arial" pitchFamily="34" charset="-122"/>
                <a:cs typeface="Arial" pitchFamily="34" charset="-120"/>
              </a:rPr>
              <a:t>A small built-in word list plus account names cracked many weak passwords.</a:t>
            </a:r>
            <a:endParaRPr lang="en-US" sz="1200" dirty="0"/>
          </a:p>
        </p:txBody>
      </p:sp>
      <p:sp>
        <p:nvSpPr>
          <p:cNvPr id="26" name="Shape 20"/>
          <p:cNvSpPr/>
          <p:nvPr/>
        </p:nvSpPr>
        <p:spPr>
          <a:xfrm>
            <a:off x="4471416" y="4178808"/>
            <a:ext cx="3456432" cy="1572768"/>
          </a:xfrm>
          <a:prstGeom prst="roundRect">
            <a:avLst>
              <a:gd name="adj" fmla="val 5814"/>
            </a:avLst>
          </a:prstGeom>
          <a:solidFill>
            <a:srgbClr val="EAF4FB"/>
          </a:solidFill>
          <a:ln/>
          <a:effectLst>
            <a:outerShdw sx="100000" sy="100000" kx="0" ky="0" algn="bl" rotWithShape="0" blurRad="127000" dist="38100" dir="5400000">
              <a:srgbClr val="000000">
                <a:alpha val="35000"/>
              </a:srgbClr>
            </a:outerShdw>
          </a:effectLst>
        </p:spPr>
      </p:sp>
      <p:sp>
        <p:nvSpPr>
          <p:cNvPr id="27" name="Shape 21"/>
          <p:cNvSpPr/>
          <p:nvPr/>
        </p:nvSpPr>
        <p:spPr>
          <a:xfrm>
            <a:off x="4727448" y="4434840"/>
            <a:ext cx="566928" cy="566928"/>
          </a:xfrm>
          <a:prstGeom prst="ellipse">
            <a:avLst/>
          </a:prstGeom>
          <a:solidFill>
            <a:srgbClr val="0B2A45"/>
          </a:solidFill>
          <a:ln/>
        </p:spPr>
      </p:sp>
      <p:pic>
        <p:nvPicPr>
          <p:cNvPr id="28" name="Image 4" descr="assets/icons/link.png">    </p:cNvPr>
          <p:cNvPicPr>
            <a:picLocks noChangeAspect="1"/>
          </p:cNvPicPr>
          <p:nvPr/>
        </p:nvPicPr>
        <p:blipFill>
          <a:blip r:embed="rId6"/>
          <a:stretch>
            <a:fillRect/>
          </a:stretch>
        </p:blipFill>
        <p:spPr>
          <a:xfrm>
            <a:off x="4886188" y="4593580"/>
            <a:ext cx="249448" cy="249448"/>
          </a:xfrm>
          <a:prstGeom prst="rect">
            <a:avLst/>
          </a:prstGeom>
        </p:spPr>
      </p:pic>
      <p:sp>
        <p:nvSpPr>
          <p:cNvPr id="29" name="Text 22"/>
          <p:cNvSpPr txBox="1"/>
          <p:nvPr/>
        </p:nvSpPr>
        <p:spPr>
          <a:xfrm>
            <a:off x="5431536" y="4453128"/>
            <a:ext cx="2359152" cy="502920"/>
          </a:xfrm>
          <a:prstGeom prst="rect">
            <a:avLst/>
          </a:prstGeom>
          <a:noFill/>
          <a:ln/>
        </p:spPr>
        <p:txBody>
          <a:bodyPr wrap="square" lIns="0" tIns="0" rIns="0" bIns="0" rtlCol="0" anchor="ctr"/>
          <a:lstStyle/>
          <a:p>
            <a:pPr indent="0" marL="0">
              <a:buNone/>
            </a:pPr>
            <a:r>
              <a:rPr lang="en-US" sz="1450" b="1" dirty="0">
                <a:solidFill>
                  <a:srgbClr val="0B2A45"/>
                </a:solidFill>
                <a:latin typeface="Arial" pitchFamily="34" charset="0"/>
                <a:ea typeface="Arial" pitchFamily="34" charset="-122"/>
                <a:cs typeface="Arial" pitchFamily="34" charset="-120"/>
              </a:rPr>
              <a:t>Network connectivity</a:t>
            </a:r>
            <a:endParaRPr lang="en-US" sz="1450" dirty="0"/>
          </a:p>
        </p:txBody>
      </p:sp>
      <p:sp>
        <p:nvSpPr>
          <p:cNvPr id="30" name="Text 23"/>
          <p:cNvSpPr txBox="1"/>
          <p:nvPr/>
        </p:nvSpPr>
        <p:spPr>
          <a:xfrm>
            <a:off x="4727448" y="5093208"/>
            <a:ext cx="2999232" cy="594360"/>
          </a:xfrm>
          <a:prstGeom prst="rect">
            <a:avLst/>
          </a:prstGeom>
          <a:noFill/>
          <a:ln/>
        </p:spPr>
        <p:txBody>
          <a:bodyPr wrap="square" lIns="0" tIns="0" rIns="0" bIns="0" rtlCol="0" anchor="ctr"/>
          <a:lstStyle/>
          <a:p>
            <a:pPr indent="0" marL="0">
              <a:lnSpc>
                <a:spcPct val="100000"/>
              </a:lnSpc>
              <a:buNone/>
            </a:pPr>
            <a:r>
              <a:rPr lang="en-US" sz="1200" dirty="0">
                <a:solidFill>
                  <a:srgbClr val="475569"/>
                </a:solidFill>
                <a:latin typeface="Arial" pitchFamily="34" charset="0"/>
                <a:ea typeface="Arial" pitchFamily="34" charset="-122"/>
                <a:cs typeface="Arial" pitchFamily="34" charset="-120"/>
              </a:rPr>
              <a:t>Open, trusting connections between hosts gave the worm many routes to travel.</a:t>
            </a:r>
            <a:endParaRPr lang="en-US" sz="1200" dirty="0"/>
          </a:p>
        </p:txBody>
      </p:sp>
      <p:sp>
        <p:nvSpPr>
          <p:cNvPr id="31" name="Shape 24"/>
          <p:cNvSpPr/>
          <p:nvPr/>
        </p:nvSpPr>
        <p:spPr>
          <a:xfrm>
            <a:off x="8257032" y="4178808"/>
            <a:ext cx="3456432" cy="1572768"/>
          </a:xfrm>
          <a:prstGeom prst="roundRect">
            <a:avLst>
              <a:gd name="adj" fmla="val 5814"/>
            </a:avLst>
          </a:prstGeom>
          <a:solidFill>
            <a:srgbClr val="EAF4FB"/>
          </a:solidFill>
          <a:ln/>
          <a:effectLst>
            <a:outerShdw sx="100000" sy="100000" kx="0" ky="0" algn="bl" rotWithShape="0" blurRad="127000" dist="38100" dir="5400000">
              <a:srgbClr val="000000">
                <a:alpha val="35000"/>
              </a:srgbClr>
            </a:outerShdw>
          </a:effectLst>
        </p:spPr>
      </p:sp>
      <p:sp>
        <p:nvSpPr>
          <p:cNvPr id="32" name="Shape 25"/>
          <p:cNvSpPr/>
          <p:nvPr/>
        </p:nvSpPr>
        <p:spPr>
          <a:xfrm>
            <a:off x="8513064" y="4434840"/>
            <a:ext cx="566928" cy="566928"/>
          </a:xfrm>
          <a:prstGeom prst="ellipse">
            <a:avLst/>
          </a:prstGeom>
          <a:solidFill>
            <a:srgbClr val="0B2A45"/>
          </a:solidFill>
          <a:ln/>
        </p:spPr>
      </p:sp>
      <p:pic>
        <p:nvPicPr>
          <p:cNvPr id="33" name="Image 5" descr="assets/icons/grid.png">    </p:cNvPr>
          <p:cNvPicPr>
            <a:picLocks noChangeAspect="1"/>
          </p:cNvPicPr>
          <p:nvPr/>
        </p:nvPicPr>
        <p:blipFill>
          <a:blip r:embed="rId7"/>
          <a:stretch>
            <a:fillRect/>
          </a:stretch>
        </p:blipFill>
        <p:spPr>
          <a:xfrm>
            <a:off x="8671804" y="4593580"/>
            <a:ext cx="249448" cy="249448"/>
          </a:xfrm>
          <a:prstGeom prst="rect">
            <a:avLst/>
          </a:prstGeom>
        </p:spPr>
      </p:pic>
      <p:sp>
        <p:nvSpPr>
          <p:cNvPr id="34" name="Text 26"/>
          <p:cNvSpPr txBox="1"/>
          <p:nvPr/>
        </p:nvSpPr>
        <p:spPr>
          <a:xfrm>
            <a:off x="9217152" y="4453128"/>
            <a:ext cx="2359152" cy="502920"/>
          </a:xfrm>
          <a:prstGeom prst="rect">
            <a:avLst/>
          </a:prstGeom>
          <a:noFill/>
          <a:ln/>
        </p:spPr>
        <p:txBody>
          <a:bodyPr wrap="square" lIns="0" tIns="0" rIns="0" bIns="0" rtlCol="0" anchor="ctr"/>
          <a:lstStyle/>
          <a:p>
            <a:pPr indent="0" marL="0">
              <a:buNone/>
            </a:pPr>
            <a:r>
              <a:rPr lang="en-US" sz="1450" b="1" dirty="0">
                <a:solidFill>
                  <a:srgbClr val="0B2A45"/>
                </a:solidFill>
                <a:latin typeface="Arial" pitchFamily="34" charset="0"/>
                <a:ea typeface="Arial" pitchFamily="34" charset="-122"/>
                <a:cs typeface="Arial" pitchFamily="34" charset="-120"/>
              </a:rPr>
              <a:t>UNIX services</a:t>
            </a:r>
            <a:endParaRPr lang="en-US" sz="1450" dirty="0"/>
          </a:p>
        </p:txBody>
      </p:sp>
      <p:sp>
        <p:nvSpPr>
          <p:cNvPr id="35" name="Text 27"/>
          <p:cNvSpPr txBox="1"/>
          <p:nvPr/>
        </p:nvSpPr>
        <p:spPr>
          <a:xfrm>
            <a:off x="8513064" y="5093208"/>
            <a:ext cx="2999232" cy="594360"/>
          </a:xfrm>
          <a:prstGeom prst="rect">
            <a:avLst/>
          </a:prstGeom>
          <a:noFill/>
          <a:ln/>
        </p:spPr>
        <p:txBody>
          <a:bodyPr wrap="square" lIns="0" tIns="0" rIns="0" bIns="0" rtlCol="0" anchor="ctr"/>
          <a:lstStyle/>
          <a:p>
            <a:pPr indent="0" marL="0">
              <a:lnSpc>
                <a:spcPct val="100000"/>
              </a:lnSpc>
              <a:buNone/>
            </a:pPr>
            <a:r>
              <a:rPr lang="en-US" sz="1200" dirty="0">
                <a:solidFill>
                  <a:srgbClr val="475569"/>
                </a:solidFill>
                <a:latin typeface="Arial" pitchFamily="34" charset="0"/>
                <a:ea typeface="Arial" pitchFamily="34" charset="-122"/>
                <a:cs typeface="Arial" pitchFamily="34" charset="-120"/>
              </a:rPr>
              <a:t>Widely deployed, uniformly configured UNIX services multiplied the number of targets.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11430000" y="6400800"/>
            <a:ext cx="548640" cy="320040"/>
          </a:xfrm>
          <a:prstGeom prst="rect">
            <a:avLst/>
          </a:prstGeom>
          <a:noFill/>
          <a:ln/>
        </p:spPr>
        <p:txBody>
          <a:bodyPr wrap="square" lIns="0" tIns="0" rIns="0" bIns="0" rtlCol="0" anchor="ctr"/>
          <a:lstStyle/>
          <a:p>
            <a:pPr algn="r" indent="0" marL="0">
              <a:buNone/>
            </a:pPr>
            <a:r>
              <a:rPr lang="en-US" sz="1100" dirty="0">
                <a:solidFill>
                  <a:srgbClr val="94A3B8"/>
                </a:solidFill>
                <a:latin typeface="Courier New" pitchFamily="34" charset="0"/>
                <a:ea typeface="Courier New" pitchFamily="34" charset="-122"/>
                <a:cs typeface="Courier New" pitchFamily="34" charset="-120"/>
              </a:rPr>
              <a:t>7</a:t>
            </a:r>
            <a:endParaRPr lang="en-US" sz="1100" dirty="0"/>
          </a:p>
        </p:txBody>
      </p:sp>
      <p:sp>
        <p:nvSpPr>
          <p:cNvPr id="3" name="Text 1"/>
          <p:cNvSpPr txBox="1"/>
          <p:nvPr/>
        </p:nvSpPr>
        <p:spPr>
          <a:xfrm>
            <a:off x="685800" y="548640"/>
            <a:ext cx="5486400" cy="292608"/>
          </a:xfrm>
          <a:prstGeom prst="rect">
            <a:avLst/>
          </a:prstGeom>
          <a:noFill/>
          <a:ln/>
        </p:spPr>
        <p:txBody>
          <a:bodyPr wrap="square" lIns="0" tIns="0" rIns="0" bIns="0" rtlCol="0" anchor="ctr"/>
          <a:lstStyle/>
          <a:p>
            <a:pPr indent="0" marL="0">
              <a:buNone/>
            </a:pPr>
            <a:r>
              <a:rPr lang="en-US" sz="1250" spc="250" kern="0" dirty="0">
                <a:solidFill>
                  <a:srgbClr val="22D3EE"/>
                </a:solidFill>
                <a:latin typeface="Courier New" pitchFamily="34" charset="0"/>
                <a:ea typeface="Courier New" pitchFamily="34" charset="-122"/>
                <a:cs typeface="Courier New" pitchFamily="34" charset="-120"/>
              </a:rPr>
              <a:t>WHY IT ACCELERATED</a:t>
            </a:r>
            <a:endParaRPr lang="en-US" sz="1250" dirty="0"/>
          </a:p>
        </p:txBody>
      </p:sp>
      <p:sp>
        <p:nvSpPr>
          <p:cNvPr id="4" name="Text 2"/>
          <p:cNvSpPr txBox="1"/>
          <p:nvPr/>
        </p:nvSpPr>
        <p:spPr>
          <a:xfrm>
            <a:off x="685800" y="868680"/>
            <a:ext cx="4754880" cy="1097280"/>
          </a:xfrm>
          <a:prstGeom prst="rect">
            <a:avLst/>
          </a:prstGeom>
          <a:noFill/>
          <a:ln/>
        </p:spPr>
        <p:txBody>
          <a:bodyPr wrap="square" lIns="0" tIns="0" rIns="0" bIns="0" rtlCol="0" anchor="ctr"/>
          <a:lstStyle/>
          <a:p>
            <a:pPr indent="0" marL="0">
              <a:lnSpc>
                <a:spcPct val="98000"/>
              </a:lnSpc>
              <a:buNone/>
            </a:pPr>
            <a:r>
              <a:rPr lang="en-US" sz="3600" b="1" dirty="0">
                <a:solidFill>
                  <a:srgbClr val="FFFFFF"/>
                </a:solidFill>
                <a:latin typeface="Arial" pitchFamily="34" charset="0"/>
                <a:ea typeface="Arial" pitchFamily="34" charset="-122"/>
                <a:cs typeface="Arial" pitchFamily="34" charset="-120"/>
              </a:rPr>
              <a:t>Why did it spread</a:t>
            </a:r>
            <a:endParaRPr lang="en-US" sz="3600" dirty="0"/>
          </a:p>
          <a:p>
            <a:pPr indent="0" marL="0">
              <a:lnSpc>
                <a:spcPct val="98000"/>
              </a:lnSpc>
              <a:buNone/>
            </a:pPr>
            <a:r>
              <a:rPr lang="en-US" sz="3600" b="1" dirty="0">
                <a:solidFill>
                  <a:srgbClr val="FFFFFF"/>
                </a:solidFill>
                <a:latin typeface="Arial" pitchFamily="34" charset="0"/>
                <a:ea typeface="Arial" pitchFamily="34" charset="-122"/>
                <a:cs typeface="Arial" pitchFamily="34" charset="-120"/>
              </a:rPr>
              <a:t>so fast?</a:t>
            </a:r>
            <a:endParaRPr lang="en-US" sz="3600" dirty="0"/>
          </a:p>
        </p:txBody>
      </p:sp>
      <p:sp>
        <p:nvSpPr>
          <p:cNvPr id="5" name="Shape 3"/>
          <p:cNvSpPr/>
          <p:nvPr/>
        </p:nvSpPr>
        <p:spPr>
          <a:xfrm>
            <a:off x="713232" y="2926080"/>
            <a:ext cx="384048" cy="384048"/>
          </a:xfrm>
          <a:prstGeom prst="ellipse">
            <a:avLst/>
          </a:prstGeom>
          <a:solidFill>
            <a:srgbClr val="22D3EE"/>
          </a:solidFill>
          <a:ln/>
        </p:spPr>
      </p:sp>
      <p:sp>
        <p:nvSpPr>
          <p:cNvPr id="6" name="Text 4"/>
          <p:cNvSpPr txBox="1"/>
          <p:nvPr/>
        </p:nvSpPr>
        <p:spPr>
          <a:xfrm>
            <a:off x="713232" y="2926080"/>
            <a:ext cx="384048" cy="384048"/>
          </a:xfrm>
          <a:prstGeom prst="rect">
            <a:avLst/>
          </a:prstGeom>
          <a:noFill/>
          <a:ln/>
        </p:spPr>
        <p:txBody>
          <a:bodyPr wrap="square" lIns="0" tIns="0" rIns="0" bIns="0" rtlCol="0" anchor="ctr"/>
          <a:lstStyle/>
          <a:p>
            <a:pPr algn="ctr" indent="0" marL="0">
              <a:buNone/>
            </a:pPr>
            <a:r>
              <a:rPr lang="en-US" sz="1400" b="1" dirty="0">
                <a:solidFill>
                  <a:srgbClr val="06121F"/>
                </a:solidFill>
                <a:latin typeface="Courier New" pitchFamily="34" charset="0"/>
                <a:ea typeface="Courier New" pitchFamily="34" charset="-122"/>
                <a:cs typeface="Courier New" pitchFamily="34" charset="-120"/>
              </a:rPr>
              <a:t>1</a:t>
            </a:r>
            <a:endParaRPr lang="en-US" sz="1400" dirty="0"/>
          </a:p>
        </p:txBody>
      </p:sp>
      <p:sp>
        <p:nvSpPr>
          <p:cNvPr id="7" name="Text 5"/>
          <p:cNvSpPr txBox="1"/>
          <p:nvPr/>
        </p:nvSpPr>
        <p:spPr>
          <a:xfrm>
            <a:off x="1280160" y="2852928"/>
            <a:ext cx="4297680" cy="658368"/>
          </a:xfrm>
          <a:prstGeom prst="rect">
            <a:avLst/>
          </a:prstGeom>
          <a:noFill/>
          <a:ln/>
        </p:spPr>
        <p:txBody>
          <a:bodyPr wrap="square" lIns="0" tIns="0" rIns="0" bIns="0" rtlCol="0" anchor="ctr"/>
          <a:lstStyle/>
          <a:p>
            <a:pPr indent="0" marL="0">
              <a:buNone/>
            </a:pPr>
            <a:r>
              <a:rPr lang="en-US" sz="1350" dirty="0">
                <a:solidFill>
                  <a:srgbClr val="EAF4FB"/>
                </a:solidFill>
                <a:latin typeface="Arial" pitchFamily="34" charset="0"/>
                <a:ea typeface="Arial" pitchFamily="34" charset="-122"/>
                <a:cs typeface="Arial" pitchFamily="34" charset="-120"/>
              </a:rPr>
              <a:t>Self-replication: every infected host actively sought new victims.</a:t>
            </a:r>
            <a:endParaRPr lang="en-US" sz="1350" dirty="0"/>
          </a:p>
        </p:txBody>
      </p:sp>
      <p:sp>
        <p:nvSpPr>
          <p:cNvPr id="8" name="Shape 6"/>
          <p:cNvSpPr/>
          <p:nvPr/>
        </p:nvSpPr>
        <p:spPr>
          <a:xfrm>
            <a:off x="713232" y="3712464"/>
            <a:ext cx="384048" cy="384048"/>
          </a:xfrm>
          <a:prstGeom prst="ellipse">
            <a:avLst/>
          </a:prstGeom>
          <a:solidFill>
            <a:srgbClr val="22D3EE"/>
          </a:solidFill>
          <a:ln/>
        </p:spPr>
      </p:sp>
      <p:sp>
        <p:nvSpPr>
          <p:cNvPr id="9" name="Text 7"/>
          <p:cNvSpPr txBox="1"/>
          <p:nvPr/>
        </p:nvSpPr>
        <p:spPr>
          <a:xfrm>
            <a:off x="713232" y="3712464"/>
            <a:ext cx="384048" cy="384048"/>
          </a:xfrm>
          <a:prstGeom prst="rect">
            <a:avLst/>
          </a:prstGeom>
          <a:noFill/>
          <a:ln/>
        </p:spPr>
        <p:txBody>
          <a:bodyPr wrap="square" lIns="0" tIns="0" rIns="0" bIns="0" rtlCol="0" anchor="ctr"/>
          <a:lstStyle/>
          <a:p>
            <a:pPr algn="ctr" indent="0" marL="0">
              <a:buNone/>
            </a:pPr>
            <a:r>
              <a:rPr lang="en-US" sz="1400" b="1" dirty="0">
                <a:solidFill>
                  <a:srgbClr val="06121F"/>
                </a:solidFill>
                <a:latin typeface="Courier New" pitchFamily="34" charset="0"/>
                <a:ea typeface="Courier New" pitchFamily="34" charset="-122"/>
                <a:cs typeface="Courier New" pitchFamily="34" charset="-120"/>
              </a:rPr>
              <a:t>2</a:t>
            </a:r>
            <a:endParaRPr lang="en-US" sz="1400" dirty="0"/>
          </a:p>
        </p:txBody>
      </p:sp>
      <p:sp>
        <p:nvSpPr>
          <p:cNvPr id="10" name="Text 8"/>
          <p:cNvSpPr txBox="1"/>
          <p:nvPr/>
        </p:nvSpPr>
        <p:spPr>
          <a:xfrm>
            <a:off x="1280160" y="3639312"/>
            <a:ext cx="4297680" cy="658368"/>
          </a:xfrm>
          <a:prstGeom prst="rect">
            <a:avLst/>
          </a:prstGeom>
          <a:noFill/>
          <a:ln/>
        </p:spPr>
        <p:txBody>
          <a:bodyPr wrap="square" lIns="0" tIns="0" rIns="0" bIns="0" rtlCol="0" anchor="ctr"/>
          <a:lstStyle/>
          <a:p>
            <a:pPr indent="0" marL="0">
              <a:buNone/>
            </a:pPr>
            <a:r>
              <a:rPr lang="en-US" sz="1350" dirty="0">
                <a:solidFill>
                  <a:srgbClr val="EAF4FB"/>
                </a:solidFill>
                <a:latin typeface="Arial" pitchFamily="34" charset="0"/>
                <a:ea typeface="Arial" pitchFamily="34" charset="-122"/>
                <a:cs typeface="Arial" pitchFamily="34" charset="-120"/>
              </a:rPr>
              <a:t>Each new system became another launch point — growth compounded.</a:t>
            </a:r>
            <a:endParaRPr lang="en-US" sz="1350" dirty="0"/>
          </a:p>
        </p:txBody>
      </p:sp>
      <p:sp>
        <p:nvSpPr>
          <p:cNvPr id="11" name="Shape 9"/>
          <p:cNvSpPr/>
          <p:nvPr/>
        </p:nvSpPr>
        <p:spPr>
          <a:xfrm>
            <a:off x="713232" y="4498848"/>
            <a:ext cx="384048" cy="384048"/>
          </a:xfrm>
          <a:prstGeom prst="ellipse">
            <a:avLst/>
          </a:prstGeom>
          <a:solidFill>
            <a:srgbClr val="22D3EE"/>
          </a:solidFill>
          <a:ln/>
        </p:spPr>
      </p:sp>
      <p:sp>
        <p:nvSpPr>
          <p:cNvPr id="12" name="Text 10"/>
          <p:cNvSpPr txBox="1"/>
          <p:nvPr/>
        </p:nvSpPr>
        <p:spPr>
          <a:xfrm>
            <a:off x="713232" y="4498848"/>
            <a:ext cx="384048" cy="384048"/>
          </a:xfrm>
          <a:prstGeom prst="rect">
            <a:avLst/>
          </a:prstGeom>
          <a:noFill/>
          <a:ln/>
        </p:spPr>
        <p:txBody>
          <a:bodyPr wrap="square" lIns="0" tIns="0" rIns="0" bIns="0" rtlCol="0" anchor="ctr"/>
          <a:lstStyle/>
          <a:p>
            <a:pPr algn="ctr" indent="0" marL="0">
              <a:buNone/>
            </a:pPr>
            <a:r>
              <a:rPr lang="en-US" sz="1400" b="1" dirty="0">
                <a:solidFill>
                  <a:srgbClr val="06121F"/>
                </a:solidFill>
                <a:latin typeface="Courier New" pitchFamily="34" charset="0"/>
                <a:ea typeface="Courier New" pitchFamily="34" charset="-122"/>
                <a:cs typeface="Courier New" pitchFamily="34" charset="-120"/>
              </a:rPr>
              <a:t>3</a:t>
            </a:r>
            <a:endParaRPr lang="en-US" sz="1400" dirty="0"/>
          </a:p>
        </p:txBody>
      </p:sp>
      <p:sp>
        <p:nvSpPr>
          <p:cNvPr id="13" name="Text 11"/>
          <p:cNvSpPr txBox="1"/>
          <p:nvPr/>
        </p:nvSpPr>
        <p:spPr>
          <a:xfrm>
            <a:off x="1280160" y="4425696"/>
            <a:ext cx="4297680" cy="658368"/>
          </a:xfrm>
          <a:prstGeom prst="rect">
            <a:avLst/>
          </a:prstGeom>
          <a:noFill/>
          <a:ln/>
        </p:spPr>
        <p:txBody>
          <a:bodyPr wrap="square" lIns="0" tIns="0" rIns="0" bIns="0" rtlCol="0" anchor="ctr"/>
          <a:lstStyle/>
          <a:p>
            <a:pPr indent="0" marL="0">
              <a:buNone/>
            </a:pPr>
            <a:r>
              <a:rPr lang="en-US" sz="1350" dirty="0">
                <a:solidFill>
                  <a:srgbClr val="EAF4FB"/>
                </a:solidFill>
                <a:latin typeface="Arial" pitchFamily="34" charset="0"/>
                <a:ea typeface="Arial" pitchFamily="34" charset="-122"/>
                <a:cs typeface="Arial" pitchFamily="34" charset="-120"/>
              </a:rPr>
              <a:t>Multiple propagation paths meant no single block could stop it.</a:t>
            </a:r>
            <a:endParaRPr lang="en-US" sz="1350" dirty="0"/>
          </a:p>
        </p:txBody>
      </p:sp>
      <p:sp>
        <p:nvSpPr>
          <p:cNvPr id="14" name="Shape 12"/>
          <p:cNvSpPr/>
          <p:nvPr/>
        </p:nvSpPr>
        <p:spPr>
          <a:xfrm>
            <a:off x="713232" y="5285232"/>
            <a:ext cx="384048" cy="384048"/>
          </a:xfrm>
          <a:prstGeom prst="ellipse">
            <a:avLst/>
          </a:prstGeom>
          <a:solidFill>
            <a:srgbClr val="22D3EE"/>
          </a:solidFill>
          <a:ln/>
        </p:spPr>
      </p:sp>
      <p:sp>
        <p:nvSpPr>
          <p:cNvPr id="15" name="Text 13"/>
          <p:cNvSpPr txBox="1"/>
          <p:nvPr/>
        </p:nvSpPr>
        <p:spPr>
          <a:xfrm>
            <a:off x="713232" y="5285232"/>
            <a:ext cx="384048" cy="384048"/>
          </a:xfrm>
          <a:prstGeom prst="rect">
            <a:avLst/>
          </a:prstGeom>
          <a:noFill/>
          <a:ln/>
        </p:spPr>
        <p:txBody>
          <a:bodyPr wrap="square" lIns="0" tIns="0" rIns="0" bIns="0" rtlCol="0" anchor="ctr"/>
          <a:lstStyle/>
          <a:p>
            <a:pPr algn="ctr" indent="0" marL="0">
              <a:buNone/>
            </a:pPr>
            <a:r>
              <a:rPr lang="en-US" sz="1400" b="1" dirty="0">
                <a:solidFill>
                  <a:srgbClr val="06121F"/>
                </a:solidFill>
                <a:latin typeface="Courier New" pitchFamily="34" charset="0"/>
                <a:ea typeface="Courier New" pitchFamily="34" charset="-122"/>
                <a:cs typeface="Courier New" pitchFamily="34" charset="-120"/>
              </a:rPr>
              <a:t>4</a:t>
            </a:r>
            <a:endParaRPr lang="en-US" sz="1400" dirty="0"/>
          </a:p>
        </p:txBody>
      </p:sp>
      <p:sp>
        <p:nvSpPr>
          <p:cNvPr id="16" name="Text 14"/>
          <p:cNvSpPr txBox="1"/>
          <p:nvPr/>
        </p:nvSpPr>
        <p:spPr>
          <a:xfrm>
            <a:off x="1280160" y="5212080"/>
            <a:ext cx="4297680" cy="658368"/>
          </a:xfrm>
          <a:prstGeom prst="rect">
            <a:avLst/>
          </a:prstGeom>
          <a:noFill/>
          <a:ln/>
        </p:spPr>
        <p:txBody>
          <a:bodyPr wrap="square" lIns="0" tIns="0" rIns="0" bIns="0" rtlCol="0" anchor="ctr"/>
          <a:lstStyle/>
          <a:p>
            <a:pPr indent="0" marL="0">
              <a:buNone/>
            </a:pPr>
            <a:r>
              <a:rPr lang="en-US" sz="1350" dirty="0">
                <a:solidFill>
                  <a:srgbClr val="EAF4FB"/>
                </a:solidFill>
                <a:latin typeface="Arial" pitchFamily="34" charset="0"/>
                <a:ea typeface="Arial" pitchFamily="34" charset="-122"/>
                <a:cs typeface="Arial" pitchFamily="34" charset="-120"/>
              </a:rPr>
              <a:t>A reinfection-check flaw let extra copies pile up on the same machine.</a:t>
            </a:r>
            <a:endParaRPr lang="en-US" sz="1350" dirty="0"/>
          </a:p>
        </p:txBody>
      </p:sp>
      <p:sp>
        <p:nvSpPr>
          <p:cNvPr id="17" name="Shape 15"/>
          <p:cNvSpPr/>
          <p:nvPr/>
        </p:nvSpPr>
        <p:spPr>
          <a:xfrm>
            <a:off x="5943600" y="1005840"/>
            <a:ext cx="5532120" cy="5120640"/>
          </a:xfrm>
          <a:prstGeom prst="roundRect">
            <a:avLst>
              <a:gd name="adj" fmla="val 1071"/>
            </a:avLst>
          </a:prstGeom>
          <a:solidFill>
            <a:srgbClr val="0B2A45"/>
          </a:solidFill>
          <a:ln/>
        </p:spPr>
      </p:sp>
      <p:sp>
        <p:nvSpPr>
          <p:cNvPr id="18" name="Text 16"/>
          <p:cNvSpPr txBox="1"/>
          <p:nvPr/>
        </p:nvSpPr>
        <p:spPr>
          <a:xfrm>
            <a:off x="6263640" y="1261872"/>
            <a:ext cx="4892040" cy="320040"/>
          </a:xfrm>
          <a:prstGeom prst="rect">
            <a:avLst/>
          </a:prstGeom>
          <a:noFill/>
          <a:ln/>
        </p:spPr>
        <p:txBody>
          <a:bodyPr wrap="square" lIns="0" tIns="0" rIns="0" bIns="0" rtlCol="0" anchor="ctr"/>
          <a:lstStyle/>
          <a:p>
            <a:pPr indent="0" marL="0">
              <a:buNone/>
            </a:pPr>
            <a:r>
              <a:rPr lang="en-US" sz="1200" b="1" spc="150" kern="0" dirty="0">
                <a:solidFill>
                  <a:srgbClr val="22D3EE"/>
                </a:solidFill>
                <a:latin typeface="Courier New" pitchFamily="34" charset="0"/>
                <a:ea typeface="Courier New" pitchFamily="34" charset="-122"/>
                <a:cs typeface="Courier New" pitchFamily="34" charset="-120"/>
              </a:rPr>
              <a:t>ONE HOST → MANY</a:t>
            </a:r>
            <a:endParaRPr lang="en-US" sz="1200" dirty="0"/>
          </a:p>
        </p:txBody>
      </p:sp>
      <p:sp>
        <p:nvSpPr>
          <p:cNvPr id="19" name="Shape 17"/>
          <p:cNvSpPr/>
          <p:nvPr/>
        </p:nvSpPr>
        <p:spPr>
          <a:xfrm>
            <a:off x="7315200" y="3918204"/>
            <a:ext cx="1143000" cy="27432"/>
          </a:xfrm>
          <a:prstGeom prst="rect">
            <a:avLst/>
          </a:prstGeom>
          <a:solidFill>
            <a:srgbClr val="38BDF8"/>
          </a:solidFill>
          <a:ln/>
        </p:spPr>
      </p:sp>
      <p:sp>
        <p:nvSpPr>
          <p:cNvPr id="20" name="Shape 18"/>
          <p:cNvSpPr/>
          <p:nvPr/>
        </p:nvSpPr>
        <p:spPr>
          <a:xfrm>
            <a:off x="9052560" y="3918204"/>
            <a:ext cx="1280160" cy="27432"/>
          </a:xfrm>
          <a:prstGeom prst="rect">
            <a:avLst/>
          </a:prstGeom>
          <a:solidFill>
            <a:srgbClr val="7DD3FC"/>
          </a:solidFill>
          <a:ln/>
        </p:spPr>
      </p:sp>
      <p:sp>
        <p:nvSpPr>
          <p:cNvPr id="21" name="Text 19"/>
          <p:cNvSpPr txBox="1"/>
          <p:nvPr/>
        </p:nvSpPr>
        <p:spPr>
          <a:xfrm>
            <a:off x="7685532" y="3429000"/>
            <a:ext cx="402336" cy="365760"/>
          </a:xfrm>
          <a:prstGeom prst="rect">
            <a:avLst/>
          </a:prstGeom>
          <a:noFill/>
          <a:ln/>
        </p:spPr>
        <p:txBody>
          <a:bodyPr wrap="square" lIns="0" tIns="0" rIns="0" bIns="0" rtlCol="0" anchor="ctr"/>
          <a:lstStyle/>
          <a:p>
            <a:pPr algn="ctr" indent="0" marL="0">
              <a:buNone/>
            </a:pPr>
            <a:r>
              <a:rPr lang="en-US" sz="2200" b="1" dirty="0">
                <a:solidFill>
                  <a:srgbClr val="22D3EE"/>
                </a:solidFill>
                <a:latin typeface="Arial" pitchFamily="34" charset="0"/>
                <a:ea typeface="Arial" pitchFamily="34" charset="-122"/>
                <a:cs typeface="Arial" pitchFamily="34" charset="-120"/>
              </a:rPr>
              <a:t>→</a:t>
            </a:r>
            <a:endParaRPr lang="en-US" sz="2200" dirty="0"/>
          </a:p>
        </p:txBody>
      </p:sp>
      <p:sp>
        <p:nvSpPr>
          <p:cNvPr id="22" name="Text 20"/>
          <p:cNvSpPr txBox="1"/>
          <p:nvPr/>
        </p:nvSpPr>
        <p:spPr>
          <a:xfrm>
            <a:off x="9491472" y="3429000"/>
            <a:ext cx="402336" cy="365760"/>
          </a:xfrm>
          <a:prstGeom prst="rect">
            <a:avLst/>
          </a:prstGeom>
          <a:noFill/>
          <a:ln/>
        </p:spPr>
        <p:txBody>
          <a:bodyPr wrap="square" lIns="0" tIns="0" rIns="0" bIns="0" rtlCol="0" anchor="ctr"/>
          <a:lstStyle/>
          <a:p>
            <a:pPr algn="ctr" indent="0" marL="0">
              <a:buNone/>
            </a:pPr>
            <a:r>
              <a:rPr lang="en-US" sz="2200" b="1" dirty="0">
                <a:solidFill>
                  <a:srgbClr val="22D3EE"/>
                </a:solidFill>
                <a:latin typeface="Arial" pitchFamily="34" charset="0"/>
                <a:ea typeface="Arial" pitchFamily="34" charset="-122"/>
                <a:cs typeface="Arial" pitchFamily="34" charset="-120"/>
              </a:rPr>
              <a:t>→</a:t>
            </a:r>
            <a:endParaRPr lang="en-US" sz="2200" dirty="0"/>
          </a:p>
        </p:txBody>
      </p:sp>
      <p:sp>
        <p:nvSpPr>
          <p:cNvPr id="23" name="Shape 21"/>
          <p:cNvSpPr/>
          <p:nvPr/>
        </p:nvSpPr>
        <p:spPr>
          <a:xfrm>
            <a:off x="6720840" y="3657600"/>
            <a:ext cx="548640" cy="548640"/>
          </a:xfrm>
          <a:prstGeom prst="ellipse">
            <a:avLst/>
          </a:prstGeom>
          <a:solidFill>
            <a:srgbClr val="22D3EE"/>
          </a:solidFill>
          <a:ln/>
        </p:spPr>
      </p:sp>
      <p:sp>
        <p:nvSpPr>
          <p:cNvPr id="24" name="Shape 22"/>
          <p:cNvSpPr/>
          <p:nvPr/>
        </p:nvSpPr>
        <p:spPr>
          <a:xfrm>
            <a:off x="8613648" y="2898648"/>
            <a:ext cx="329184" cy="329184"/>
          </a:xfrm>
          <a:prstGeom prst="ellipse">
            <a:avLst/>
          </a:prstGeom>
          <a:solidFill>
            <a:srgbClr val="38BDF8"/>
          </a:solidFill>
          <a:ln/>
        </p:spPr>
      </p:sp>
      <p:sp>
        <p:nvSpPr>
          <p:cNvPr id="25" name="Shape 23"/>
          <p:cNvSpPr/>
          <p:nvPr/>
        </p:nvSpPr>
        <p:spPr>
          <a:xfrm>
            <a:off x="8613648" y="3767328"/>
            <a:ext cx="329184" cy="329184"/>
          </a:xfrm>
          <a:prstGeom prst="ellipse">
            <a:avLst/>
          </a:prstGeom>
          <a:solidFill>
            <a:srgbClr val="38BDF8"/>
          </a:solidFill>
          <a:ln/>
        </p:spPr>
      </p:sp>
      <p:sp>
        <p:nvSpPr>
          <p:cNvPr id="26" name="Shape 24"/>
          <p:cNvSpPr/>
          <p:nvPr/>
        </p:nvSpPr>
        <p:spPr>
          <a:xfrm>
            <a:off x="8613648" y="4636008"/>
            <a:ext cx="329184" cy="329184"/>
          </a:xfrm>
          <a:prstGeom prst="ellipse">
            <a:avLst/>
          </a:prstGeom>
          <a:solidFill>
            <a:srgbClr val="38BDF8"/>
          </a:solidFill>
          <a:ln/>
        </p:spPr>
      </p:sp>
      <p:sp>
        <p:nvSpPr>
          <p:cNvPr id="27" name="Shape 25"/>
          <p:cNvSpPr/>
          <p:nvPr/>
        </p:nvSpPr>
        <p:spPr>
          <a:xfrm>
            <a:off x="10268712" y="2798064"/>
            <a:ext cx="164592" cy="164592"/>
          </a:xfrm>
          <a:prstGeom prst="ellipse">
            <a:avLst/>
          </a:prstGeom>
          <a:solidFill>
            <a:srgbClr val="7DD3FC"/>
          </a:solidFill>
          <a:ln/>
        </p:spPr>
      </p:sp>
      <p:sp>
        <p:nvSpPr>
          <p:cNvPr id="28" name="Shape 26"/>
          <p:cNvSpPr/>
          <p:nvPr/>
        </p:nvSpPr>
        <p:spPr>
          <a:xfrm>
            <a:off x="10524744" y="2798064"/>
            <a:ext cx="164592" cy="164592"/>
          </a:xfrm>
          <a:prstGeom prst="ellipse">
            <a:avLst/>
          </a:prstGeom>
          <a:solidFill>
            <a:srgbClr val="7DD3FC"/>
          </a:solidFill>
          <a:ln/>
        </p:spPr>
      </p:sp>
      <p:sp>
        <p:nvSpPr>
          <p:cNvPr id="29" name="Shape 27"/>
          <p:cNvSpPr/>
          <p:nvPr/>
        </p:nvSpPr>
        <p:spPr>
          <a:xfrm>
            <a:off x="10780776" y="2798064"/>
            <a:ext cx="164592" cy="164592"/>
          </a:xfrm>
          <a:prstGeom prst="ellipse">
            <a:avLst/>
          </a:prstGeom>
          <a:solidFill>
            <a:srgbClr val="7DD3FC"/>
          </a:solidFill>
          <a:ln/>
        </p:spPr>
      </p:sp>
      <p:sp>
        <p:nvSpPr>
          <p:cNvPr id="30" name="Shape 28"/>
          <p:cNvSpPr/>
          <p:nvPr/>
        </p:nvSpPr>
        <p:spPr>
          <a:xfrm>
            <a:off x="10268712" y="3849624"/>
            <a:ext cx="164592" cy="164592"/>
          </a:xfrm>
          <a:prstGeom prst="ellipse">
            <a:avLst/>
          </a:prstGeom>
          <a:solidFill>
            <a:srgbClr val="7DD3FC"/>
          </a:solidFill>
          <a:ln/>
        </p:spPr>
      </p:sp>
      <p:sp>
        <p:nvSpPr>
          <p:cNvPr id="31" name="Shape 29"/>
          <p:cNvSpPr/>
          <p:nvPr/>
        </p:nvSpPr>
        <p:spPr>
          <a:xfrm>
            <a:off x="10524744" y="3849624"/>
            <a:ext cx="164592" cy="164592"/>
          </a:xfrm>
          <a:prstGeom prst="ellipse">
            <a:avLst/>
          </a:prstGeom>
          <a:solidFill>
            <a:srgbClr val="7DD3FC"/>
          </a:solidFill>
          <a:ln/>
        </p:spPr>
      </p:sp>
      <p:sp>
        <p:nvSpPr>
          <p:cNvPr id="32" name="Shape 30"/>
          <p:cNvSpPr/>
          <p:nvPr/>
        </p:nvSpPr>
        <p:spPr>
          <a:xfrm>
            <a:off x="10780776" y="3849624"/>
            <a:ext cx="164592" cy="164592"/>
          </a:xfrm>
          <a:prstGeom prst="ellipse">
            <a:avLst/>
          </a:prstGeom>
          <a:solidFill>
            <a:srgbClr val="7DD3FC"/>
          </a:solidFill>
          <a:ln/>
        </p:spPr>
      </p:sp>
      <p:sp>
        <p:nvSpPr>
          <p:cNvPr id="33" name="Shape 31"/>
          <p:cNvSpPr/>
          <p:nvPr/>
        </p:nvSpPr>
        <p:spPr>
          <a:xfrm>
            <a:off x="10268712" y="4901184"/>
            <a:ext cx="164592" cy="164592"/>
          </a:xfrm>
          <a:prstGeom prst="ellipse">
            <a:avLst/>
          </a:prstGeom>
          <a:solidFill>
            <a:srgbClr val="7DD3FC"/>
          </a:solidFill>
          <a:ln/>
        </p:spPr>
      </p:sp>
      <p:sp>
        <p:nvSpPr>
          <p:cNvPr id="34" name="Shape 32"/>
          <p:cNvSpPr/>
          <p:nvPr/>
        </p:nvSpPr>
        <p:spPr>
          <a:xfrm>
            <a:off x="10524744" y="4901184"/>
            <a:ext cx="164592" cy="164592"/>
          </a:xfrm>
          <a:prstGeom prst="ellipse">
            <a:avLst/>
          </a:prstGeom>
          <a:solidFill>
            <a:srgbClr val="7DD3FC"/>
          </a:solidFill>
          <a:ln/>
        </p:spPr>
      </p:sp>
      <p:sp>
        <p:nvSpPr>
          <p:cNvPr id="35" name="Shape 33"/>
          <p:cNvSpPr/>
          <p:nvPr/>
        </p:nvSpPr>
        <p:spPr>
          <a:xfrm>
            <a:off x="10780776" y="4901184"/>
            <a:ext cx="164592" cy="164592"/>
          </a:xfrm>
          <a:prstGeom prst="ellipse">
            <a:avLst/>
          </a:prstGeom>
          <a:solidFill>
            <a:srgbClr val="7DD3FC"/>
          </a:solidFill>
          <a:ln/>
        </p:spPr>
      </p:sp>
      <p:sp>
        <p:nvSpPr>
          <p:cNvPr id="36" name="Text 34"/>
          <p:cNvSpPr txBox="1"/>
          <p:nvPr/>
        </p:nvSpPr>
        <p:spPr>
          <a:xfrm>
            <a:off x="6309360" y="4343400"/>
            <a:ext cx="1371600" cy="548640"/>
          </a:xfrm>
          <a:prstGeom prst="rect">
            <a:avLst/>
          </a:prstGeom>
          <a:noFill/>
          <a:ln/>
        </p:spPr>
        <p:txBody>
          <a:bodyPr wrap="square" lIns="0" tIns="0" rIns="0" bIns="0" rtlCol="0" anchor="ctr"/>
          <a:lstStyle/>
          <a:p>
            <a:pPr algn="ctr" indent="0" marL="0">
              <a:lnSpc>
                <a:spcPct val="95000"/>
              </a:lnSpc>
              <a:buNone/>
            </a:pPr>
            <a:r>
              <a:rPr lang="en-US" sz="1000" dirty="0">
                <a:solidFill>
                  <a:srgbClr val="EAF4FB"/>
                </a:solidFill>
                <a:latin typeface="Courier New" pitchFamily="34" charset="0"/>
                <a:ea typeface="Courier New" pitchFamily="34" charset="-122"/>
                <a:cs typeface="Courier New" pitchFamily="34" charset="-120"/>
              </a:rPr>
              <a:t>1 infected</a:t>
            </a:r>
            <a:endParaRPr lang="en-US" sz="1000" dirty="0"/>
          </a:p>
          <a:p>
            <a:pPr algn="ctr" indent="0" marL="0">
              <a:lnSpc>
                <a:spcPct val="95000"/>
              </a:lnSpc>
              <a:buNone/>
            </a:pPr>
            <a:r>
              <a:rPr lang="en-US" sz="1000" dirty="0">
                <a:solidFill>
                  <a:srgbClr val="EAF4FB"/>
                </a:solidFill>
                <a:latin typeface="Courier New" pitchFamily="34" charset="0"/>
                <a:ea typeface="Courier New" pitchFamily="34" charset="-122"/>
                <a:cs typeface="Courier New" pitchFamily="34" charset="-120"/>
              </a:rPr>
              <a:t>host</a:t>
            </a:r>
            <a:endParaRPr lang="en-US" sz="1000" dirty="0"/>
          </a:p>
        </p:txBody>
      </p:sp>
      <p:sp>
        <p:nvSpPr>
          <p:cNvPr id="37" name="Text 35"/>
          <p:cNvSpPr txBox="1"/>
          <p:nvPr/>
        </p:nvSpPr>
        <p:spPr>
          <a:xfrm>
            <a:off x="8412480" y="1874520"/>
            <a:ext cx="731520" cy="274320"/>
          </a:xfrm>
          <a:prstGeom prst="rect">
            <a:avLst/>
          </a:prstGeom>
          <a:noFill/>
          <a:ln/>
        </p:spPr>
        <p:txBody>
          <a:bodyPr wrap="square" lIns="0" tIns="0" rIns="0" bIns="0" rtlCol="0" anchor="ctr"/>
          <a:lstStyle/>
          <a:p>
            <a:pPr algn="ctr" indent="0" marL="0">
              <a:buNone/>
            </a:pPr>
            <a:r>
              <a:rPr lang="en-US" sz="1300" b="1" dirty="0">
                <a:solidFill>
                  <a:srgbClr val="38BDF8"/>
                </a:solidFill>
                <a:latin typeface="Courier New" pitchFamily="34" charset="0"/>
                <a:ea typeface="Courier New" pitchFamily="34" charset="-122"/>
                <a:cs typeface="Courier New" pitchFamily="34" charset="-120"/>
              </a:rPr>
              <a:t>×3</a:t>
            </a:r>
            <a:endParaRPr lang="en-US" sz="1300" dirty="0"/>
          </a:p>
        </p:txBody>
      </p:sp>
      <p:sp>
        <p:nvSpPr>
          <p:cNvPr id="38" name="Text 36"/>
          <p:cNvSpPr txBox="1"/>
          <p:nvPr/>
        </p:nvSpPr>
        <p:spPr>
          <a:xfrm>
            <a:off x="9966960" y="1874520"/>
            <a:ext cx="1280160" cy="274320"/>
          </a:xfrm>
          <a:prstGeom prst="rect">
            <a:avLst/>
          </a:prstGeom>
          <a:noFill/>
          <a:ln/>
        </p:spPr>
        <p:txBody>
          <a:bodyPr wrap="square" lIns="0" tIns="0" rIns="0" bIns="0" rtlCol="0" anchor="ctr"/>
          <a:lstStyle/>
          <a:p>
            <a:pPr algn="ctr" indent="0" marL="0">
              <a:buNone/>
            </a:pPr>
            <a:r>
              <a:rPr lang="en-US" sz="1300" b="1" dirty="0">
                <a:solidFill>
                  <a:srgbClr val="7DD3FC"/>
                </a:solidFill>
                <a:latin typeface="Courier New" pitchFamily="34" charset="0"/>
                <a:ea typeface="Courier New" pitchFamily="34" charset="-122"/>
                <a:cs typeface="Courier New" pitchFamily="34" charset="-120"/>
              </a:rPr>
              <a:t>×9  …</a:t>
            </a:r>
            <a:endParaRPr lang="en-US" sz="1300" dirty="0"/>
          </a:p>
        </p:txBody>
      </p:sp>
      <p:sp>
        <p:nvSpPr>
          <p:cNvPr id="39" name="Text 37"/>
          <p:cNvSpPr txBox="1"/>
          <p:nvPr/>
        </p:nvSpPr>
        <p:spPr>
          <a:xfrm>
            <a:off x="6263640" y="5486400"/>
            <a:ext cx="4892040" cy="365760"/>
          </a:xfrm>
          <a:prstGeom prst="rect">
            <a:avLst/>
          </a:prstGeom>
          <a:noFill/>
          <a:ln/>
        </p:spPr>
        <p:txBody>
          <a:bodyPr wrap="square" lIns="0" tIns="0" rIns="0" bIns="0" rtlCol="0" anchor="ctr"/>
          <a:lstStyle/>
          <a:p>
            <a:pPr algn="ctr" indent="0" marL="0">
              <a:buNone/>
            </a:pPr>
            <a:r>
              <a:rPr lang="en-US" sz="1100" dirty="0">
                <a:solidFill>
                  <a:srgbClr val="94A3B8"/>
                </a:solidFill>
                <a:latin typeface="Courier New" pitchFamily="34" charset="0"/>
                <a:ea typeface="Courier New" pitchFamily="34" charset="-122"/>
                <a:cs typeface="Courier New" pitchFamily="34" charset="-120"/>
              </a:rPr>
              <a:t>each new host infects more — growth is exponential</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11430000" y="6400800"/>
            <a:ext cx="548640" cy="320040"/>
          </a:xfrm>
          <a:prstGeom prst="rect">
            <a:avLst/>
          </a:prstGeom>
          <a:noFill/>
          <a:ln/>
        </p:spPr>
        <p:txBody>
          <a:bodyPr wrap="square" lIns="0" tIns="0" rIns="0" bIns="0" rtlCol="0" anchor="ctr"/>
          <a:lstStyle/>
          <a:p>
            <a:pPr algn="r" indent="0" marL="0">
              <a:buNone/>
            </a:pPr>
            <a:r>
              <a:rPr lang="en-US" sz="1100" dirty="0">
                <a:solidFill>
                  <a:srgbClr val="94A3B8"/>
                </a:solidFill>
                <a:latin typeface="Courier New" pitchFamily="34" charset="0"/>
                <a:ea typeface="Courier New" pitchFamily="34" charset="-122"/>
                <a:cs typeface="Courier New" pitchFamily="34" charset="-120"/>
              </a:rPr>
              <a:t>8</a:t>
            </a:r>
            <a:endParaRPr lang="en-US" sz="1100" dirty="0"/>
          </a:p>
        </p:txBody>
      </p:sp>
      <p:pic>
        <p:nvPicPr>
          <p:cNvPr id="3" name="Image 0" descr="assets/greenlab.jpg">    </p:cNvPr>
          <p:cNvPicPr>
            <a:picLocks noChangeAspect="1"/>
          </p:cNvPicPr>
          <p:nvPr/>
        </p:nvPicPr>
        <p:blipFill>
          <a:blip r:embed="rId2"/>
          <a:srcRect l="0" r="0" t="0" b="0"/>
          <a:stretch/>
        </p:blipFill>
        <p:spPr>
          <a:xfrm>
            <a:off x="0" y="0"/>
            <a:ext cx="4572000" cy="6858000"/>
          </a:xfrm>
          <a:prstGeom prst="rect">
            <a:avLst/>
          </a:prstGeom>
        </p:spPr>
      </p:pic>
      <p:sp>
        <p:nvSpPr>
          <p:cNvPr id="4" name="Shape 1"/>
          <p:cNvSpPr/>
          <p:nvPr/>
        </p:nvSpPr>
        <p:spPr>
          <a:xfrm>
            <a:off x="0" y="0"/>
            <a:ext cx="4572000" cy="6858000"/>
          </a:xfrm>
          <a:prstGeom prst="rect">
            <a:avLst/>
          </a:prstGeom>
          <a:solidFill>
            <a:srgbClr val="06121F">
              <a:alpha val="70000"/>
            </a:srgbClr>
          </a:solidFill>
          <a:ln/>
        </p:spPr>
      </p:sp>
      <p:sp>
        <p:nvSpPr>
          <p:cNvPr id="5" name="Text 2"/>
          <p:cNvSpPr txBox="1"/>
          <p:nvPr/>
        </p:nvSpPr>
        <p:spPr>
          <a:xfrm>
            <a:off x="5029200" y="502920"/>
            <a:ext cx="5486400" cy="292608"/>
          </a:xfrm>
          <a:prstGeom prst="rect">
            <a:avLst/>
          </a:prstGeom>
          <a:noFill/>
          <a:ln/>
        </p:spPr>
        <p:txBody>
          <a:bodyPr wrap="square" lIns="0" tIns="0" rIns="0" bIns="0" rtlCol="0" anchor="ctr"/>
          <a:lstStyle/>
          <a:p>
            <a:pPr indent="0" marL="0">
              <a:buNone/>
            </a:pPr>
            <a:r>
              <a:rPr lang="en-US" sz="1250" spc="250" kern="0" dirty="0">
                <a:solidFill>
                  <a:srgbClr val="22D3EE"/>
                </a:solidFill>
                <a:latin typeface="Courier New" pitchFamily="34" charset="0"/>
                <a:ea typeface="Courier New" pitchFamily="34" charset="-122"/>
                <a:cs typeface="Courier New" pitchFamily="34" charset="-120"/>
              </a:rPr>
              <a:t>THE IMPACT</a:t>
            </a:r>
            <a:endParaRPr lang="en-US" sz="1250" dirty="0"/>
          </a:p>
        </p:txBody>
      </p:sp>
      <p:sp>
        <p:nvSpPr>
          <p:cNvPr id="6" name="Text 3"/>
          <p:cNvSpPr txBox="1"/>
          <p:nvPr/>
        </p:nvSpPr>
        <p:spPr>
          <a:xfrm>
            <a:off x="5029200" y="822960"/>
            <a:ext cx="6400800" cy="1097280"/>
          </a:xfrm>
          <a:prstGeom prst="rect">
            <a:avLst/>
          </a:prstGeom>
          <a:noFill/>
          <a:ln/>
        </p:spPr>
        <p:txBody>
          <a:bodyPr wrap="square" lIns="0" tIns="0" rIns="0" bIns="0" rtlCol="0" anchor="ctr"/>
          <a:lstStyle/>
          <a:p>
            <a:pPr indent="0" marL="0">
              <a:lnSpc>
                <a:spcPct val="98000"/>
              </a:lnSpc>
              <a:buNone/>
            </a:pPr>
            <a:r>
              <a:rPr lang="en-US" sz="3400" b="1" dirty="0">
                <a:solidFill>
                  <a:srgbClr val="FFFFFF"/>
                </a:solidFill>
                <a:latin typeface="Arial" pitchFamily="34" charset="0"/>
                <a:ea typeface="Arial" pitchFamily="34" charset="-122"/>
                <a:cs typeface="Arial" pitchFamily="34" charset="-120"/>
              </a:rPr>
              <a:t>Disruption without</a:t>
            </a:r>
            <a:endParaRPr lang="en-US" sz="3400" dirty="0"/>
          </a:p>
          <a:p>
            <a:pPr indent="0" marL="0">
              <a:lnSpc>
                <a:spcPct val="98000"/>
              </a:lnSpc>
              <a:buNone/>
            </a:pPr>
            <a:r>
              <a:rPr lang="en-US" sz="3400" b="1" dirty="0">
                <a:solidFill>
                  <a:srgbClr val="FFFFFF"/>
                </a:solidFill>
                <a:latin typeface="Arial" pitchFamily="34" charset="0"/>
                <a:ea typeface="Arial" pitchFamily="34" charset="-122"/>
                <a:cs typeface="Arial" pitchFamily="34" charset="-120"/>
              </a:rPr>
              <a:t>destroying data</a:t>
            </a:r>
            <a:endParaRPr lang="en-US" sz="3400" dirty="0"/>
          </a:p>
        </p:txBody>
      </p:sp>
      <p:sp>
        <p:nvSpPr>
          <p:cNvPr id="7" name="Text 4"/>
          <p:cNvSpPr txBox="1"/>
          <p:nvPr/>
        </p:nvSpPr>
        <p:spPr>
          <a:xfrm>
            <a:off x="5029200" y="1965960"/>
            <a:ext cx="6492240" cy="640080"/>
          </a:xfrm>
          <a:prstGeom prst="rect">
            <a:avLst/>
          </a:prstGeom>
          <a:noFill/>
          <a:ln/>
        </p:spPr>
        <p:txBody>
          <a:bodyPr wrap="square" lIns="0" tIns="0" rIns="0" bIns="0" rtlCol="0" anchor="ctr"/>
          <a:lstStyle/>
          <a:p>
            <a:pPr indent="0" marL="0">
              <a:buNone/>
            </a:pPr>
            <a:r>
              <a:rPr lang="en-US" sz="1400" dirty="0">
                <a:solidFill>
                  <a:srgbClr val="EAF4FB"/>
                </a:solidFill>
                <a:latin typeface="Arial" pitchFamily="34" charset="0"/>
                <a:ea typeface="Arial" pitchFamily="34" charset="-122"/>
                <a:cs typeface="Arial" pitchFamily="34" charset="-120"/>
              </a:rPr>
              <a:t>The worm did not delete files — the harm came from systems being overwhelmed, slowed, and taken offline for cleanup.</a:t>
            </a:r>
            <a:endParaRPr lang="en-US" sz="1400" dirty="0"/>
          </a:p>
        </p:txBody>
      </p:sp>
      <p:sp>
        <p:nvSpPr>
          <p:cNvPr id="8" name="Shape 5"/>
          <p:cNvSpPr/>
          <p:nvPr/>
        </p:nvSpPr>
        <p:spPr>
          <a:xfrm>
            <a:off x="5029200" y="2834640"/>
            <a:ext cx="2103120" cy="1645920"/>
          </a:xfrm>
          <a:prstGeom prst="roundRect">
            <a:avLst>
              <a:gd name="adj" fmla="val 5556"/>
            </a:avLst>
          </a:prstGeom>
          <a:solidFill>
            <a:srgbClr val="EAF4FB"/>
          </a:solidFill>
          <a:ln/>
          <a:effectLst>
            <a:outerShdw sx="100000" sy="100000" kx="0" ky="0" algn="bl" rotWithShape="0" blurRad="127000" dist="38100" dir="5400000">
              <a:srgbClr val="000000">
                <a:alpha val="35000"/>
              </a:srgbClr>
            </a:outerShdw>
          </a:effectLst>
        </p:spPr>
      </p:sp>
      <p:sp>
        <p:nvSpPr>
          <p:cNvPr id="9" name="Text 6"/>
          <p:cNvSpPr txBox="1"/>
          <p:nvPr/>
        </p:nvSpPr>
        <p:spPr>
          <a:xfrm>
            <a:off x="5138928" y="3090672"/>
            <a:ext cx="1883664" cy="640080"/>
          </a:xfrm>
          <a:prstGeom prst="rect">
            <a:avLst/>
          </a:prstGeom>
          <a:noFill/>
          <a:ln/>
        </p:spPr>
        <p:txBody>
          <a:bodyPr wrap="square" lIns="0" tIns="0" rIns="0" bIns="0" rtlCol="0" anchor="ctr"/>
          <a:lstStyle/>
          <a:p>
            <a:pPr algn="ctr" indent="0" marL="0">
              <a:buNone/>
            </a:pPr>
            <a:r>
              <a:rPr lang="en-US" sz="2200" b="1" dirty="0">
                <a:solidFill>
                  <a:srgbClr val="22D3EE"/>
                </a:solidFill>
                <a:latin typeface="Courier New" pitchFamily="34" charset="0"/>
                <a:ea typeface="Courier New" pitchFamily="34" charset="-122"/>
                <a:cs typeface="Courier New" pitchFamily="34" charset="-120"/>
              </a:rPr>
              <a:t>≈ 6,000</a:t>
            </a:r>
            <a:endParaRPr lang="en-US" sz="2200" dirty="0"/>
          </a:p>
        </p:txBody>
      </p:sp>
      <p:sp>
        <p:nvSpPr>
          <p:cNvPr id="10" name="Text 7"/>
          <p:cNvSpPr txBox="1"/>
          <p:nvPr/>
        </p:nvSpPr>
        <p:spPr>
          <a:xfrm>
            <a:off x="5166360" y="3749040"/>
            <a:ext cx="1828800" cy="658368"/>
          </a:xfrm>
          <a:prstGeom prst="rect">
            <a:avLst/>
          </a:prstGeom>
          <a:noFill/>
          <a:ln/>
        </p:spPr>
        <p:txBody>
          <a:bodyPr wrap="square" lIns="0" tIns="0" rIns="0" bIns="0" rtlCol="0" anchor="ctr"/>
          <a:lstStyle/>
          <a:p>
            <a:pPr algn="ctr" indent="0" marL="0">
              <a:lnSpc>
                <a:spcPct val="95000"/>
              </a:lnSpc>
              <a:buNone/>
            </a:pPr>
            <a:r>
              <a:rPr lang="en-US" sz="1150" dirty="0">
                <a:solidFill>
                  <a:srgbClr val="0B2A45"/>
                </a:solidFill>
                <a:latin typeface="Arial" pitchFamily="34" charset="0"/>
                <a:ea typeface="Arial" pitchFamily="34" charset="-122"/>
                <a:cs typeface="Arial" pitchFamily="34" charset="-120"/>
              </a:rPr>
              <a:t>computers affected within ~24 hours</a:t>
            </a:r>
            <a:endParaRPr lang="en-US" sz="1150" dirty="0"/>
          </a:p>
        </p:txBody>
      </p:sp>
      <p:sp>
        <p:nvSpPr>
          <p:cNvPr id="11" name="Shape 8"/>
          <p:cNvSpPr/>
          <p:nvPr/>
        </p:nvSpPr>
        <p:spPr>
          <a:xfrm>
            <a:off x="7315200" y="2834640"/>
            <a:ext cx="2103120" cy="1645920"/>
          </a:xfrm>
          <a:prstGeom prst="roundRect">
            <a:avLst>
              <a:gd name="adj" fmla="val 5556"/>
            </a:avLst>
          </a:prstGeom>
          <a:solidFill>
            <a:srgbClr val="EAF4FB"/>
          </a:solidFill>
          <a:ln/>
          <a:effectLst>
            <a:outerShdw sx="100000" sy="100000" kx="0" ky="0" algn="bl" rotWithShape="0" blurRad="127000" dist="38100" dir="5400000">
              <a:srgbClr val="000000">
                <a:alpha val="35000"/>
              </a:srgbClr>
            </a:outerShdw>
          </a:effectLst>
        </p:spPr>
      </p:sp>
      <p:sp>
        <p:nvSpPr>
          <p:cNvPr id="12" name="Text 9"/>
          <p:cNvSpPr txBox="1"/>
          <p:nvPr/>
        </p:nvSpPr>
        <p:spPr>
          <a:xfrm>
            <a:off x="7424928" y="3090672"/>
            <a:ext cx="1883664" cy="640080"/>
          </a:xfrm>
          <a:prstGeom prst="rect">
            <a:avLst/>
          </a:prstGeom>
          <a:noFill/>
          <a:ln/>
        </p:spPr>
        <p:txBody>
          <a:bodyPr wrap="square" lIns="0" tIns="0" rIns="0" bIns="0" rtlCol="0" anchor="ctr"/>
          <a:lstStyle/>
          <a:p>
            <a:pPr algn="ctr" indent="0" marL="0">
              <a:buNone/>
            </a:pPr>
            <a:r>
              <a:rPr lang="en-US" sz="3000" b="1" dirty="0">
                <a:solidFill>
                  <a:srgbClr val="22D3EE"/>
                </a:solidFill>
                <a:latin typeface="Courier New" pitchFamily="34" charset="0"/>
                <a:ea typeface="Courier New" pitchFamily="34" charset="-122"/>
                <a:cs typeface="Courier New" pitchFamily="34" charset="-120"/>
              </a:rPr>
              <a:t>~10%</a:t>
            </a:r>
            <a:endParaRPr lang="en-US" sz="3000" dirty="0"/>
          </a:p>
        </p:txBody>
      </p:sp>
      <p:sp>
        <p:nvSpPr>
          <p:cNvPr id="13" name="Text 10"/>
          <p:cNvSpPr txBox="1"/>
          <p:nvPr/>
        </p:nvSpPr>
        <p:spPr>
          <a:xfrm>
            <a:off x="7452360" y="3749040"/>
            <a:ext cx="1828800" cy="658368"/>
          </a:xfrm>
          <a:prstGeom prst="rect">
            <a:avLst/>
          </a:prstGeom>
          <a:noFill/>
          <a:ln/>
        </p:spPr>
        <p:txBody>
          <a:bodyPr wrap="square" lIns="0" tIns="0" rIns="0" bIns="0" rtlCol="0" anchor="ctr"/>
          <a:lstStyle/>
          <a:p>
            <a:pPr algn="ctr" indent="0" marL="0">
              <a:lnSpc>
                <a:spcPct val="95000"/>
              </a:lnSpc>
              <a:buNone/>
            </a:pPr>
            <a:r>
              <a:rPr lang="en-US" sz="1150" dirty="0">
                <a:solidFill>
                  <a:srgbClr val="0B2A45"/>
                </a:solidFill>
                <a:latin typeface="Arial" pitchFamily="34" charset="0"/>
                <a:ea typeface="Arial" pitchFamily="34" charset="-122"/>
                <a:cs typeface="Arial" pitchFamily="34" charset="-120"/>
              </a:rPr>
              <a:t>of the ~60,000 machines then online</a:t>
            </a:r>
            <a:endParaRPr lang="en-US" sz="1150" dirty="0"/>
          </a:p>
        </p:txBody>
      </p:sp>
      <p:sp>
        <p:nvSpPr>
          <p:cNvPr id="14" name="Shape 11"/>
          <p:cNvSpPr/>
          <p:nvPr/>
        </p:nvSpPr>
        <p:spPr>
          <a:xfrm>
            <a:off x="9601200" y="2834640"/>
            <a:ext cx="2103120" cy="1645920"/>
          </a:xfrm>
          <a:prstGeom prst="roundRect">
            <a:avLst>
              <a:gd name="adj" fmla="val 5556"/>
            </a:avLst>
          </a:prstGeom>
          <a:solidFill>
            <a:srgbClr val="EAF4FB"/>
          </a:solidFill>
          <a:ln/>
          <a:effectLst>
            <a:outerShdw sx="100000" sy="100000" kx="0" ky="0" algn="bl" rotWithShape="0" blurRad="127000" dist="38100" dir="5400000">
              <a:srgbClr val="000000">
                <a:alpha val="35000"/>
              </a:srgbClr>
            </a:outerShdw>
          </a:effectLst>
        </p:spPr>
      </p:sp>
      <p:sp>
        <p:nvSpPr>
          <p:cNvPr id="15" name="Text 12"/>
          <p:cNvSpPr txBox="1"/>
          <p:nvPr/>
        </p:nvSpPr>
        <p:spPr>
          <a:xfrm>
            <a:off x="9710928" y="3090672"/>
            <a:ext cx="1883664" cy="640080"/>
          </a:xfrm>
          <a:prstGeom prst="rect">
            <a:avLst/>
          </a:prstGeom>
          <a:noFill/>
          <a:ln/>
        </p:spPr>
        <p:txBody>
          <a:bodyPr wrap="square" lIns="0" tIns="0" rIns="0" bIns="0" rtlCol="0" anchor="ctr"/>
          <a:lstStyle/>
          <a:p>
            <a:pPr algn="ctr" indent="0" marL="0">
              <a:buNone/>
            </a:pPr>
            <a:r>
              <a:rPr lang="en-US" sz="2200" b="1" dirty="0">
                <a:solidFill>
                  <a:srgbClr val="22D3EE"/>
                </a:solidFill>
                <a:latin typeface="Courier New" pitchFamily="34" charset="0"/>
                <a:ea typeface="Courier New" pitchFamily="34" charset="-122"/>
                <a:cs typeface="Courier New" pitchFamily="34" charset="-120"/>
              </a:rPr>
              <a:t>$100K–$10M+</a:t>
            </a:r>
            <a:endParaRPr lang="en-US" sz="2200" dirty="0"/>
          </a:p>
        </p:txBody>
      </p:sp>
      <p:sp>
        <p:nvSpPr>
          <p:cNvPr id="16" name="Text 13"/>
          <p:cNvSpPr txBox="1"/>
          <p:nvPr/>
        </p:nvSpPr>
        <p:spPr>
          <a:xfrm>
            <a:off x="9738360" y="3749040"/>
            <a:ext cx="1828800" cy="658368"/>
          </a:xfrm>
          <a:prstGeom prst="rect">
            <a:avLst/>
          </a:prstGeom>
          <a:noFill/>
          <a:ln/>
        </p:spPr>
        <p:txBody>
          <a:bodyPr wrap="square" lIns="0" tIns="0" rIns="0" bIns="0" rtlCol="0" anchor="ctr"/>
          <a:lstStyle/>
          <a:p>
            <a:pPr algn="ctr" indent="0" marL="0">
              <a:lnSpc>
                <a:spcPct val="95000"/>
              </a:lnSpc>
              <a:buNone/>
            </a:pPr>
            <a:r>
              <a:rPr lang="en-US" sz="1150" dirty="0">
                <a:solidFill>
                  <a:srgbClr val="0B2A45"/>
                </a:solidFill>
                <a:latin typeface="Arial" pitchFamily="34" charset="0"/>
                <a:ea typeface="Arial" pitchFamily="34" charset="-122"/>
                <a:cs typeface="Arial" pitchFamily="34" charset="-120"/>
              </a:rPr>
              <a:t>estimated cost (contemporary estimates)</a:t>
            </a:r>
            <a:endParaRPr lang="en-US" sz="1150" dirty="0"/>
          </a:p>
        </p:txBody>
      </p:sp>
      <p:sp>
        <p:nvSpPr>
          <p:cNvPr id="17" name="Shape 14"/>
          <p:cNvSpPr/>
          <p:nvPr/>
        </p:nvSpPr>
        <p:spPr>
          <a:xfrm>
            <a:off x="5047488" y="4864608"/>
            <a:ext cx="109728" cy="109728"/>
          </a:xfrm>
          <a:prstGeom prst="ellipse">
            <a:avLst/>
          </a:prstGeom>
          <a:solidFill>
            <a:srgbClr val="22D3EE"/>
          </a:solidFill>
          <a:ln/>
        </p:spPr>
      </p:sp>
      <p:sp>
        <p:nvSpPr>
          <p:cNvPr id="18" name="Text 15"/>
          <p:cNvSpPr txBox="1"/>
          <p:nvPr/>
        </p:nvSpPr>
        <p:spPr>
          <a:xfrm>
            <a:off x="5349240" y="4745736"/>
            <a:ext cx="6217920" cy="457200"/>
          </a:xfrm>
          <a:prstGeom prst="rect">
            <a:avLst/>
          </a:prstGeom>
          <a:noFill/>
          <a:ln/>
        </p:spPr>
        <p:txBody>
          <a:bodyPr wrap="square" lIns="0" tIns="0" rIns="0" bIns="0" rtlCol="0" anchor="ctr"/>
          <a:lstStyle/>
          <a:p>
            <a:pPr indent="0" marL="0">
              <a:buNone/>
            </a:pPr>
            <a:r>
              <a:rPr lang="en-US" sz="1300" dirty="0">
                <a:solidFill>
                  <a:srgbClr val="EAF4FB"/>
                </a:solidFill>
                <a:latin typeface="Arial" pitchFamily="34" charset="0"/>
                <a:ea typeface="Arial" pitchFamily="34" charset="-122"/>
                <a:cs typeface="Arial" pitchFamily="34" charset="-120"/>
              </a:rPr>
              <a:t>Universities, NASA sites and research laboratories were among those affected.</a:t>
            </a:r>
            <a:endParaRPr lang="en-US" sz="1300" dirty="0"/>
          </a:p>
        </p:txBody>
      </p:sp>
      <p:sp>
        <p:nvSpPr>
          <p:cNvPr id="19" name="Shape 16"/>
          <p:cNvSpPr/>
          <p:nvPr/>
        </p:nvSpPr>
        <p:spPr>
          <a:xfrm>
            <a:off x="5047488" y="5367528"/>
            <a:ext cx="109728" cy="109728"/>
          </a:xfrm>
          <a:prstGeom prst="ellipse">
            <a:avLst/>
          </a:prstGeom>
          <a:solidFill>
            <a:srgbClr val="22D3EE"/>
          </a:solidFill>
          <a:ln/>
        </p:spPr>
      </p:sp>
      <p:sp>
        <p:nvSpPr>
          <p:cNvPr id="20" name="Text 17"/>
          <p:cNvSpPr txBox="1"/>
          <p:nvPr/>
        </p:nvSpPr>
        <p:spPr>
          <a:xfrm>
            <a:off x="5349240" y="5248656"/>
            <a:ext cx="6217920" cy="457200"/>
          </a:xfrm>
          <a:prstGeom prst="rect">
            <a:avLst/>
          </a:prstGeom>
          <a:noFill/>
          <a:ln/>
        </p:spPr>
        <p:txBody>
          <a:bodyPr wrap="square" lIns="0" tIns="0" rIns="0" bIns="0" rtlCol="0" anchor="ctr"/>
          <a:lstStyle/>
          <a:p>
            <a:pPr indent="0" marL="0">
              <a:buNone/>
            </a:pPr>
            <a:r>
              <a:rPr lang="en-US" sz="1300" dirty="0">
                <a:solidFill>
                  <a:srgbClr val="EAF4FB"/>
                </a:solidFill>
                <a:latin typeface="Arial" pitchFamily="34" charset="0"/>
                <a:ea typeface="Arial" pitchFamily="34" charset="-122"/>
                <a:cs typeface="Arial" pitchFamily="34" charset="-120"/>
              </a:rPr>
              <a:t>Computers slowed sharply, email was delayed, and research work was interrupted.</a:t>
            </a:r>
            <a:endParaRPr lang="en-US" sz="1300" dirty="0"/>
          </a:p>
        </p:txBody>
      </p:sp>
      <p:sp>
        <p:nvSpPr>
          <p:cNvPr id="21" name="Shape 18"/>
          <p:cNvSpPr/>
          <p:nvPr/>
        </p:nvSpPr>
        <p:spPr>
          <a:xfrm>
            <a:off x="5047488" y="5870448"/>
            <a:ext cx="109728" cy="109728"/>
          </a:xfrm>
          <a:prstGeom prst="ellipse">
            <a:avLst/>
          </a:prstGeom>
          <a:solidFill>
            <a:srgbClr val="22D3EE"/>
          </a:solidFill>
          <a:ln/>
        </p:spPr>
      </p:sp>
      <p:sp>
        <p:nvSpPr>
          <p:cNvPr id="22" name="Text 19"/>
          <p:cNvSpPr txBox="1"/>
          <p:nvPr/>
        </p:nvSpPr>
        <p:spPr>
          <a:xfrm>
            <a:off x="5349240" y="5751576"/>
            <a:ext cx="6217920" cy="457200"/>
          </a:xfrm>
          <a:prstGeom prst="rect">
            <a:avLst/>
          </a:prstGeom>
          <a:noFill/>
          <a:ln/>
        </p:spPr>
        <p:txBody>
          <a:bodyPr wrap="square" lIns="0" tIns="0" rIns="0" bIns="0" rtlCol="0" anchor="ctr"/>
          <a:lstStyle/>
          <a:p>
            <a:pPr indent="0" marL="0">
              <a:buNone/>
            </a:pPr>
            <a:r>
              <a:rPr lang="en-US" sz="1300" dirty="0">
                <a:solidFill>
                  <a:srgbClr val="EAF4FB"/>
                </a:solidFill>
                <a:latin typeface="Arial" pitchFamily="34" charset="0"/>
                <a:ea typeface="Arial" pitchFamily="34" charset="-122"/>
                <a:cs typeface="Arial" pitchFamily="34" charset="-120"/>
              </a:rPr>
              <a:t>Figures are contemporary estimates, not an exact final census.</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11430000" y="6400800"/>
            <a:ext cx="548640" cy="320040"/>
          </a:xfrm>
          <a:prstGeom prst="rect">
            <a:avLst/>
          </a:prstGeom>
          <a:noFill/>
          <a:ln/>
        </p:spPr>
        <p:txBody>
          <a:bodyPr wrap="square" lIns="0" tIns="0" rIns="0" bIns="0" rtlCol="0" anchor="ctr"/>
          <a:lstStyle/>
          <a:p>
            <a:pPr algn="r" indent="0" marL="0">
              <a:buNone/>
            </a:pPr>
            <a:r>
              <a:rPr lang="en-US" sz="1100" dirty="0">
                <a:solidFill>
                  <a:srgbClr val="94A3B8"/>
                </a:solidFill>
                <a:latin typeface="Courier New" pitchFamily="34" charset="0"/>
                <a:ea typeface="Courier New" pitchFamily="34" charset="-122"/>
                <a:cs typeface="Courier New" pitchFamily="34" charset="-120"/>
              </a:rPr>
              <a:t>9</a:t>
            </a:r>
            <a:endParaRPr lang="en-US" sz="1100" dirty="0"/>
          </a:p>
        </p:txBody>
      </p:sp>
      <p:sp>
        <p:nvSpPr>
          <p:cNvPr id="3" name="Text 1"/>
          <p:cNvSpPr txBox="1"/>
          <p:nvPr/>
        </p:nvSpPr>
        <p:spPr>
          <a:xfrm>
            <a:off x="685800" y="502920"/>
            <a:ext cx="5486400" cy="292608"/>
          </a:xfrm>
          <a:prstGeom prst="rect">
            <a:avLst/>
          </a:prstGeom>
          <a:noFill/>
          <a:ln/>
        </p:spPr>
        <p:txBody>
          <a:bodyPr wrap="square" lIns="0" tIns="0" rIns="0" bIns="0" rtlCol="0" anchor="ctr"/>
          <a:lstStyle/>
          <a:p>
            <a:pPr indent="0" marL="0">
              <a:buNone/>
            </a:pPr>
            <a:r>
              <a:rPr lang="en-US" sz="1250" spc="250" kern="0" dirty="0">
                <a:solidFill>
                  <a:srgbClr val="22D3EE"/>
                </a:solidFill>
                <a:latin typeface="Courier New" pitchFamily="34" charset="0"/>
                <a:ea typeface="Courier New" pitchFamily="34" charset="-122"/>
                <a:cs typeface="Courier New" pitchFamily="34" charset="-120"/>
              </a:rPr>
              <a:t>THE RESPONSE</a:t>
            </a:r>
            <a:endParaRPr lang="en-US" sz="1250" dirty="0"/>
          </a:p>
        </p:txBody>
      </p:sp>
      <p:sp>
        <p:nvSpPr>
          <p:cNvPr id="4" name="Text 2"/>
          <p:cNvSpPr txBox="1"/>
          <p:nvPr/>
        </p:nvSpPr>
        <p:spPr>
          <a:xfrm>
            <a:off x="685800" y="822960"/>
            <a:ext cx="10789920" cy="1097280"/>
          </a:xfrm>
          <a:prstGeom prst="rect">
            <a:avLst/>
          </a:prstGeom>
          <a:noFill/>
          <a:ln/>
        </p:spPr>
        <p:txBody>
          <a:bodyPr wrap="square" lIns="0" tIns="0" rIns="0" bIns="0" rtlCol="0" anchor="ctr"/>
          <a:lstStyle/>
          <a:p>
            <a:pPr indent="0" marL="0">
              <a:lnSpc>
                <a:spcPct val="98000"/>
              </a:lnSpc>
              <a:buNone/>
            </a:pPr>
            <a:r>
              <a:rPr lang="en-US" sz="3800" b="1" dirty="0">
                <a:solidFill>
                  <a:srgbClr val="FFFFFF"/>
                </a:solidFill>
                <a:latin typeface="Arial" pitchFamily="34" charset="0"/>
                <a:ea typeface="Arial" pitchFamily="34" charset="-122"/>
                <a:cs typeface="Arial" pitchFamily="34" charset="-120"/>
              </a:rPr>
              <a:t>Detection and response</a:t>
            </a:r>
            <a:endParaRPr lang="en-US" sz="3800" dirty="0"/>
          </a:p>
        </p:txBody>
      </p:sp>
      <p:sp>
        <p:nvSpPr>
          <p:cNvPr id="5" name="Text 3"/>
          <p:cNvSpPr txBox="1"/>
          <p:nvPr/>
        </p:nvSpPr>
        <p:spPr>
          <a:xfrm>
            <a:off x="685800" y="1737360"/>
            <a:ext cx="10789920" cy="502920"/>
          </a:xfrm>
          <a:prstGeom prst="rect">
            <a:avLst/>
          </a:prstGeom>
          <a:noFill/>
          <a:ln/>
        </p:spPr>
        <p:txBody>
          <a:bodyPr wrap="square" lIns="0" tIns="0" rIns="0" bIns="0" rtlCol="0" anchor="ctr"/>
          <a:lstStyle/>
          <a:p>
            <a:pPr indent="0" marL="0">
              <a:buNone/>
            </a:pPr>
            <a:r>
              <a:rPr lang="en-US" sz="1450" dirty="0">
                <a:solidFill>
                  <a:srgbClr val="EAF4FB"/>
                </a:solidFill>
                <a:latin typeface="Arial" pitchFamily="34" charset="0"/>
                <a:ea typeface="Arial" pitchFamily="34" charset="-122"/>
                <a:cs typeface="Arial" pitchFamily="34" charset="-120"/>
              </a:rPr>
              <a:t>With no formal incident-response system in place, administrators and researchers across sites improvised a coordinated defence.</a:t>
            </a:r>
            <a:endParaRPr lang="en-US" sz="1450" dirty="0"/>
          </a:p>
        </p:txBody>
      </p:sp>
      <p:sp>
        <p:nvSpPr>
          <p:cNvPr id="6" name="Shape 4"/>
          <p:cNvSpPr/>
          <p:nvPr/>
        </p:nvSpPr>
        <p:spPr>
          <a:xfrm>
            <a:off x="685800" y="2514600"/>
            <a:ext cx="1965960" cy="2651760"/>
          </a:xfrm>
          <a:prstGeom prst="roundRect">
            <a:avLst>
              <a:gd name="adj" fmla="val 4651"/>
            </a:avLst>
          </a:prstGeom>
          <a:solidFill>
            <a:srgbClr val="EAF4FB"/>
          </a:solidFill>
          <a:ln/>
          <a:effectLst>
            <a:outerShdw sx="100000" sy="100000" kx="0" ky="0" algn="bl" rotWithShape="0" blurRad="127000" dist="38100" dir="5400000">
              <a:srgbClr val="000000">
                <a:alpha val="35000"/>
              </a:srgbClr>
            </a:outerShdw>
          </a:effectLst>
        </p:spPr>
      </p:sp>
      <p:sp>
        <p:nvSpPr>
          <p:cNvPr id="7" name="Shape 5"/>
          <p:cNvSpPr/>
          <p:nvPr/>
        </p:nvSpPr>
        <p:spPr>
          <a:xfrm>
            <a:off x="1303020" y="2788920"/>
            <a:ext cx="731520" cy="731520"/>
          </a:xfrm>
          <a:prstGeom prst="ellipse">
            <a:avLst/>
          </a:prstGeom>
          <a:solidFill>
            <a:srgbClr val="22D3EE"/>
          </a:solidFill>
          <a:ln/>
        </p:spPr>
      </p:sp>
      <p:pic>
        <p:nvPicPr>
          <p:cNvPr id="8" name="Image 0" descr="assets/icons/eye.png">    </p:cNvPr>
          <p:cNvPicPr>
            <a:picLocks noChangeAspect="1"/>
          </p:cNvPicPr>
          <p:nvPr/>
        </p:nvPicPr>
        <p:blipFill>
          <a:blip r:embed="rId2"/>
          <a:stretch>
            <a:fillRect/>
          </a:stretch>
        </p:blipFill>
        <p:spPr>
          <a:xfrm>
            <a:off x="1507846" y="2993746"/>
            <a:ext cx="321869" cy="321869"/>
          </a:xfrm>
          <a:prstGeom prst="rect">
            <a:avLst/>
          </a:prstGeom>
        </p:spPr>
      </p:pic>
      <p:sp>
        <p:nvSpPr>
          <p:cNvPr id="9" name="Text 6"/>
          <p:cNvSpPr txBox="1"/>
          <p:nvPr/>
        </p:nvSpPr>
        <p:spPr>
          <a:xfrm>
            <a:off x="777240" y="3611880"/>
            <a:ext cx="1783080" cy="365760"/>
          </a:xfrm>
          <a:prstGeom prst="rect">
            <a:avLst/>
          </a:prstGeom>
          <a:noFill/>
          <a:ln/>
        </p:spPr>
        <p:txBody>
          <a:bodyPr wrap="square" lIns="0" tIns="0" rIns="0" bIns="0" rtlCol="0" anchor="ctr"/>
          <a:lstStyle/>
          <a:p>
            <a:pPr algn="ctr" indent="0" marL="0">
              <a:buNone/>
            </a:pPr>
            <a:r>
              <a:rPr lang="en-US" sz="1500" b="1" dirty="0">
                <a:solidFill>
                  <a:srgbClr val="0B2A45"/>
                </a:solidFill>
                <a:latin typeface="Arial" pitchFamily="34" charset="0"/>
                <a:ea typeface="Arial" pitchFamily="34" charset="-122"/>
                <a:cs typeface="Arial" pitchFamily="34" charset="-120"/>
              </a:rPr>
              <a:t>Detect</a:t>
            </a:r>
            <a:endParaRPr lang="en-US" sz="1500" dirty="0"/>
          </a:p>
        </p:txBody>
      </p:sp>
      <p:sp>
        <p:nvSpPr>
          <p:cNvPr id="10" name="Text 7"/>
          <p:cNvSpPr txBox="1"/>
          <p:nvPr/>
        </p:nvSpPr>
        <p:spPr>
          <a:xfrm>
            <a:off x="850392" y="4023360"/>
            <a:ext cx="1636776" cy="1005840"/>
          </a:xfrm>
          <a:prstGeom prst="rect">
            <a:avLst/>
          </a:prstGeom>
          <a:noFill/>
          <a:ln/>
        </p:spPr>
        <p:txBody>
          <a:bodyPr wrap="square" lIns="0" tIns="0" rIns="0" bIns="0" rtlCol="0" anchor="ctr"/>
          <a:lstStyle/>
          <a:p>
            <a:pPr algn="ctr" indent="0" marL="0">
              <a:lnSpc>
                <a:spcPct val="100000"/>
              </a:lnSpc>
              <a:buNone/>
            </a:pPr>
            <a:r>
              <a:rPr lang="en-US" sz="1150" dirty="0">
                <a:solidFill>
                  <a:srgbClr val="475569"/>
                </a:solidFill>
                <a:latin typeface="Arial" pitchFamily="34" charset="0"/>
                <a:ea typeface="Arial" pitchFamily="34" charset="-122"/>
                <a:cs typeface="Arial" pitchFamily="34" charset="-120"/>
              </a:rPr>
              <a:t>Spot unusual load, duplicate processes and odd network traffic.</a:t>
            </a:r>
            <a:endParaRPr lang="en-US" sz="1150" dirty="0"/>
          </a:p>
        </p:txBody>
      </p:sp>
      <p:sp>
        <p:nvSpPr>
          <p:cNvPr id="11" name="Text 8"/>
          <p:cNvSpPr txBox="1"/>
          <p:nvPr/>
        </p:nvSpPr>
        <p:spPr>
          <a:xfrm>
            <a:off x="2569464" y="2834640"/>
            <a:ext cx="411480" cy="365760"/>
          </a:xfrm>
          <a:prstGeom prst="rect">
            <a:avLst/>
          </a:prstGeom>
          <a:noFill/>
          <a:ln/>
        </p:spPr>
        <p:txBody>
          <a:bodyPr wrap="square" lIns="0" tIns="0" rIns="0" bIns="0" rtlCol="0" anchor="ctr"/>
          <a:lstStyle/>
          <a:p>
            <a:pPr algn="ctr" indent="0" marL="0">
              <a:buNone/>
            </a:pPr>
            <a:r>
              <a:rPr lang="en-US" sz="2200" b="1" dirty="0">
                <a:solidFill>
                  <a:srgbClr val="22D3EE"/>
                </a:solidFill>
                <a:latin typeface="Arial" pitchFamily="34" charset="0"/>
                <a:ea typeface="Arial" pitchFamily="34" charset="-122"/>
                <a:cs typeface="Arial" pitchFamily="34" charset="-120"/>
              </a:rPr>
              <a:t>→</a:t>
            </a:r>
            <a:endParaRPr lang="en-US" sz="2200" dirty="0"/>
          </a:p>
        </p:txBody>
      </p:sp>
      <p:sp>
        <p:nvSpPr>
          <p:cNvPr id="12" name="Shape 9"/>
          <p:cNvSpPr/>
          <p:nvPr/>
        </p:nvSpPr>
        <p:spPr>
          <a:xfrm>
            <a:off x="2898648" y="2514600"/>
            <a:ext cx="1965960" cy="2651760"/>
          </a:xfrm>
          <a:prstGeom prst="roundRect">
            <a:avLst>
              <a:gd name="adj" fmla="val 4651"/>
            </a:avLst>
          </a:prstGeom>
          <a:solidFill>
            <a:srgbClr val="EAF4FB"/>
          </a:solidFill>
          <a:ln/>
          <a:effectLst>
            <a:outerShdw sx="100000" sy="100000" kx="0" ky="0" algn="bl" rotWithShape="0" blurRad="127000" dist="38100" dir="5400000">
              <a:srgbClr val="000000">
                <a:alpha val="35000"/>
              </a:srgbClr>
            </a:outerShdw>
          </a:effectLst>
        </p:spPr>
      </p:sp>
      <p:sp>
        <p:nvSpPr>
          <p:cNvPr id="13" name="Shape 10"/>
          <p:cNvSpPr/>
          <p:nvPr/>
        </p:nvSpPr>
        <p:spPr>
          <a:xfrm>
            <a:off x="3515868" y="2788920"/>
            <a:ext cx="731520" cy="731520"/>
          </a:xfrm>
          <a:prstGeom prst="ellipse">
            <a:avLst/>
          </a:prstGeom>
          <a:solidFill>
            <a:srgbClr val="22D3EE"/>
          </a:solidFill>
          <a:ln/>
        </p:spPr>
      </p:sp>
      <p:pic>
        <p:nvPicPr>
          <p:cNvPr id="14" name="Image 1" descr="assets/icons/slash.png">    </p:cNvPr>
          <p:cNvPicPr>
            <a:picLocks noChangeAspect="1"/>
          </p:cNvPicPr>
          <p:nvPr/>
        </p:nvPicPr>
        <p:blipFill>
          <a:blip r:embed="rId3"/>
          <a:stretch>
            <a:fillRect/>
          </a:stretch>
        </p:blipFill>
        <p:spPr>
          <a:xfrm>
            <a:off x="3720694" y="2993746"/>
            <a:ext cx="321869" cy="321869"/>
          </a:xfrm>
          <a:prstGeom prst="rect">
            <a:avLst/>
          </a:prstGeom>
        </p:spPr>
      </p:pic>
      <p:sp>
        <p:nvSpPr>
          <p:cNvPr id="15" name="Text 11"/>
          <p:cNvSpPr txBox="1"/>
          <p:nvPr/>
        </p:nvSpPr>
        <p:spPr>
          <a:xfrm>
            <a:off x="2990088" y="3611880"/>
            <a:ext cx="1783080" cy="365760"/>
          </a:xfrm>
          <a:prstGeom prst="rect">
            <a:avLst/>
          </a:prstGeom>
          <a:noFill/>
          <a:ln/>
        </p:spPr>
        <p:txBody>
          <a:bodyPr wrap="square" lIns="0" tIns="0" rIns="0" bIns="0" rtlCol="0" anchor="ctr"/>
          <a:lstStyle/>
          <a:p>
            <a:pPr algn="ctr" indent="0" marL="0">
              <a:buNone/>
            </a:pPr>
            <a:r>
              <a:rPr lang="en-US" sz="1500" b="1" dirty="0">
                <a:solidFill>
                  <a:srgbClr val="0B2A45"/>
                </a:solidFill>
                <a:latin typeface="Arial" pitchFamily="34" charset="0"/>
                <a:ea typeface="Arial" pitchFamily="34" charset="-122"/>
                <a:cs typeface="Arial" pitchFamily="34" charset="-120"/>
              </a:rPr>
              <a:t>Isolate</a:t>
            </a:r>
            <a:endParaRPr lang="en-US" sz="1500" dirty="0"/>
          </a:p>
        </p:txBody>
      </p:sp>
      <p:sp>
        <p:nvSpPr>
          <p:cNvPr id="16" name="Text 12"/>
          <p:cNvSpPr txBox="1"/>
          <p:nvPr/>
        </p:nvSpPr>
        <p:spPr>
          <a:xfrm>
            <a:off x="3063240" y="4023360"/>
            <a:ext cx="1636776" cy="1005840"/>
          </a:xfrm>
          <a:prstGeom prst="rect">
            <a:avLst/>
          </a:prstGeom>
          <a:noFill/>
          <a:ln/>
        </p:spPr>
        <p:txBody>
          <a:bodyPr wrap="square" lIns="0" tIns="0" rIns="0" bIns="0" rtlCol="0" anchor="ctr"/>
          <a:lstStyle/>
          <a:p>
            <a:pPr algn="ctr" indent="0" marL="0">
              <a:lnSpc>
                <a:spcPct val="100000"/>
              </a:lnSpc>
              <a:buNone/>
            </a:pPr>
            <a:r>
              <a:rPr lang="en-US" sz="1150" dirty="0">
                <a:solidFill>
                  <a:srgbClr val="475569"/>
                </a:solidFill>
                <a:latin typeface="Arial" pitchFamily="34" charset="0"/>
                <a:ea typeface="Arial" pitchFamily="34" charset="-122"/>
                <a:cs typeface="Arial" pitchFamily="34" charset="-120"/>
              </a:rPr>
              <a:t>Disconnect or quarantine affected machines from the network.</a:t>
            </a:r>
            <a:endParaRPr lang="en-US" sz="1150" dirty="0"/>
          </a:p>
        </p:txBody>
      </p:sp>
      <p:sp>
        <p:nvSpPr>
          <p:cNvPr id="17" name="Text 13"/>
          <p:cNvSpPr txBox="1"/>
          <p:nvPr/>
        </p:nvSpPr>
        <p:spPr>
          <a:xfrm>
            <a:off x="4782312" y="2834640"/>
            <a:ext cx="411480" cy="365760"/>
          </a:xfrm>
          <a:prstGeom prst="rect">
            <a:avLst/>
          </a:prstGeom>
          <a:noFill/>
          <a:ln/>
        </p:spPr>
        <p:txBody>
          <a:bodyPr wrap="square" lIns="0" tIns="0" rIns="0" bIns="0" rtlCol="0" anchor="ctr"/>
          <a:lstStyle/>
          <a:p>
            <a:pPr algn="ctr" indent="0" marL="0">
              <a:buNone/>
            </a:pPr>
            <a:r>
              <a:rPr lang="en-US" sz="2200" b="1" dirty="0">
                <a:solidFill>
                  <a:srgbClr val="22D3EE"/>
                </a:solidFill>
                <a:latin typeface="Arial" pitchFamily="34" charset="0"/>
                <a:ea typeface="Arial" pitchFamily="34" charset="-122"/>
                <a:cs typeface="Arial" pitchFamily="34" charset="-120"/>
              </a:rPr>
              <a:t>→</a:t>
            </a:r>
            <a:endParaRPr lang="en-US" sz="2200" dirty="0"/>
          </a:p>
        </p:txBody>
      </p:sp>
      <p:sp>
        <p:nvSpPr>
          <p:cNvPr id="18" name="Shape 14"/>
          <p:cNvSpPr/>
          <p:nvPr/>
        </p:nvSpPr>
        <p:spPr>
          <a:xfrm>
            <a:off x="5111496" y="2514600"/>
            <a:ext cx="1965960" cy="2651760"/>
          </a:xfrm>
          <a:prstGeom prst="roundRect">
            <a:avLst>
              <a:gd name="adj" fmla="val 4651"/>
            </a:avLst>
          </a:prstGeom>
          <a:solidFill>
            <a:srgbClr val="EAF4FB"/>
          </a:solidFill>
          <a:ln/>
          <a:effectLst>
            <a:outerShdw sx="100000" sy="100000" kx="0" ky="0" algn="bl" rotWithShape="0" blurRad="127000" dist="38100" dir="5400000">
              <a:srgbClr val="000000">
                <a:alpha val="35000"/>
              </a:srgbClr>
            </a:outerShdw>
          </a:effectLst>
        </p:spPr>
      </p:sp>
      <p:sp>
        <p:nvSpPr>
          <p:cNvPr id="19" name="Shape 15"/>
          <p:cNvSpPr/>
          <p:nvPr/>
        </p:nvSpPr>
        <p:spPr>
          <a:xfrm>
            <a:off x="5728716" y="2788920"/>
            <a:ext cx="731520" cy="731520"/>
          </a:xfrm>
          <a:prstGeom prst="ellipse">
            <a:avLst/>
          </a:prstGeom>
          <a:solidFill>
            <a:srgbClr val="22D3EE"/>
          </a:solidFill>
          <a:ln/>
        </p:spPr>
      </p:sp>
      <p:pic>
        <p:nvPicPr>
          <p:cNvPr id="20" name="Image 2" descr="assets/icons/search.png">    </p:cNvPr>
          <p:cNvPicPr>
            <a:picLocks noChangeAspect="1"/>
          </p:cNvPicPr>
          <p:nvPr/>
        </p:nvPicPr>
        <p:blipFill>
          <a:blip r:embed="rId4"/>
          <a:stretch>
            <a:fillRect/>
          </a:stretch>
        </p:blipFill>
        <p:spPr>
          <a:xfrm>
            <a:off x="5933542" y="2993746"/>
            <a:ext cx="321869" cy="321869"/>
          </a:xfrm>
          <a:prstGeom prst="rect">
            <a:avLst/>
          </a:prstGeom>
        </p:spPr>
      </p:pic>
      <p:sp>
        <p:nvSpPr>
          <p:cNvPr id="21" name="Text 16"/>
          <p:cNvSpPr txBox="1"/>
          <p:nvPr/>
        </p:nvSpPr>
        <p:spPr>
          <a:xfrm>
            <a:off x="5202936" y="3611880"/>
            <a:ext cx="1783080" cy="365760"/>
          </a:xfrm>
          <a:prstGeom prst="rect">
            <a:avLst/>
          </a:prstGeom>
          <a:noFill/>
          <a:ln/>
        </p:spPr>
        <p:txBody>
          <a:bodyPr wrap="square" lIns="0" tIns="0" rIns="0" bIns="0" rtlCol="0" anchor="ctr"/>
          <a:lstStyle/>
          <a:p>
            <a:pPr algn="ctr" indent="0" marL="0">
              <a:buNone/>
            </a:pPr>
            <a:r>
              <a:rPr lang="en-US" sz="1500" b="1" dirty="0">
                <a:solidFill>
                  <a:srgbClr val="0B2A45"/>
                </a:solidFill>
                <a:latin typeface="Arial" pitchFamily="34" charset="0"/>
                <a:ea typeface="Arial" pitchFamily="34" charset="-122"/>
                <a:cs typeface="Arial" pitchFamily="34" charset="-120"/>
              </a:rPr>
              <a:t>Analyze</a:t>
            </a:r>
            <a:endParaRPr lang="en-US" sz="1500" dirty="0"/>
          </a:p>
        </p:txBody>
      </p:sp>
      <p:sp>
        <p:nvSpPr>
          <p:cNvPr id="22" name="Text 17"/>
          <p:cNvSpPr txBox="1"/>
          <p:nvPr/>
        </p:nvSpPr>
        <p:spPr>
          <a:xfrm>
            <a:off x="5276088" y="4023360"/>
            <a:ext cx="1636776" cy="1005840"/>
          </a:xfrm>
          <a:prstGeom prst="rect">
            <a:avLst/>
          </a:prstGeom>
          <a:noFill/>
          <a:ln/>
        </p:spPr>
        <p:txBody>
          <a:bodyPr wrap="square" lIns="0" tIns="0" rIns="0" bIns="0" rtlCol="0" anchor="ctr"/>
          <a:lstStyle/>
          <a:p>
            <a:pPr algn="ctr" indent="0" marL="0">
              <a:lnSpc>
                <a:spcPct val="100000"/>
              </a:lnSpc>
              <a:buNone/>
            </a:pPr>
            <a:r>
              <a:rPr lang="en-US" sz="1150" dirty="0">
                <a:solidFill>
                  <a:srgbClr val="475569"/>
                </a:solidFill>
                <a:latin typeface="Arial" pitchFamily="34" charset="0"/>
                <a:ea typeface="Arial" pitchFamily="34" charset="-122"/>
                <a:cs typeface="Arial" pitchFamily="34" charset="-120"/>
              </a:rPr>
              <a:t>Researchers reverse-engineer the code and share findings.</a:t>
            </a:r>
            <a:endParaRPr lang="en-US" sz="1150" dirty="0"/>
          </a:p>
        </p:txBody>
      </p:sp>
      <p:sp>
        <p:nvSpPr>
          <p:cNvPr id="23" name="Text 18"/>
          <p:cNvSpPr txBox="1"/>
          <p:nvPr/>
        </p:nvSpPr>
        <p:spPr>
          <a:xfrm>
            <a:off x="6995160" y="2834640"/>
            <a:ext cx="411480" cy="365760"/>
          </a:xfrm>
          <a:prstGeom prst="rect">
            <a:avLst/>
          </a:prstGeom>
          <a:noFill/>
          <a:ln/>
        </p:spPr>
        <p:txBody>
          <a:bodyPr wrap="square" lIns="0" tIns="0" rIns="0" bIns="0" rtlCol="0" anchor="ctr"/>
          <a:lstStyle/>
          <a:p>
            <a:pPr algn="ctr" indent="0" marL="0">
              <a:buNone/>
            </a:pPr>
            <a:r>
              <a:rPr lang="en-US" sz="2200" b="1" dirty="0">
                <a:solidFill>
                  <a:srgbClr val="22D3EE"/>
                </a:solidFill>
                <a:latin typeface="Arial" pitchFamily="34" charset="0"/>
                <a:ea typeface="Arial" pitchFamily="34" charset="-122"/>
                <a:cs typeface="Arial" pitchFamily="34" charset="-120"/>
              </a:rPr>
              <a:t>→</a:t>
            </a:r>
            <a:endParaRPr lang="en-US" sz="2200" dirty="0"/>
          </a:p>
        </p:txBody>
      </p:sp>
      <p:sp>
        <p:nvSpPr>
          <p:cNvPr id="24" name="Shape 19"/>
          <p:cNvSpPr/>
          <p:nvPr/>
        </p:nvSpPr>
        <p:spPr>
          <a:xfrm>
            <a:off x="7324344" y="2514600"/>
            <a:ext cx="1965960" cy="2651760"/>
          </a:xfrm>
          <a:prstGeom prst="roundRect">
            <a:avLst>
              <a:gd name="adj" fmla="val 4651"/>
            </a:avLst>
          </a:prstGeom>
          <a:solidFill>
            <a:srgbClr val="EAF4FB"/>
          </a:solidFill>
          <a:ln/>
          <a:effectLst>
            <a:outerShdw sx="100000" sy="100000" kx="0" ky="0" algn="bl" rotWithShape="0" blurRad="127000" dist="38100" dir="5400000">
              <a:srgbClr val="000000">
                <a:alpha val="35000"/>
              </a:srgbClr>
            </a:outerShdw>
          </a:effectLst>
        </p:spPr>
      </p:sp>
      <p:sp>
        <p:nvSpPr>
          <p:cNvPr id="25" name="Shape 20"/>
          <p:cNvSpPr/>
          <p:nvPr/>
        </p:nvSpPr>
        <p:spPr>
          <a:xfrm>
            <a:off x="7941564" y="2788920"/>
            <a:ext cx="731520" cy="731520"/>
          </a:xfrm>
          <a:prstGeom prst="ellipse">
            <a:avLst/>
          </a:prstGeom>
          <a:solidFill>
            <a:srgbClr val="22D3EE"/>
          </a:solidFill>
          <a:ln/>
        </p:spPr>
      </p:sp>
      <p:pic>
        <p:nvPicPr>
          <p:cNvPr id="26" name="Image 3" descr="assets/icons/tool.png">    </p:cNvPr>
          <p:cNvPicPr>
            <a:picLocks noChangeAspect="1"/>
          </p:cNvPicPr>
          <p:nvPr/>
        </p:nvPicPr>
        <p:blipFill>
          <a:blip r:embed="rId5"/>
          <a:stretch>
            <a:fillRect/>
          </a:stretch>
        </p:blipFill>
        <p:spPr>
          <a:xfrm>
            <a:off x="8146390" y="2993746"/>
            <a:ext cx="321869" cy="321869"/>
          </a:xfrm>
          <a:prstGeom prst="rect">
            <a:avLst/>
          </a:prstGeom>
        </p:spPr>
      </p:pic>
      <p:sp>
        <p:nvSpPr>
          <p:cNvPr id="27" name="Text 21"/>
          <p:cNvSpPr txBox="1"/>
          <p:nvPr/>
        </p:nvSpPr>
        <p:spPr>
          <a:xfrm>
            <a:off x="7415784" y="3611880"/>
            <a:ext cx="1783080" cy="365760"/>
          </a:xfrm>
          <a:prstGeom prst="rect">
            <a:avLst/>
          </a:prstGeom>
          <a:noFill/>
          <a:ln/>
        </p:spPr>
        <p:txBody>
          <a:bodyPr wrap="square" lIns="0" tIns="0" rIns="0" bIns="0" rtlCol="0" anchor="ctr"/>
          <a:lstStyle/>
          <a:p>
            <a:pPr algn="ctr" indent="0" marL="0">
              <a:buNone/>
            </a:pPr>
            <a:r>
              <a:rPr lang="en-US" sz="1500" b="1" dirty="0">
                <a:solidFill>
                  <a:srgbClr val="0B2A45"/>
                </a:solidFill>
                <a:latin typeface="Arial" pitchFamily="34" charset="0"/>
                <a:ea typeface="Arial" pitchFamily="34" charset="-122"/>
                <a:cs typeface="Arial" pitchFamily="34" charset="-120"/>
              </a:rPr>
              <a:t>Clean / Patch</a:t>
            </a:r>
            <a:endParaRPr lang="en-US" sz="1500" dirty="0"/>
          </a:p>
        </p:txBody>
      </p:sp>
      <p:sp>
        <p:nvSpPr>
          <p:cNvPr id="28" name="Text 22"/>
          <p:cNvSpPr txBox="1"/>
          <p:nvPr/>
        </p:nvSpPr>
        <p:spPr>
          <a:xfrm>
            <a:off x="7488936" y="4023360"/>
            <a:ext cx="1636776" cy="1005840"/>
          </a:xfrm>
          <a:prstGeom prst="rect">
            <a:avLst/>
          </a:prstGeom>
          <a:noFill/>
          <a:ln/>
        </p:spPr>
        <p:txBody>
          <a:bodyPr wrap="square" lIns="0" tIns="0" rIns="0" bIns="0" rtlCol="0" anchor="ctr"/>
          <a:lstStyle/>
          <a:p>
            <a:pPr algn="ctr" indent="0" marL="0">
              <a:lnSpc>
                <a:spcPct val="100000"/>
              </a:lnSpc>
              <a:buNone/>
            </a:pPr>
            <a:r>
              <a:rPr lang="en-US" sz="1150" dirty="0">
                <a:solidFill>
                  <a:srgbClr val="475569"/>
                </a:solidFill>
                <a:latin typeface="Arial" pitchFamily="34" charset="0"/>
                <a:ea typeface="Arial" pitchFamily="34" charset="-122"/>
                <a:cs typeface="Arial" pitchFamily="34" charset="-120"/>
              </a:rPr>
              <a:t>Remove the worm and apply fixes to the exploited services.</a:t>
            </a:r>
            <a:endParaRPr lang="en-US" sz="1150" dirty="0"/>
          </a:p>
        </p:txBody>
      </p:sp>
      <p:sp>
        <p:nvSpPr>
          <p:cNvPr id="29" name="Text 23"/>
          <p:cNvSpPr txBox="1"/>
          <p:nvPr/>
        </p:nvSpPr>
        <p:spPr>
          <a:xfrm>
            <a:off x="9208008" y="2834640"/>
            <a:ext cx="411480" cy="365760"/>
          </a:xfrm>
          <a:prstGeom prst="rect">
            <a:avLst/>
          </a:prstGeom>
          <a:noFill/>
          <a:ln/>
        </p:spPr>
        <p:txBody>
          <a:bodyPr wrap="square" lIns="0" tIns="0" rIns="0" bIns="0" rtlCol="0" anchor="ctr"/>
          <a:lstStyle/>
          <a:p>
            <a:pPr algn="ctr" indent="0" marL="0">
              <a:buNone/>
            </a:pPr>
            <a:r>
              <a:rPr lang="en-US" sz="2200" b="1" dirty="0">
                <a:solidFill>
                  <a:srgbClr val="22D3EE"/>
                </a:solidFill>
                <a:latin typeface="Arial" pitchFamily="34" charset="0"/>
                <a:ea typeface="Arial" pitchFamily="34" charset="-122"/>
                <a:cs typeface="Arial" pitchFamily="34" charset="-120"/>
              </a:rPr>
              <a:t>→</a:t>
            </a:r>
            <a:endParaRPr lang="en-US" sz="2200" dirty="0"/>
          </a:p>
        </p:txBody>
      </p:sp>
      <p:sp>
        <p:nvSpPr>
          <p:cNvPr id="30" name="Shape 24"/>
          <p:cNvSpPr/>
          <p:nvPr/>
        </p:nvSpPr>
        <p:spPr>
          <a:xfrm>
            <a:off x="9537192" y="2514600"/>
            <a:ext cx="1965960" cy="2651760"/>
          </a:xfrm>
          <a:prstGeom prst="roundRect">
            <a:avLst>
              <a:gd name="adj" fmla="val 4651"/>
            </a:avLst>
          </a:prstGeom>
          <a:solidFill>
            <a:srgbClr val="EAF4FB"/>
          </a:solidFill>
          <a:ln/>
          <a:effectLst>
            <a:outerShdw sx="100000" sy="100000" kx="0" ky="0" algn="bl" rotWithShape="0" blurRad="127000" dist="38100" dir="5400000">
              <a:srgbClr val="000000">
                <a:alpha val="35000"/>
              </a:srgbClr>
            </a:outerShdw>
          </a:effectLst>
        </p:spPr>
      </p:sp>
      <p:sp>
        <p:nvSpPr>
          <p:cNvPr id="31" name="Shape 25"/>
          <p:cNvSpPr/>
          <p:nvPr/>
        </p:nvSpPr>
        <p:spPr>
          <a:xfrm>
            <a:off x="10154412" y="2788920"/>
            <a:ext cx="731520" cy="731520"/>
          </a:xfrm>
          <a:prstGeom prst="ellipse">
            <a:avLst/>
          </a:prstGeom>
          <a:solidFill>
            <a:srgbClr val="22D3EE"/>
          </a:solidFill>
          <a:ln/>
        </p:spPr>
      </p:sp>
      <p:pic>
        <p:nvPicPr>
          <p:cNvPr id="32" name="Image 4" descr="assets/icons/refresh.png">    </p:cNvPr>
          <p:cNvPicPr>
            <a:picLocks noChangeAspect="1"/>
          </p:cNvPicPr>
          <p:nvPr/>
        </p:nvPicPr>
        <p:blipFill>
          <a:blip r:embed="rId6"/>
          <a:stretch>
            <a:fillRect/>
          </a:stretch>
        </p:blipFill>
        <p:spPr>
          <a:xfrm>
            <a:off x="10359238" y="2993746"/>
            <a:ext cx="321869" cy="321869"/>
          </a:xfrm>
          <a:prstGeom prst="rect">
            <a:avLst/>
          </a:prstGeom>
        </p:spPr>
      </p:pic>
      <p:sp>
        <p:nvSpPr>
          <p:cNvPr id="33" name="Text 26"/>
          <p:cNvSpPr txBox="1"/>
          <p:nvPr/>
        </p:nvSpPr>
        <p:spPr>
          <a:xfrm>
            <a:off x="9628632" y="3611880"/>
            <a:ext cx="1783080" cy="365760"/>
          </a:xfrm>
          <a:prstGeom prst="rect">
            <a:avLst/>
          </a:prstGeom>
          <a:noFill/>
          <a:ln/>
        </p:spPr>
        <p:txBody>
          <a:bodyPr wrap="square" lIns="0" tIns="0" rIns="0" bIns="0" rtlCol="0" anchor="ctr"/>
          <a:lstStyle/>
          <a:p>
            <a:pPr algn="ctr" indent="0" marL="0">
              <a:buNone/>
            </a:pPr>
            <a:r>
              <a:rPr lang="en-US" sz="1500" b="1" dirty="0">
                <a:solidFill>
                  <a:srgbClr val="0B2A45"/>
                </a:solidFill>
                <a:latin typeface="Arial" pitchFamily="34" charset="0"/>
                <a:ea typeface="Arial" pitchFamily="34" charset="-122"/>
                <a:cs typeface="Arial" pitchFamily="34" charset="-120"/>
              </a:rPr>
              <a:t>Restore</a:t>
            </a:r>
            <a:endParaRPr lang="en-US" sz="1500" dirty="0"/>
          </a:p>
        </p:txBody>
      </p:sp>
      <p:sp>
        <p:nvSpPr>
          <p:cNvPr id="34" name="Text 27"/>
          <p:cNvSpPr txBox="1"/>
          <p:nvPr/>
        </p:nvSpPr>
        <p:spPr>
          <a:xfrm>
            <a:off x="9701784" y="4023360"/>
            <a:ext cx="1636776" cy="1005840"/>
          </a:xfrm>
          <a:prstGeom prst="rect">
            <a:avLst/>
          </a:prstGeom>
          <a:noFill/>
          <a:ln/>
        </p:spPr>
        <p:txBody>
          <a:bodyPr wrap="square" lIns="0" tIns="0" rIns="0" bIns="0" rtlCol="0" anchor="ctr"/>
          <a:lstStyle/>
          <a:p>
            <a:pPr algn="ctr" indent="0" marL="0">
              <a:lnSpc>
                <a:spcPct val="100000"/>
              </a:lnSpc>
              <a:buNone/>
            </a:pPr>
            <a:r>
              <a:rPr lang="en-US" sz="1150" dirty="0">
                <a:solidFill>
                  <a:srgbClr val="475569"/>
                </a:solidFill>
                <a:latin typeface="Arial" pitchFamily="34" charset="0"/>
                <a:ea typeface="Arial" pitchFamily="34" charset="-122"/>
                <a:cs typeface="Arial" pitchFamily="34" charset="-120"/>
              </a:rPr>
              <a:t>Bring systems back online and verify normal operation.</a:t>
            </a:r>
            <a:endParaRPr lang="en-US" sz="1150" dirty="0"/>
          </a:p>
        </p:txBody>
      </p:sp>
      <p:sp>
        <p:nvSpPr>
          <p:cNvPr id="35" name="Shape 28"/>
          <p:cNvSpPr/>
          <p:nvPr/>
        </p:nvSpPr>
        <p:spPr>
          <a:xfrm>
            <a:off x="685800" y="5486400"/>
            <a:ext cx="10817352" cy="685800"/>
          </a:xfrm>
          <a:prstGeom prst="roundRect">
            <a:avLst>
              <a:gd name="adj" fmla="val 10667"/>
            </a:avLst>
          </a:prstGeom>
          <a:solidFill>
            <a:srgbClr val="0B2A45"/>
          </a:solidFill>
          <a:ln/>
        </p:spPr>
      </p:sp>
      <p:sp>
        <p:nvSpPr>
          <p:cNvPr id="36" name="Text 29"/>
          <p:cNvSpPr txBox="1"/>
          <p:nvPr/>
        </p:nvSpPr>
        <p:spPr>
          <a:xfrm>
            <a:off x="960120" y="5559552"/>
            <a:ext cx="10332720" cy="548640"/>
          </a:xfrm>
          <a:prstGeom prst="rect">
            <a:avLst/>
          </a:prstGeom>
          <a:noFill/>
          <a:ln/>
        </p:spPr>
        <p:txBody>
          <a:bodyPr wrap="square" lIns="0" tIns="0" rIns="0" bIns="0" rtlCol="0" anchor="ctr"/>
          <a:lstStyle/>
          <a:p>
            <a:pPr indent="0" marL="0">
              <a:buNone/>
            </a:pPr>
            <a:r>
              <a:rPr lang="en-US" sz="1300" b="1" dirty="0">
                <a:solidFill>
                  <a:srgbClr val="22D3EE"/>
                </a:solidFill>
                <a:latin typeface="Arial" pitchFamily="34" charset="0"/>
                <a:ea typeface="Arial" pitchFamily="34" charset="-122"/>
                <a:cs typeface="Arial" pitchFamily="34" charset="-120"/>
              </a:rPr>
              <a:t>A community response.  </a:t>
            </a:r>
            <a:pPr indent="0" marL="0">
              <a:buNone/>
            </a:pPr>
            <a:r>
              <a:rPr lang="en-US" sz="1300" dirty="0">
                <a:solidFill>
                  <a:srgbClr val="EAF4FB"/>
                </a:solidFill>
                <a:latin typeface="Arial" pitchFamily="34" charset="0"/>
                <a:ea typeface="Arial" pitchFamily="34" charset="-122"/>
                <a:cs typeface="Arial" pitchFamily="34" charset="-120"/>
              </a:rPr>
              <a:t>Teams at Berkeley, MIT and other sites worked in parallel — this spirit of coordination led directly to the first Computer Emergency Response Team (CERT/CC).</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11430000" y="6400800"/>
            <a:ext cx="548640" cy="320040"/>
          </a:xfrm>
          <a:prstGeom prst="rect">
            <a:avLst/>
          </a:prstGeom>
          <a:noFill/>
          <a:ln/>
        </p:spPr>
        <p:txBody>
          <a:bodyPr wrap="square" lIns="0" tIns="0" rIns="0" bIns="0" rtlCol="0" anchor="ctr"/>
          <a:lstStyle/>
          <a:p>
            <a:pPr algn="r" indent="0" marL="0">
              <a:buNone/>
            </a:pPr>
            <a:r>
              <a:rPr lang="en-US" sz="1100" dirty="0">
                <a:solidFill>
                  <a:srgbClr val="94A3B8"/>
                </a:solidFill>
                <a:latin typeface="Courier New" pitchFamily="34" charset="0"/>
                <a:ea typeface="Courier New" pitchFamily="34" charset="-122"/>
                <a:cs typeface="Courier New" pitchFamily="34" charset="-120"/>
              </a:rPr>
              <a:t>10</a:t>
            </a:r>
            <a:endParaRPr lang="en-US" sz="1100" dirty="0"/>
          </a:p>
        </p:txBody>
      </p:sp>
      <p:sp>
        <p:nvSpPr>
          <p:cNvPr id="3" name="Text 1"/>
          <p:cNvSpPr txBox="1"/>
          <p:nvPr/>
        </p:nvSpPr>
        <p:spPr>
          <a:xfrm>
            <a:off x="685800" y="502920"/>
            <a:ext cx="5486400" cy="292608"/>
          </a:xfrm>
          <a:prstGeom prst="rect">
            <a:avLst/>
          </a:prstGeom>
          <a:noFill/>
          <a:ln/>
        </p:spPr>
        <p:txBody>
          <a:bodyPr wrap="square" lIns="0" tIns="0" rIns="0" bIns="0" rtlCol="0" anchor="ctr"/>
          <a:lstStyle/>
          <a:p>
            <a:pPr indent="0" marL="0">
              <a:buNone/>
            </a:pPr>
            <a:r>
              <a:rPr lang="en-US" sz="1250" spc="250" kern="0" dirty="0">
                <a:solidFill>
                  <a:srgbClr val="22D3EE"/>
                </a:solidFill>
                <a:latin typeface="Courier New" pitchFamily="34" charset="0"/>
                <a:ea typeface="Courier New" pitchFamily="34" charset="-122"/>
                <a:cs typeface="Courier New" pitchFamily="34" charset="-120"/>
              </a:rPr>
              <a:t>AFTERMATH</a:t>
            </a:r>
            <a:endParaRPr lang="en-US" sz="1250" dirty="0"/>
          </a:p>
        </p:txBody>
      </p:sp>
      <p:sp>
        <p:nvSpPr>
          <p:cNvPr id="4" name="Text 2"/>
          <p:cNvSpPr txBox="1"/>
          <p:nvPr/>
        </p:nvSpPr>
        <p:spPr>
          <a:xfrm>
            <a:off x="685800" y="822960"/>
            <a:ext cx="10789920" cy="1097280"/>
          </a:xfrm>
          <a:prstGeom prst="rect">
            <a:avLst/>
          </a:prstGeom>
          <a:noFill/>
          <a:ln/>
        </p:spPr>
        <p:txBody>
          <a:bodyPr wrap="square" lIns="0" tIns="0" rIns="0" bIns="0" rtlCol="0" anchor="ctr"/>
          <a:lstStyle/>
          <a:p>
            <a:pPr indent="0" marL="0">
              <a:lnSpc>
                <a:spcPct val="98000"/>
              </a:lnSpc>
              <a:buNone/>
            </a:pPr>
            <a:r>
              <a:rPr lang="en-US" sz="3400" b="1" dirty="0">
                <a:solidFill>
                  <a:srgbClr val="FFFFFF"/>
                </a:solidFill>
                <a:latin typeface="Arial" pitchFamily="34" charset="0"/>
                <a:ea typeface="Arial" pitchFamily="34" charset="-122"/>
                <a:cs typeface="Arial" pitchFamily="34" charset="-120"/>
              </a:rPr>
              <a:t>Legal and cybersecurity significance</a:t>
            </a:r>
            <a:endParaRPr lang="en-US" sz="3400" dirty="0"/>
          </a:p>
        </p:txBody>
      </p:sp>
      <p:sp>
        <p:nvSpPr>
          <p:cNvPr id="5" name="Shape 3"/>
          <p:cNvSpPr/>
          <p:nvPr/>
        </p:nvSpPr>
        <p:spPr>
          <a:xfrm>
            <a:off x="685800" y="2011680"/>
            <a:ext cx="5257800" cy="4114800"/>
          </a:xfrm>
          <a:prstGeom prst="roundRect">
            <a:avLst>
              <a:gd name="adj" fmla="val 2222"/>
            </a:avLst>
          </a:prstGeom>
          <a:solidFill>
            <a:srgbClr val="EAF4FB"/>
          </a:solidFill>
          <a:ln/>
          <a:effectLst>
            <a:outerShdw sx="100000" sy="100000" kx="0" ky="0" algn="bl" rotWithShape="0" blurRad="127000" dist="38100" dir="5400000">
              <a:srgbClr val="000000">
                <a:alpha val="35000"/>
              </a:srgbClr>
            </a:outerShdw>
          </a:effectLst>
        </p:spPr>
      </p:sp>
      <p:sp>
        <p:nvSpPr>
          <p:cNvPr id="6" name="Shape 4"/>
          <p:cNvSpPr/>
          <p:nvPr/>
        </p:nvSpPr>
        <p:spPr>
          <a:xfrm>
            <a:off x="960120" y="2286000"/>
            <a:ext cx="685800" cy="685800"/>
          </a:xfrm>
          <a:prstGeom prst="ellipse">
            <a:avLst/>
          </a:prstGeom>
          <a:solidFill>
            <a:srgbClr val="0B2A45"/>
          </a:solidFill>
          <a:ln/>
        </p:spPr>
      </p:sp>
      <p:pic>
        <p:nvPicPr>
          <p:cNvPr id="7" name="Image 0" descr="assets/icons/scale.png">    </p:cNvPr>
          <p:cNvPicPr>
            <a:picLocks noChangeAspect="1"/>
          </p:cNvPicPr>
          <p:nvPr/>
        </p:nvPicPr>
        <p:blipFill>
          <a:blip r:embed="rId2"/>
          <a:stretch>
            <a:fillRect/>
          </a:stretch>
        </p:blipFill>
        <p:spPr>
          <a:xfrm>
            <a:off x="1152144" y="2478024"/>
            <a:ext cx="301752" cy="301752"/>
          </a:xfrm>
          <a:prstGeom prst="rect">
            <a:avLst/>
          </a:prstGeom>
        </p:spPr>
      </p:pic>
      <p:sp>
        <p:nvSpPr>
          <p:cNvPr id="8" name="Text 5"/>
          <p:cNvSpPr txBox="1"/>
          <p:nvPr/>
        </p:nvSpPr>
        <p:spPr>
          <a:xfrm>
            <a:off x="1828800" y="2331720"/>
            <a:ext cx="3931920" cy="457200"/>
          </a:xfrm>
          <a:prstGeom prst="rect">
            <a:avLst/>
          </a:prstGeom>
          <a:noFill/>
          <a:ln/>
        </p:spPr>
        <p:txBody>
          <a:bodyPr wrap="square" lIns="0" tIns="0" rIns="0" bIns="0" rtlCol="0" anchor="ctr"/>
          <a:lstStyle/>
          <a:p>
            <a:pPr indent="0" marL="0">
              <a:buNone/>
            </a:pPr>
            <a:r>
              <a:rPr lang="en-US" sz="1900" b="1" dirty="0">
                <a:solidFill>
                  <a:srgbClr val="0B2A45"/>
                </a:solidFill>
                <a:latin typeface="Arial" pitchFamily="34" charset="0"/>
                <a:ea typeface="Arial" pitchFamily="34" charset="-122"/>
                <a:cs typeface="Arial" pitchFamily="34" charset="-120"/>
              </a:rPr>
              <a:t>Legal precedent</a:t>
            </a:r>
            <a:endParaRPr lang="en-US" sz="1900" dirty="0"/>
          </a:p>
        </p:txBody>
      </p:sp>
      <p:sp>
        <p:nvSpPr>
          <p:cNvPr id="9" name="Shape 6"/>
          <p:cNvSpPr/>
          <p:nvPr/>
        </p:nvSpPr>
        <p:spPr>
          <a:xfrm>
            <a:off x="1005840" y="3310128"/>
            <a:ext cx="109728" cy="109728"/>
          </a:xfrm>
          <a:prstGeom prst="ellipse">
            <a:avLst/>
          </a:prstGeom>
          <a:solidFill>
            <a:srgbClr val="22D3EE"/>
          </a:solidFill>
          <a:ln/>
        </p:spPr>
      </p:sp>
      <p:sp>
        <p:nvSpPr>
          <p:cNvPr id="10" name="Text 7"/>
          <p:cNvSpPr txBox="1"/>
          <p:nvPr/>
        </p:nvSpPr>
        <p:spPr>
          <a:xfrm>
            <a:off x="1280160" y="3200400"/>
            <a:ext cx="4480560" cy="658368"/>
          </a:xfrm>
          <a:prstGeom prst="rect">
            <a:avLst/>
          </a:prstGeom>
          <a:noFill/>
          <a:ln/>
        </p:spPr>
        <p:txBody>
          <a:bodyPr wrap="square" lIns="0" tIns="0" rIns="0" bIns="0" rtlCol="0" anchor="ctr"/>
          <a:lstStyle/>
          <a:p>
            <a:pPr indent="0" marL="0">
              <a:lnSpc>
                <a:spcPct val="100000"/>
              </a:lnSpc>
              <a:buNone/>
            </a:pPr>
            <a:r>
              <a:rPr lang="en-US" sz="1300" dirty="0">
                <a:solidFill>
                  <a:srgbClr val="0B2A45"/>
                </a:solidFill>
                <a:latin typeface="Arial" pitchFamily="34" charset="0"/>
                <a:ea typeface="Arial" pitchFamily="34" charset="-122"/>
                <a:cs typeface="Arial" pitchFamily="34" charset="-120"/>
              </a:rPr>
              <a:t>First person convicted under the U.S. Computer Fraud and Abuse Act of 1986.</a:t>
            </a:r>
            <a:endParaRPr lang="en-US" sz="1300" dirty="0"/>
          </a:p>
        </p:txBody>
      </p:sp>
      <p:sp>
        <p:nvSpPr>
          <p:cNvPr id="11" name="Shape 8"/>
          <p:cNvSpPr/>
          <p:nvPr/>
        </p:nvSpPr>
        <p:spPr>
          <a:xfrm>
            <a:off x="1005840" y="4023360"/>
            <a:ext cx="109728" cy="109728"/>
          </a:xfrm>
          <a:prstGeom prst="ellipse">
            <a:avLst/>
          </a:prstGeom>
          <a:solidFill>
            <a:srgbClr val="22D3EE"/>
          </a:solidFill>
          <a:ln/>
        </p:spPr>
      </p:sp>
      <p:sp>
        <p:nvSpPr>
          <p:cNvPr id="12" name="Text 9"/>
          <p:cNvSpPr txBox="1"/>
          <p:nvPr/>
        </p:nvSpPr>
        <p:spPr>
          <a:xfrm>
            <a:off x="1280160" y="3913632"/>
            <a:ext cx="4480560" cy="658368"/>
          </a:xfrm>
          <a:prstGeom prst="rect">
            <a:avLst/>
          </a:prstGeom>
          <a:noFill/>
          <a:ln/>
        </p:spPr>
        <p:txBody>
          <a:bodyPr wrap="square" lIns="0" tIns="0" rIns="0" bIns="0" rtlCol="0" anchor="ctr"/>
          <a:lstStyle/>
          <a:p>
            <a:pPr indent="0" marL="0">
              <a:lnSpc>
                <a:spcPct val="100000"/>
              </a:lnSpc>
              <a:buNone/>
            </a:pPr>
            <a:r>
              <a:rPr lang="en-US" sz="1300" dirty="0">
                <a:solidFill>
                  <a:srgbClr val="0B2A45"/>
                </a:solidFill>
                <a:latin typeface="Arial" pitchFamily="34" charset="0"/>
                <a:ea typeface="Arial" pitchFamily="34" charset="-122"/>
                <a:cs typeface="Arial" pitchFamily="34" charset="-120"/>
              </a:rPr>
              <a:t>Convicted in 1990 following a jury trial.</a:t>
            </a:r>
            <a:endParaRPr lang="en-US" sz="1300" dirty="0"/>
          </a:p>
        </p:txBody>
      </p:sp>
      <p:sp>
        <p:nvSpPr>
          <p:cNvPr id="13" name="Shape 10"/>
          <p:cNvSpPr/>
          <p:nvPr/>
        </p:nvSpPr>
        <p:spPr>
          <a:xfrm>
            <a:off x="1005840" y="4736592"/>
            <a:ext cx="109728" cy="109728"/>
          </a:xfrm>
          <a:prstGeom prst="ellipse">
            <a:avLst/>
          </a:prstGeom>
          <a:solidFill>
            <a:srgbClr val="22D3EE"/>
          </a:solidFill>
          <a:ln/>
        </p:spPr>
      </p:sp>
      <p:sp>
        <p:nvSpPr>
          <p:cNvPr id="14" name="Text 11"/>
          <p:cNvSpPr txBox="1"/>
          <p:nvPr/>
        </p:nvSpPr>
        <p:spPr>
          <a:xfrm>
            <a:off x="1280160" y="4626864"/>
            <a:ext cx="4480560" cy="658368"/>
          </a:xfrm>
          <a:prstGeom prst="rect">
            <a:avLst/>
          </a:prstGeom>
          <a:noFill/>
          <a:ln/>
        </p:spPr>
        <p:txBody>
          <a:bodyPr wrap="square" lIns="0" tIns="0" rIns="0" bIns="0" rtlCol="0" anchor="ctr"/>
          <a:lstStyle/>
          <a:p>
            <a:pPr indent="0" marL="0">
              <a:lnSpc>
                <a:spcPct val="100000"/>
              </a:lnSpc>
              <a:buNone/>
            </a:pPr>
            <a:r>
              <a:rPr lang="en-US" sz="1300" dirty="0">
                <a:solidFill>
                  <a:srgbClr val="0B2A45"/>
                </a:solidFill>
                <a:latin typeface="Arial" pitchFamily="34" charset="0"/>
                <a:ea typeface="Arial" pitchFamily="34" charset="-122"/>
                <a:cs typeface="Arial" pitchFamily="34" charset="-120"/>
              </a:rPr>
              <a:t>Sentenced to three years' probation, a fine of roughly $10,000, and 400 hours of community service — no prison term.</a:t>
            </a:r>
            <a:endParaRPr lang="en-US" sz="1300" dirty="0"/>
          </a:p>
        </p:txBody>
      </p:sp>
      <p:sp>
        <p:nvSpPr>
          <p:cNvPr id="15" name="Shape 12"/>
          <p:cNvSpPr/>
          <p:nvPr/>
        </p:nvSpPr>
        <p:spPr>
          <a:xfrm>
            <a:off x="1005840" y="5449824"/>
            <a:ext cx="109728" cy="109728"/>
          </a:xfrm>
          <a:prstGeom prst="ellipse">
            <a:avLst/>
          </a:prstGeom>
          <a:solidFill>
            <a:srgbClr val="22D3EE"/>
          </a:solidFill>
          <a:ln/>
        </p:spPr>
      </p:sp>
      <p:sp>
        <p:nvSpPr>
          <p:cNvPr id="16" name="Text 13"/>
          <p:cNvSpPr txBox="1"/>
          <p:nvPr/>
        </p:nvSpPr>
        <p:spPr>
          <a:xfrm>
            <a:off x="1280160" y="5340096"/>
            <a:ext cx="4480560" cy="658368"/>
          </a:xfrm>
          <a:prstGeom prst="rect">
            <a:avLst/>
          </a:prstGeom>
          <a:noFill/>
          <a:ln/>
        </p:spPr>
        <p:txBody>
          <a:bodyPr wrap="square" lIns="0" tIns="0" rIns="0" bIns="0" rtlCol="0" anchor="ctr"/>
          <a:lstStyle/>
          <a:p>
            <a:pPr indent="0" marL="0">
              <a:lnSpc>
                <a:spcPct val="100000"/>
              </a:lnSpc>
              <a:buNone/>
            </a:pPr>
            <a:r>
              <a:rPr lang="en-US" sz="1300" dirty="0">
                <a:solidFill>
                  <a:srgbClr val="0B2A45"/>
                </a:solidFill>
                <a:latin typeface="Arial" pitchFamily="34" charset="0"/>
                <a:ea typeface="Arial" pitchFamily="34" charset="-122"/>
                <a:cs typeface="Arial" pitchFamily="34" charset="-120"/>
              </a:rPr>
              <a:t>The case established that releasing such a program carried real criminal liability.</a:t>
            </a:r>
            <a:endParaRPr lang="en-US" sz="1300" dirty="0"/>
          </a:p>
        </p:txBody>
      </p:sp>
      <p:sp>
        <p:nvSpPr>
          <p:cNvPr id="17" name="Shape 14"/>
          <p:cNvSpPr/>
          <p:nvPr/>
        </p:nvSpPr>
        <p:spPr>
          <a:xfrm>
            <a:off x="6263640" y="2011680"/>
            <a:ext cx="5239512" cy="4114800"/>
          </a:xfrm>
          <a:prstGeom prst="roundRect">
            <a:avLst>
              <a:gd name="adj" fmla="val 2222"/>
            </a:avLst>
          </a:prstGeom>
          <a:solidFill>
            <a:srgbClr val="0B2A45"/>
          </a:solidFill>
          <a:ln/>
          <a:effectLst>
            <a:outerShdw sx="100000" sy="100000" kx="0" ky="0" algn="bl" rotWithShape="0" blurRad="127000" dist="38100" dir="5400000">
              <a:srgbClr val="000000">
                <a:alpha val="35000"/>
              </a:srgbClr>
            </a:outerShdw>
          </a:effectLst>
        </p:spPr>
      </p:sp>
      <p:sp>
        <p:nvSpPr>
          <p:cNvPr id="18" name="Shape 15"/>
          <p:cNvSpPr/>
          <p:nvPr/>
        </p:nvSpPr>
        <p:spPr>
          <a:xfrm>
            <a:off x="6537960" y="2286000"/>
            <a:ext cx="685800" cy="685800"/>
          </a:xfrm>
          <a:prstGeom prst="ellipse">
            <a:avLst/>
          </a:prstGeom>
          <a:solidFill>
            <a:srgbClr val="22D3EE"/>
          </a:solidFill>
          <a:ln/>
        </p:spPr>
      </p:sp>
      <p:pic>
        <p:nvPicPr>
          <p:cNvPr id="19" name="Image 1" descr="assets/icons/bell.png">    </p:cNvPr>
          <p:cNvPicPr>
            <a:picLocks noChangeAspect="1"/>
          </p:cNvPicPr>
          <p:nvPr/>
        </p:nvPicPr>
        <p:blipFill>
          <a:blip r:embed="rId3"/>
          <a:stretch>
            <a:fillRect/>
          </a:stretch>
        </p:blipFill>
        <p:spPr>
          <a:xfrm>
            <a:off x="6729984" y="2478024"/>
            <a:ext cx="301752" cy="301752"/>
          </a:xfrm>
          <a:prstGeom prst="rect">
            <a:avLst/>
          </a:prstGeom>
        </p:spPr>
      </p:pic>
      <p:sp>
        <p:nvSpPr>
          <p:cNvPr id="20" name="Text 16"/>
          <p:cNvSpPr txBox="1"/>
          <p:nvPr/>
        </p:nvSpPr>
        <p:spPr>
          <a:xfrm>
            <a:off x="7406640" y="2331720"/>
            <a:ext cx="3931920" cy="457200"/>
          </a:xfrm>
          <a:prstGeom prst="rect">
            <a:avLst/>
          </a:prstGeom>
          <a:noFill/>
          <a:ln/>
        </p:spPr>
        <p:txBody>
          <a:bodyPr wrap="square" lIns="0" tIns="0" rIns="0" bIns="0" rtlCol="0" anchor="ctr"/>
          <a:lstStyle/>
          <a:p>
            <a:pPr indent="0" marL="0">
              <a:buNone/>
            </a:pPr>
            <a:r>
              <a:rPr lang="en-US" sz="1900" b="1" dirty="0">
                <a:solidFill>
                  <a:srgbClr val="FFFFFF"/>
                </a:solidFill>
                <a:latin typeface="Arial" pitchFamily="34" charset="0"/>
                <a:ea typeface="Arial" pitchFamily="34" charset="-122"/>
                <a:cs typeface="Arial" pitchFamily="34" charset="-120"/>
              </a:rPr>
              <a:t>A wake-up call</a:t>
            </a:r>
            <a:endParaRPr lang="en-US" sz="1900" dirty="0"/>
          </a:p>
        </p:txBody>
      </p:sp>
      <p:sp>
        <p:nvSpPr>
          <p:cNvPr id="21" name="Shape 17"/>
          <p:cNvSpPr/>
          <p:nvPr/>
        </p:nvSpPr>
        <p:spPr>
          <a:xfrm>
            <a:off x="6583680" y="3310128"/>
            <a:ext cx="109728" cy="109728"/>
          </a:xfrm>
          <a:prstGeom prst="ellipse">
            <a:avLst/>
          </a:prstGeom>
          <a:solidFill>
            <a:srgbClr val="22D3EE"/>
          </a:solidFill>
          <a:ln/>
        </p:spPr>
      </p:sp>
      <p:sp>
        <p:nvSpPr>
          <p:cNvPr id="22" name="Text 18"/>
          <p:cNvSpPr txBox="1"/>
          <p:nvPr/>
        </p:nvSpPr>
        <p:spPr>
          <a:xfrm>
            <a:off x="6858000" y="3200400"/>
            <a:ext cx="4480560" cy="658368"/>
          </a:xfrm>
          <a:prstGeom prst="rect">
            <a:avLst/>
          </a:prstGeom>
          <a:noFill/>
          <a:ln/>
        </p:spPr>
        <p:txBody>
          <a:bodyPr wrap="square" lIns="0" tIns="0" rIns="0" bIns="0" rtlCol="0" anchor="ctr"/>
          <a:lstStyle/>
          <a:p>
            <a:pPr indent="0" marL="0">
              <a:lnSpc>
                <a:spcPct val="100000"/>
              </a:lnSpc>
              <a:buNone/>
            </a:pPr>
            <a:r>
              <a:rPr lang="en-US" sz="1300" dirty="0">
                <a:solidFill>
                  <a:srgbClr val="EAF4FB"/>
                </a:solidFill>
                <a:latin typeface="Arial" pitchFamily="34" charset="0"/>
                <a:ea typeface="Arial" pitchFamily="34" charset="-122"/>
                <a:cs typeface="Arial" pitchFamily="34" charset="-120"/>
              </a:rPr>
              <a:t>Showed the Internet was fragile and that security could no longer be an afterthought.</a:t>
            </a:r>
            <a:endParaRPr lang="en-US" sz="1300" dirty="0"/>
          </a:p>
        </p:txBody>
      </p:sp>
      <p:sp>
        <p:nvSpPr>
          <p:cNvPr id="23" name="Shape 19"/>
          <p:cNvSpPr/>
          <p:nvPr/>
        </p:nvSpPr>
        <p:spPr>
          <a:xfrm>
            <a:off x="6583680" y="4023360"/>
            <a:ext cx="109728" cy="109728"/>
          </a:xfrm>
          <a:prstGeom prst="ellipse">
            <a:avLst/>
          </a:prstGeom>
          <a:solidFill>
            <a:srgbClr val="22D3EE"/>
          </a:solidFill>
          <a:ln/>
        </p:spPr>
      </p:sp>
      <p:sp>
        <p:nvSpPr>
          <p:cNvPr id="24" name="Text 20"/>
          <p:cNvSpPr txBox="1"/>
          <p:nvPr/>
        </p:nvSpPr>
        <p:spPr>
          <a:xfrm>
            <a:off x="6858000" y="3913632"/>
            <a:ext cx="4480560" cy="658368"/>
          </a:xfrm>
          <a:prstGeom prst="rect">
            <a:avLst/>
          </a:prstGeom>
          <a:noFill/>
          <a:ln/>
        </p:spPr>
        <p:txBody>
          <a:bodyPr wrap="square" lIns="0" tIns="0" rIns="0" bIns="0" rtlCol="0" anchor="ctr"/>
          <a:lstStyle/>
          <a:p>
            <a:pPr indent="0" marL="0">
              <a:lnSpc>
                <a:spcPct val="100000"/>
              </a:lnSpc>
              <a:buNone/>
            </a:pPr>
            <a:r>
              <a:rPr lang="en-US" sz="1300" dirty="0">
                <a:solidFill>
                  <a:srgbClr val="EAF4FB"/>
                </a:solidFill>
                <a:latin typeface="Arial" pitchFamily="34" charset="0"/>
                <a:ea typeface="Arial" pitchFamily="34" charset="-122"/>
                <a:cs typeface="Arial" pitchFamily="34" charset="-120"/>
              </a:rPr>
              <a:t>Prompted creation of the first CERT Coordination Center for organised incident response.</a:t>
            </a:r>
            <a:endParaRPr lang="en-US" sz="1300" dirty="0"/>
          </a:p>
        </p:txBody>
      </p:sp>
      <p:sp>
        <p:nvSpPr>
          <p:cNvPr id="25" name="Shape 21"/>
          <p:cNvSpPr/>
          <p:nvPr/>
        </p:nvSpPr>
        <p:spPr>
          <a:xfrm>
            <a:off x="6583680" y="4736592"/>
            <a:ext cx="109728" cy="109728"/>
          </a:xfrm>
          <a:prstGeom prst="ellipse">
            <a:avLst/>
          </a:prstGeom>
          <a:solidFill>
            <a:srgbClr val="22D3EE"/>
          </a:solidFill>
          <a:ln/>
        </p:spPr>
      </p:sp>
      <p:sp>
        <p:nvSpPr>
          <p:cNvPr id="26" name="Text 22"/>
          <p:cNvSpPr txBox="1"/>
          <p:nvPr/>
        </p:nvSpPr>
        <p:spPr>
          <a:xfrm>
            <a:off x="6858000" y="4626864"/>
            <a:ext cx="4480560" cy="658368"/>
          </a:xfrm>
          <a:prstGeom prst="rect">
            <a:avLst/>
          </a:prstGeom>
          <a:noFill/>
          <a:ln/>
        </p:spPr>
        <p:txBody>
          <a:bodyPr wrap="square" lIns="0" tIns="0" rIns="0" bIns="0" rtlCol="0" anchor="ctr"/>
          <a:lstStyle/>
          <a:p>
            <a:pPr indent="0" marL="0">
              <a:lnSpc>
                <a:spcPct val="100000"/>
              </a:lnSpc>
              <a:buNone/>
            </a:pPr>
            <a:r>
              <a:rPr lang="en-US" sz="1300" dirty="0">
                <a:solidFill>
                  <a:srgbClr val="EAF4FB"/>
                </a:solidFill>
                <a:latin typeface="Arial" pitchFamily="34" charset="0"/>
                <a:ea typeface="Arial" pitchFamily="34" charset="-122"/>
                <a:cs typeface="Arial" pitchFamily="34" charset="-120"/>
              </a:rPr>
              <a:t>Accelerated attention to secure coding, patching and network monitoring.</a:t>
            </a:r>
            <a:endParaRPr lang="en-US" sz="1300" dirty="0"/>
          </a:p>
        </p:txBody>
      </p:sp>
      <p:sp>
        <p:nvSpPr>
          <p:cNvPr id="27" name="Shape 23"/>
          <p:cNvSpPr/>
          <p:nvPr/>
        </p:nvSpPr>
        <p:spPr>
          <a:xfrm>
            <a:off x="6583680" y="5449824"/>
            <a:ext cx="109728" cy="109728"/>
          </a:xfrm>
          <a:prstGeom prst="ellipse">
            <a:avLst/>
          </a:prstGeom>
          <a:solidFill>
            <a:srgbClr val="22D3EE"/>
          </a:solidFill>
          <a:ln/>
        </p:spPr>
      </p:sp>
      <p:sp>
        <p:nvSpPr>
          <p:cNvPr id="28" name="Text 24"/>
          <p:cNvSpPr txBox="1"/>
          <p:nvPr/>
        </p:nvSpPr>
        <p:spPr>
          <a:xfrm>
            <a:off x="6858000" y="5340096"/>
            <a:ext cx="4480560" cy="658368"/>
          </a:xfrm>
          <a:prstGeom prst="rect">
            <a:avLst/>
          </a:prstGeom>
          <a:noFill/>
          <a:ln/>
        </p:spPr>
        <p:txBody>
          <a:bodyPr wrap="square" lIns="0" tIns="0" rIns="0" bIns="0" rtlCol="0" anchor="ctr"/>
          <a:lstStyle/>
          <a:p>
            <a:pPr indent="0" marL="0">
              <a:lnSpc>
                <a:spcPct val="100000"/>
              </a:lnSpc>
              <a:buNone/>
            </a:pPr>
            <a:r>
              <a:rPr lang="en-US" sz="1300" dirty="0">
                <a:solidFill>
                  <a:srgbClr val="EAF4FB"/>
                </a:solidFill>
                <a:latin typeface="Arial" pitchFamily="34" charset="0"/>
                <a:ea typeface="Arial" pitchFamily="34" charset="-122"/>
                <a:cs typeface="Arial" pitchFamily="34" charset="-120"/>
              </a:rPr>
              <a:t>Marked the start of cybersecurity as a serious, professional discipline.</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11430000" y="6400800"/>
            <a:ext cx="548640" cy="320040"/>
          </a:xfrm>
          <a:prstGeom prst="rect">
            <a:avLst/>
          </a:prstGeom>
          <a:noFill/>
          <a:ln/>
        </p:spPr>
        <p:txBody>
          <a:bodyPr wrap="square" lIns="0" tIns="0" rIns="0" bIns="0" rtlCol="0" anchor="ctr"/>
          <a:lstStyle/>
          <a:p>
            <a:pPr algn="r" indent="0" marL="0">
              <a:buNone/>
            </a:pPr>
            <a:r>
              <a:rPr lang="en-US" sz="1100" dirty="0">
                <a:solidFill>
                  <a:srgbClr val="94A3B8"/>
                </a:solidFill>
                <a:latin typeface="Courier New" pitchFamily="34" charset="0"/>
                <a:ea typeface="Courier New" pitchFamily="34" charset="-122"/>
                <a:cs typeface="Courier New" pitchFamily="34" charset="-120"/>
              </a:rPr>
              <a:t>11</a:t>
            </a:r>
            <a:endParaRPr lang="en-US" sz="1100" dirty="0"/>
          </a:p>
        </p:txBody>
      </p:sp>
      <p:sp>
        <p:nvSpPr>
          <p:cNvPr id="3" name="Text 1"/>
          <p:cNvSpPr txBox="1"/>
          <p:nvPr/>
        </p:nvSpPr>
        <p:spPr>
          <a:xfrm>
            <a:off x="685800" y="411480"/>
            <a:ext cx="5486400" cy="292608"/>
          </a:xfrm>
          <a:prstGeom prst="rect">
            <a:avLst/>
          </a:prstGeom>
          <a:noFill/>
          <a:ln/>
        </p:spPr>
        <p:txBody>
          <a:bodyPr wrap="square" lIns="0" tIns="0" rIns="0" bIns="0" rtlCol="0" anchor="ctr"/>
          <a:lstStyle/>
          <a:p>
            <a:pPr indent="0" marL="0">
              <a:buNone/>
            </a:pPr>
            <a:r>
              <a:rPr lang="en-US" sz="1250" spc="250" kern="0" dirty="0">
                <a:solidFill>
                  <a:srgbClr val="22D3EE"/>
                </a:solidFill>
                <a:latin typeface="Courier New" pitchFamily="34" charset="0"/>
                <a:ea typeface="Courier New" pitchFamily="34" charset="-122"/>
                <a:cs typeface="Courier New" pitchFamily="34" charset="-120"/>
              </a:rPr>
              <a:t>WHAT WE LEARNED</a:t>
            </a:r>
            <a:endParaRPr lang="en-US" sz="1250" dirty="0"/>
          </a:p>
        </p:txBody>
      </p:sp>
      <p:sp>
        <p:nvSpPr>
          <p:cNvPr id="4" name="Text 2"/>
          <p:cNvSpPr txBox="1"/>
          <p:nvPr/>
        </p:nvSpPr>
        <p:spPr>
          <a:xfrm>
            <a:off x="685800" y="731520"/>
            <a:ext cx="10789920" cy="1097280"/>
          </a:xfrm>
          <a:prstGeom prst="rect">
            <a:avLst/>
          </a:prstGeom>
          <a:noFill/>
          <a:ln/>
        </p:spPr>
        <p:txBody>
          <a:bodyPr wrap="square" lIns="0" tIns="0" rIns="0" bIns="0" rtlCol="0" anchor="ctr"/>
          <a:lstStyle/>
          <a:p>
            <a:pPr indent="0" marL="0">
              <a:lnSpc>
                <a:spcPct val="98000"/>
              </a:lnSpc>
              <a:buNone/>
            </a:pPr>
            <a:r>
              <a:rPr lang="en-US" sz="3800" b="1" dirty="0">
                <a:solidFill>
                  <a:srgbClr val="FFFFFF"/>
                </a:solidFill>
                <a:latin typeface="Arial" pitchFamily="34" charset="0"/>
                <a:ea typeface="Arial" pitchFamily="34" charset="-122"/>
                <a:cs typeface="Arial" pitchFamily="34" charset="-120"/>
              </a:rPr>
              <a:t>Security lessons</a:t>
            </a:r>
            <a:endParaRPr lang="en-US" sz="3800" dirty="0"/>
          </a:p>
        </p:txBody>
      </p:sp>
      <p:sp>
        <p:nvSpPr>
          <p:cNvPr id="5" name="Shape 3"/>
          <p:cNvSpPr/>
          <p:nvPr/>
        </p:nvSpPr>
        <p:spPr>
          <a:xfrm>
            <a:off x="685800" y="1783080"/>
            <a:ext cx="3456432" cy="1353312"/>
          </a:xfrm>
          <a:prstGeom prst="roundRect">
            <a:avLst>
              <a:gd name="adj" fmla="val 6757"/>
            </a:avLst>
          </a:prstGeom>
          <a:solidFill>
            <a:srgbClr val="EAF4FB"/>
          </a:solidFill>
          <a:ln/>
          <a:effectLst>
            <a:outerShdw sx="100000" sy="100000" kx="0" ky="0" algn="bl" rotWithShape="0" blurRad="127000" dist="38100" dir="5400000">
              <a:srgbClr val="000000">
                <a:alpha val="35000"/>
              </a:srgbClr>
            </a:outerShdw>
          </a:effectLst>
        </p:spPr>
      </p:sp>
      <p:sp>
        <p:nvSpPr>
          <p:cNvPr id="6" name="Shape 4"/>
          <p:cNvSpPr/>
          <p:nvPr/>
        </p:nvSpPr>
        <p:spPr>
          <a:xfrm>
            <a:off x="923544" y="2020824"/>
            <a:ext cx="512064" cy="512064"/>
          </a:xfrm>
          <a:prstGeom prst="ellipse">
            <a:avLst/>
          </a:prstGeom>
          <a:solidFill>
            <a:srgbClr val="0B2A45"/>
          </a:solidFill>
          <a:ln/>
        </p:spPr>
      </p:sp>
      <p:pic>
        <p:nvPicPr>
          <p:cNvPr id="7" name="Image 0" descr="assets/icons/lock.png">    </p:cNvPr>
          <p:cNvPicPr>
            <a:picLocks noChangeAspect="1"/>
          </p:cNvPicPr>
          <p:nvPr/>
        </p:nvPicPr>
        <p:blipFill>
          <a:blip r:embed="rId2"/>
          <a:stretch>
            <a:fillRect/>
          </a:stretch>
        </p:blipFill>
        <p:spPr>
          <a:xfrm>
            <a:off x="1066922" y="2164202"/>
            <a:ext cx="225308" cy="225308"/>
          </a:xfrm>
          <a:prstGeom prst="rect">
            <a:avLst/>
          </a:prstGeom>
        </p:spPr>
      </p:pic>
      <p:sp>
        <p:nvSpPr>
          <p:cNvPr id="8" name="Text 5"/>
          <p:cNvSpPr txBox="1"/>
          <p:nvPr/>
        </p:nvSpPr>
        <p:spPr>
          <a:xfrm>
            <a:off x="1554480" y="1984248"/>
            <a:ext cx="2450592" cy="502920"/>
          </a:xfrm>
          <a:prstGeom prst="rect">
            <a:avLst/>
          </a:prstGeom>
          <a:noFill/>
          <a:ln/>
        </p:spPr>
        <p:txBody>
          <a:bodyPr wrap="square" lIns="0" tIns="0" rIns="0" bIns="0" rtlCol="0" anchor="ctr"/>
          <a:lstStyle/>
          <a:p>
            <a:pPr indent="0" marL="0">
              <a:buNone/>
            </a:pPr>
            <a:r>
              <a:rPr lang="en-US" sz="1350" b="1" dirty="0">
                <a:solidFill>
                  <a:srgbClr val="0B2A45"/>
                </a:solidFill>
                <a:latin typeface="Arial" pitchFamily="34" charset="0"/>
                <a:ea typeface="Arial" pitchFamily="34" charset="-122"/>
                <a:cs typeface="Arial" pitchFamily="34" charset="-120"/>
              </a:rPr>
              <a:t>Strong authentication</a:t>
            </a:r>
            <a:endParaRPr lang="en-US" sz="1350" dirty="0"/>
          </a:p>
        </p:txBody>
      </p:sp>
      <p:sp>
        <p:nvSpPr>
          <p:cNvPr id="9" name="Text 6"/>
          <p:cNvSpPr txBox="1"/>
          <p:nvPr/>
        </p:nvSpPr>
        <p:spPr>
          <a:xfrm>
            <a:off x="923544" y="2569464"/>
            <a:ext cx="2999232" cy="502920"/>
          </a:xfrm>
          <a:prstGeom prst="rect">
            <a:avLst/>
          </a:prstGeom>
          <a:noFill/>
          <a:ln/>
        </p:spPr>
        <p:txBody>
          <a:bodyPr wrap="square" lIns="0" tIns="0" rIns="0" bIns="0" rtlCol="0" anchor="ctr"/>
          <a:lstStyle/>
          <a:p>
            <a:pPr indent="0" marL="0">
              <a:lnSpc>
                <a:spcPct val="98000"/>
              </a:lnSpc>
              <a:buNone/>
            </a:pPr>
            <a:r>
              <a:rPr lang="en-US" sz="1100" dirty="0">
                <a:solidFill>
                  <a:srgbClr val="475569"/>
                </a:solidFill>
                <a:latin typeface="Arial" pitchFamily="34" charset="0"/>
                <a:ea typeface="Arial" pitchFamily="34" charset="-122"/>
                <a:cs typeface="Arial" pitchFamily="34" charset="-120"/>
              </a:rPr>
              <a:t>Enforce strong, unique passwords and multi-factor login.</a:t>
            </a:r>
            <a:endParaRPr lang="en-US" sz="1100" dirty="0"/>
          </a:p>
        </p:txBody>
      </p:sp>
      <p:sp>
        <p:nvSpPr>
          <p:cNvPr id="10" name="Shape 7"/>
          <p:cNvSpPr/>
          <p:nvPr/>
        </p:nvSpPr>
        <p:spPr>
          <a:xfrm>
            <a:off x="4471416" y="1783080"/>
            <a:ext cx="3456432" cy="1353312"/>
          </a:xfrm>
          <a:prstGeom prst="roundRect">
            <a:avLst>
              <a:gd name="adj" fmla="val 6757"/>
            </a:avLst>
          </a:prstGeom>
          <a:solidFill>
            <a:srgbClr val="EAF4FB"/>
          </a:solidFill>
          <a:ln/>
          <a:effectLst>
            <a:outerShdw sx="100000" sy="100000" kx="0" ky="0" algn="bl" rotWithShape="0" blurRad="127000" dist="38100" dir="5400000">
              <a:srgbClr val="000000">
                <a:alpha val="35000"/>
              </a:srgbClr>
            </a:outerShdw>
          </a:effectLst>
        </p:spPr>
      </p:sp>
      <p:sp>
        <p:nvSpPr>
          <p:cNvPr id="11" name="Shape 8"/>
          <p:cNvSpPr/>
          <p:nvPr/>
        </p:nvSpPr>
        <p:spPr>
          <a:xfrm>
            <a:off x="4709160" y="2020824"/>
            <a:ext cx="512064" cy="512064"/>
          </a:xfrm>
          <a:prstGeom prst="ellipse">
            <a:avLst/>
          </a:prstGeom>
          <a:solidFill>
            <a:srgbClr val="0B2A45"/>
          </a:solidFill>
          <a:ln/>
        </p:spPr>
      </p:sp>
      <p:pic>
        <p:nvPicPr>
          <p:cNvPr id="12" name="Image 1" descr="assets/icons/settings.png">    </p:cNvPr>
          <p:cNvPicPr>
            <a:picLocks noChangeAspect="1"/>
          </p:cNvPicPr>
          <p:nvPr/>
        </p:nvPicPr>
        <p:blipFill>
          <a:blip r:embed="rId3"/>
          <a:stretch>
            <a:fillRect/>
          </a:stretch>
        </p:blipFill>
        <p:spPr>
          <a:xfrm>
            <a:off x="4852538" y="2164202"/>
            <a:ext cx="225308" cy="225308"/>
          </a:xfrm>
          <a:prstGeom prst="rect">
            <a:avLst/>
          </a:prstGeom>
        </p:spPr>
      </p:pic>
      <p:sp>
        <p:nvSpPr>
          <p:cNvPr id="13" name="Text 9"/>
          <p:cNvSpPr txBox="1"/>
          <p:nvPr/>
        </p:nvSpPr>
        <p:spPr>
          <a:xfrm>
            <a:off x="5340096" y="1984248"/>
            <a:ext cx="2450592" cy="502920"/>
          </a:xfrm>
          <a:prstGeom prst="rect">
            <a:avLst/>
          </a:prstGeom>
          <a:noFill/>
          <a:ln/>
        </p:spPr>
        <p:txBody>
          <a:bodyPr wrap="square" lIns="0" tIns="0" rIns="0" bIns="0" rtlCol="0" anchor="ctr"/>
          <a:lstStyle/>
          <a:p>
            <a:pPr indent="0" marL="0">
              <a:buNone/>
            </a:pPr>
            <a:r>
              <a:rPr lang="en-US" sz="1350" b="1" dirty="0">
                <a:solidFill>
                  <a:srgbClr val="0B2A45"/>
                </a:solidFill>
                <a:latin typeface="Arial" pitchFamily="34" charset="0"/>
                <a:ea typeface="Arial" pitchFamily="34" charset="-122"/>
                <a:cs typeface="Arial" pitchFamily="34" charset="-120"/>
              </a:rPr>
              <a:t>Secure configuration</a:t>
            </a:r>
            <a:endParaRPr lang="en-US" sz="1350" dirty="0"/>
          </a:p>
        </p:txBody>
      </p:sp>
      <p:sp>
        <p:nvSpPr>
          <p:cNvPr id="14" name="Text 10"/>
          <p:cNvSpPr txBox="1"/>
          <p:nvPr/>
        </p:nvSpPr>
        <p:spPr>
          <a:xfrm>
            <a:off x="4709160" y="2569464"/>
            <a:ext cx="2999232" cy="502920"/>
          </a:xfrm>
          <a:prstGeom prst="rect">
            <a:avLst/>
          </a:prstGeom>
          <a:noFill/>
          <a:ln/>
        </p:spPr>
        <p:txBody>
          <a:bodyPr wrap="square" lIns="0" tIns="0" rIns="0" bIns="0" rtlCol="0" anchor="ctr"/>
          <a:lstStyle/>
          <a:p>
            <a:pPr indent="0" marL="0">
              <a:lnSpc>
                <a:spcPct val="98000"/>
              </a:lnSpc>
              <a:buNone/>
            </a:pPr>
            <a:r>
              <a:rPr lang="en-US" sz="1100" dirty="0">
                <a:solidFill>
                  <a:srgbClr val="475569"/>
                </a:solidFill>
                <a:latin typeface="Arial" pitchFamily="34" charset="0"/>
                <a:ea typeface="Arial" pitchFamily="34" charset="-122"/>
                <a:cs typeface="Arial" pitchFamily="34" charset="-120"/>
              </a:rPr>
              <a:t>Disable debug modes and unused services by default.</a:t>
            </a:r>
            <a:endParaRPr lang="en-US" sz="1100" dirty="0"/>
          </a:p>
        </p:txBody>
      </p:sp>
      <p:sp>
        <p:nvSpPr>
          <p:cNvPr id="15" name="Shape 11"/>
          <p:cNvSpPr/>
          <p:nvPr/>
        </p:nvSpPr>
        <p:spPr>
          <a:xfrm>
            <a:off x="8257032" y="1783080"/>
            <a:ext cx="3456432" cy="1353312"/>
          </a:xfrm>
          <a:prstGeom prst="roundRect">
            <a:avLst>
              <a:gd name="adj" fmla="val 6757"/>
            </a:avLst>
          </a:prstGeom>
          <a:solidFill>
            <a:srgbClr val="EAF4FB"/>
          </a:solidFill>
          <a:ln/>
          <a:effectLst>
            <a:outerShdw sx="100000" sy="100000" kx="0" ky="0" algn="bl" rotWithShape="0" blurRad="127000" dist="38100" dir="5400000">
              <a:srgbClr val="000000">
                <a:alpha val="35000"/>
              </a:srgbClr>
            </a:outerShdw>
          </a:effectLst>
        </p:spPr>
      </p:sp>
      <p:sp>
        <p:nvSpPr>
          <p:cNvPr id="16" name="Shape 12"/>
          <p:cNvSpPr/>
          <p:nvPr/>
        </p:nvSpPr>
        <p:spPr>
          <a:xfrm>
            <a:off x="8494776" y="2020824"/>
            <a:ext cx="512064" cy="512064"/>
          </a:xfrm>
          <a:prstGeom prst="ellipse">
            <a:avLst/>
          </a:prstGeom>
          <a:solidFill>
            <a:srgbClr val="0B2A45"/>
          </a:solidFill>
          <a:ln/>
        </p:spPr>
      </p:sp>
      <p:pic>
        <p:nvPicPr>
          <p:cNvPr id="17" name="Image 2" descr="assets/icons/download.png">    </p:cNvPr>
          <p:cNvPicPr>
            <a:picLocks noChangeAspect="1"/>
          </p:cNvPicPr>
          <p:nvPr/>
        </p:nvPicPr>
        <p:blipFill>
          <a:blip r:embed="rId4"/>
          <a:stretch>
            <a:fillRect/>
          </a:stretch>
        </p:blipFill>
        <p:spPr>
          <a:xfrm>
            <a:off x="8638154" y="2164202"/>
            <a:ext cx="225308" cy="225308"/>
          </a:xfrm>
          <a:prstGeom prst="rect">
            <a:avLst/>
          </a:prstGeom>
        </p:spPr>
      </p:pic>
      <p:sp>
        <p:nvSpPr>
          <p:cNvPr id="18" name="Text 13"/>
          <p:cNvSpPr txBox="1"/>
          <p:nvPr/>
        </p:nvSpPr>
        <p:spPr>
          <a:xfrm>
            <a:off x="9125712" y="1984248"/>
            <a:ext cx="2450592" cy="502920"/>
          </a:xfrm>
          <a:prstGeom prst="rect">
            <a:avLst/>
          </a:prstGeom>
          <a:noFill/>
          <a:ln/>
        </p:spPr>
        <p:txBody>
          <a:bodyPr wrap="square" lIns="0" tIns="0" rIns="0" bIns="0" rtlCol="0" anchor="ctr"/>
          <a:lstStyle/>
          <a:p>
            <a:pPr indent="0" marL="0">
              <a:buNone/>
            </a:pPr>
            <a:r>
              <a:rPr lang="en-US" sz="1350" b="1" dirty="0">
                <a:solidFill>
                  <a:srgbClr val="0B2A45"/>
                </a:solidFill>
                <a:latin typeface="Arial" pitchFamily="34" charset="0"/>
                <a:ea typeface="Arial" pitchFamily="34" charset="-122"/>
                <a:cs typeface="Arial" pitchFamily="34" charset="-120"/>
              </a:rPr>
              <a:t>Patch management</a:t>
            </a:r>
            <a:endParaRPr lang="en-US" sz="1350" dirty="0"/>
          </a:p>
        </p:txBody>
      </p:sp>
      <p:sp>
        <p:nvSpPr>
          <p:cNvPr id="19" name="Text 14"/>
          <p:cNvSpPr txBox="1"/>
          <p:nvPr/>
        </p:nvSpPr>
        <p:spPr>
          <a:xfrm>
            <a:off x="8494776" y="2569464"/>
            <a:ext cx="2999232" cy="502920"/>
          </a:xfrm>
          <a:prstGeom prst="rect">
            <a:avLst/>
          </a:prstGeom>
          <a:noFill/>
          <a:ln/>
        </p:spPr>
        <p:txBody>
          <a:bodyPr wrap="square" lIns="0" tIns="0" rIns="0" bIns="0" rtlCol="0" anchor="ctr"/>
          <a:lstStyle/>
          <a:p>
            <a:pPr indent="0" marL="0">
              <a:lnSpc>
                <a:spcPct val="98000"/>
              </a:lnSpc>
              <a:buNone/>
            </a:pPr>
            <a:r>
              <a:rPr lang="en-US" sz="1100" dirty="0">
                <a:solidFill>
                  <a:srgbClr val="475569"/>
                </a:solidFill>
                <a:latin typeface="Arial" pitchFamily="34" charset="0"/>
                <a:ea typeface="Arial" pitchFamily="34" charset="-122"/>
                <a:cs typeface="Arial" pitchFamily="34" charset="-120"/>
              </a:rPr>
              <a:t>Apply security updates promptly and consistently.</a:t>
            </a:r>
            <a:endParaRPr lang="en-US" sz="1100" dirty="0"/>
          </a:p>
        </p:txBody>
      </p:sp>
      <p:sp>
        <p:nvSpPr>
          <p:cNvPr id="20" name="Shape 15"/>
          <p:cNvSpPr/>
          <p:nvPr/>
        </p:nvSpPr>
        <p:spPr>
          <a:xfrm>
            <a:off x="685800" y="3337560"/>
            <a:ext cx="3456432" cy="1353312"/>
          </a:xfrm>
          <a:prstGeom prst="roundRect">
            <a:avLst>
              <a:gd name="adj" fmla="val 6757"/>
            </a:avLst>
          </a:prstGeom>
          <a:solidFill>
            <a:srgbClr val="EAF4FB"/>
          </a:solidFill>
          <a:ln/>
          <a:effectLst>
            <a:outerShdw sx="100000" sy="100000" kx="0" ky="0" algn="bl" rotWithShape="0" blurRad="127000" dist="38100" dir="5400000">
              <a:srgbClr val="000000">
                <a:alpha val="35000"/>
              </a:srgbClr>
            </a:outerShdw>
          </a:effectLst>
        </p:spPr>
      </p:sp>
      <p:sp>
        <p:nvSpPr>
          <p:cNvPr id="21" name="Shape 16"/>
          <p:cNvSpPr/>
          <p:nvPr/>
        </p:nvSpPr>
        <p:spPr>
          <a:xfrm>
            <a:off x="923544" y="3575304"/>
            <a:ext cx="512064" cy="512064"/>
          </a:xfrm>
          <a:prstGeom prst="ellipse">
            <a:avLst/>
          </a:prstGeom>
          <a:solidFill>
            <a:srgbClr val="0B2A45"/>
          </a:solidFill>
          <a:ln/>
        </p:spPr>
      </p:sp>
      <p:pic>
        <p:nvPicPr>
          <p:cNvPr id="22" name="Image 3" descr="assets/icons/search.png">    </p:cNvPr>
          <p:cNvPicPr>
            <a:picLocks noChangeAspect="1"/>
          </p:cNvPicPr>
          <p:nvPr/>
        </p:nvPicPr>
        <p:blipFill>
          <a:blip r:embed="rId5"/>
          <a:stretch>
            <a:fillRect/>
          </a:stretch>
        </p:blipFill>
        <p:spPr>
          <a:xfrm>
            <a:off x="1066922" y="3718682"/>
            <a:ext cx="225308" cy="225308"/>
          </a:xfrm>
          <a:prstGeom prst="rect">
            <a:avLst/>
          </a:prstGeom>
        </p:spPr>
      </p:pic>
      <p:sp>
        <p:nvSpPr>
          <p:cNvPr id="23" name="Text 17"/>
          <p:cNvSpPr txBox="1"/>
          <p:nvPr/>
        </p:nvSpPr>
        <p:spPr>
          <a:xfrm>
            <a:off x="1554480" y="3538728"/>
            <a:ext cx="2450592" cy="502920"/>
          </a:xfrm>
          <a:prstGeom prst="rect">
            <a:avLst/>
          </a:prstGeom>
          <a:noFill/>
          <a:ln/>
        </p:spPr>
        <p:txBody>
          <a:bodyPr wrap="square" lIns="0" tIns="0" rIns="0" bIns="0" rtlCol="0" anchor="ctr"/>
          <a:lstStyle/>
          <a:p>
            <a:pPr indent="0" marL="0">
              <a:buNone/>
            </a:pPr>
            <a:r>
              <a:rPr lang="en-US" sz="1350" b="1" dirty="0">
                <a:solidFill>
                  <a:srgbClr val="0B2A45"/>
                </a:solidFill>
                <a:latin typeface="Arial" pitchFamily="34" charset="0"/>
                <a:ea typeface="Arial" pitchFamily="34" charset="-122"/>
                <a:cs typeface="Arial" pitchFamily="34" charset="-120"/>
              </a:rPr>
              <a:t>Vulnerability mgmt</a:t>
            </a:r>
            <a:endParaRPr lang="en-US" sz="1350" dirty="0"/>
          </a:p>
        </p:txBody>
      </p:sp>
      <p:sp>
        <p:nvSpPr>
          <p:cNvPr id="24" name="Text 18"/>
          <p:cNvSpPr txBox="1"/>
          <p:nvPr/>
        </p:nvSpPr>
        <p:spPr>
          <a:xfrm>
            <a:off x="923544" y="4123944"/>
            <a:ext cx="2999232" cy="502920"/>
          </a:xfrm>
          <a:prstGeom prst="rect">
            <a:avLst/>
          </a:prstGeom>
          <a:noFill/>
          <a:ln/>
        </p:spPr>
        <p:txBody>
          <a:bodyPr wrap="square" lIns="0" tIns="0" rIns="0" bIns="0" rtlCol="0" anchor="ctr"/>
          <a:lstStyle/>
          <a:p>
            <a:pPr indent="0" marL="0">
              <a:lnSpc>
                <a:spcPct val="98000"/>
              </a:lnSpc>
              <a:buNone/>
            </a:pPr>
            <a:r>
              <a:rPr lang="en-US" sz="1100" dirty="0">
                <a:solidFill>
                  <a:srgbClr val="475569"/>
                </a:solidFill>
                <a:latin typeface="Arial" pitchFamily="34" charset="0"/>
                <a:ea typeface="Arial" pitchFamily="34" charset="-122"/>
                <a:cs typeface="Arial" pitchFamily="34" charset="-120"/>
              </a:rPr>
              <a:t>Find and fix weaknesses before attackers reach them.</a:t>
            </a:r>
            <a:endParaRPr lang="en-US" sz="1100" dirty="0"/>
          </a:p>
        </p:txBody>
      </p:sp>
      <p:sp>
        <p:nvSpPr>
          <p:cNvPr id="25" name="Shape 19"/>
          <p:cNvSpPr/>
          <p:nvPr/>
        </p:nvSpPr>
        <p:spPr>
          <a:xfrm>
            <a:off x="4471416" y="3337560"/>
            <a:ext cx="3456432" cy="1353312"/>
          </a:xfrm>
          <a:prstGeom prst="roundRect">
            <a:avLst>
              <a:gd name="adj" fmla="val 6757"/>
            </a:avLst>
          </a:prstGeom>
          <a:solidFill>
            <a:srgbClr val="EAF4FB"/>
          </a:solidFill>
          <a:ln/>
          <a:effectLst>
            <a:outerShdw sx="100000" sy="100000" kx="0" ky="0" algn="bl" rotWithShape="0" blurRad="127000" dist="38100" dir="5400000">
              <a:srgbClr val="000000">
                <a:alpha val="35000"/>
              </a:srgbClr>
            </a:outerShdw>
          </a:effectLst>
        </p:spPr>
      </p:sp>
      <p:sp>
        <p:nvSpPr>
          <p:cNvPr id="26" name="Shape 20"/>
          <p:cNvSpPr/>
          <p:nvPr/>
        </p:nvSpPr>
        <p:spPr>
          <a:xfrm>
            <a:off x="4709160" y="3575304"/>
            <a:ext cx="512064" cy="512064"/>
          </a:xfrm>
          <a:prstGeom prst="ellipse">
            <a:avLst/>
          </a:prstGeom>
          <a:solidFill>
            <a:srgbClr val="0B2A45"/>
          </a:solidFill>
          <a:ln/>
        </p:spPr>
      </p:sp>
      <p:pic>
        <p:nvPicPr>
          <p:cNvPr id="27" name="Image 4" descr="assets/icons/activity.png">    </p:cNvPr>
          <p:cNvPicPr>
            <a:picLocks noChangeAspect="1"/>
          </p:cNvPicPr>
          <p:nvPr/>
        </p:nvPicPr>
        <p:blipFill>
          <a:blip r:embed="rId6"/>
          <a:stretch>
            <a:fillRect/>
          </a:stretch>
        </p:blipFill>
        <p:spPr>
          <a:xfrm>
            <a:off x="4852538" y="3718682"/>
            <a:ext cx="225308" cy="225308"/>
          </a:xfrm>
          <a:prstGeom prst="rect">
            <a:avLst/>
          </a:prstGeom>
        </p:spPr>
      </p:pic>
      <p:sp>
        <p:nvSpPr>
          <p:cNvPr id="28" name="Text 21"/>
          <p:cNvSpPr txBox="1"/>
          <p:nvPr/>
        </p:nvSpPr>
        <p:spPr>
          <a:xfrm>
            <a:off x="5340096" y="3538728"/>
            <a:ext cx="2450592" cy="502920"/>
          </a:xfrm>
          <a:prstGeom prst="rect">
            <a:avLst/>
          </a:prstGeom>
          <a:noFill/>
          <a:ln/>
        </p:spPr>
        <p:txBody>
          <a:bodyPr wrap="square" lIns="0" tIns="0" rIns="0" bIns="0" rtlCol="0" anchor="ctr"/>
          <a:lstStyle/>
          <a:p>
            <a:pPr indent="0" marL="0">
              <a:buNone/>
            </a:pPr>
            <a:r>
              <a:rPr lang="en-US" sz="1350" b="1" dirty="0">
                <a:solidFill>
                  <a:srgbClr val="0B2A45"/>
                </a:solidFill>
                <a:latin typeface="Arial" pitchFamily="34" charset="0"/>
                <a:ea typeface="Arial" pitchFamily="34" charset="-122"/>
                <a:cs typeface="Arial" pitchFamily="34" charset="-120"/>
              </a:rPr>
              <a:t>Network monitoring</a:t>
            </a:r>
            <a:endParaRPr lang="en-US" sz="1350" dirty="0"/>
          </a:p>
        </p:txBody>
      </p:sp>
      <p:sp>
        <p:nvSpPr>
          <p:cNvPr id="29" name="Text 22"/>
          <p:cNvSpPr txBox="1"/>
          <p:nvPr/>
        </p:nvSpPr>
        <p:spPr>
          <a:xfrm>
            <a:off x="4709160" y="4123944"/>
            <a:ext cx="2999232" cy="502920"/>
          </a:xfrm>
          <a:prstGeom prst="rect">
            <a:avLst/>
          </a:prstGeom>
          <a:noFill/>
          <a:ln/>
        </p:spPr>
        <p:txBody>
          <a:bodyPr wrap="square" lIns="0" tIns="0" rIns="0" bIns="0" rtlCol="0" anchor="ctr"/>
          <a:lstStyle/>
          <a:p>
            <a:pPr indent="0" marL="0">
              <a:lnSpc>
                <a:spcPct val="98000"/>
              </a:lnSpc>
              <a:buNone/>
            </a:pPr>
            <a:r>
              <a:rPr lang="en-US" sz="1100" dirty="0">
                <a:solidFill>
                  <a:srgbClr val="475569"/>
                </a:solidFill>
                <a:latin typeface="Arial" pitchFamily="34" charset="0"/>
                <a:ea typeface="Arial" pitchFamily="34" charset="-122"/>
                <a:cs typeface="Arial" pitchFamily="34" charset="-120"/>
              </a:rPr>
              <a:t>Watch for abnormal load and traffic to catch spread early.</a:t>
            </a:r>
            <a:endParaRPr lang="en-US" sz="1100" dirty="0"/>
          </a:p>
        </p:txBody>
      </p:sp>
      <p:sp>
        <p:nvSpPr>
          <p:cNvPr id="30" name="Shape 23"/>
          <p:cNvSpPr/>
          <p:nvPr/>
        </p:nvSpPr>
        <p:spPr>
          <a:xfrm>
            <a:off x="8257032" y="3337560"/>
            <a:ext cx="3456432" cy="1353312"/>
          </a:xfrm>
          <a:prstGeom prst="roundRect">
            <a:avLst>
              <a:gd name="adj" fmla="val 6757"/>
            </a:avLst>
          </a:prstGeom>
          <a:solidFill>
            <a:srgbClr val="EAF4FB"/>
          </a:solidFill>
          <a:ln/>
          <a:effectLst>
            <a:outerShdw sx="100000" sy="100000" kx="0" ky="0" algn="bl" rotWithShape="0" blurRad="127000" dist="38100" dir="5400000">
              <a:srgbClr val="000000">
                <a:alpha val="35000"/>
              </a:srgbClr>
            </a:outerShdw>
          </a:effectLst>
        </p:spPr>
      </p:sp>
      <p:sp>
        <p:nvSpPr>
          <p:cNvPr id="31" name="Shape 24"/>
          <p:cNvSpPr/>
          <p:nvPr/>
        </p:nvSpPr>
        <p:spPr>
          <a:xfrm>
            <a:off x="8494776" y="3575304"/>
            <a:ext cx="512064" cy="512064"/>
          </a:xfrm>
          <a:prstGeom prst="ellipse">
            <a:avLst/>
          </a:prstGeom>
          <a:solidFill>
            <a:srgbClr val="0B2A45"/>
          </a:solidFill>
          <a:ln/>
        </p:spPr>
      </p:sp>
      <p:pic>
        <p:nvPicPr>
          <p:cNvPr id="32" name="Image 5" descr="assets/icons/shield.png">    </p:cNvPr>
          <p:cNvPicPr>
            <a:picLocks noChangeAspect="1"/>
          </p:cNvPicPr>
          <p:nvPr/>
        </p:nvPicPr>
        <p:blipFill>
          <a:blip r:embed="rId7"/>
          <a:stretch>
            <a:fillRect/>
          </a:stretch>
        </p:blipFill>
        <p:spPr>
          <a:xfrm>
            <a:off x="8638154" y="3718682"/>
            <a:ext cx="225308" cy="225308"/>
          </a:xfrm>
          <a:prstGeom prst="rect">
            <a:avLst/>
          </a:prstGeom>
        </p:spPr>
      </p:pic>
      <p:sp>
        <p:nvSpPr>
          <p:cNvPr id="33" name="Text 25"/>
          <p:cNvSpPr txBox="1"/>
          <p:nvPr/>
        </p:nvSpPr>
        <p:spPr>
          <a:xfrm>
            <a:off x="9125712" y="3538728"/>
            <a:ext cx="2450592" cy="502920"/>
          </a:xfrm>
          <a:prstGeom prst="rect">
            <a:avLst/>
          </a:prstGeom>
          <a:noFill/>
          <a:ln/>
        </p:spPr>
        <p:txBody>
          <a:bodyPr wrap="square" lIns="0" tIns="0" rIns="0" bIns="0" rtlCol="0" anchor="ctr"/>
          <a:lstStyle/>
          <a:p>
            <a:pPr indent="0" marL="0">
              <a:buNone/>
            </a:pPr>
            <a:r>
              <a:rPr lang="en-US" sz="1350" b="1" dirty="0">
                <a:solidFill>
                  <a:srgbClr val="0B2A45"/>
                </a:solidFill>
                <a:latin typeface="Arial" pitchFamily="34" charset="0"/>
                <a:ea typeface="Arial" pitchFamily="34" charset="-122"/>
                <a:cs typeface="Arial" pitchFamily="34" charset="-120"/>
              </a:rPr>
              <a:t>Access control</a:t>
            </a:r>
            <a:endParaRPr lang="en-US" sz="1350" dirty="0"/>
          </a:p>
        </p:txBody>
      </p:sp>
      <p:sp>
        <p:nvSpPr>
          <p:cNvPr id="34" name="Text 26"/>
          <p:cNvSpPr txBox="1"/>
          <p:nvPr/>
        </p:nvSpPr>
        <p:spPr>
          <a:xfrm>
            <a:off x="8494776" y="4123944"/>
            <a:ext cx="2999232" cy="502920"/>
          </a:xfrm>
          <a:prstGeom prst="rect">
            <a:avLst/>
          </a:prstGeom>
          <a:noFill/>
          <a:ln/>
        </p:spPr>
        <p:txBody>
          <a:bodyPr wrap="square" lIns="0" tIns="0" rIns="0" bIns="0" rtlCol="0" anchor="ctr"/>
          <a:lstStyle/>
          <a:p>
            <a:pPr indent="0" marL="0">
              <a:lnSpc>
                <a:spcPct val="98000"/>
              </a:lnSpc>
              <a:buNone/>
            </a:pPr>
            <a:r>
              <a:rPr lang="en-US" sz="1100" dirty="0">
                <a:solidFill>
                  <a:srgbClr val="475569"/>
                </a:solidFill>
                <a:latin typeface="Arial" pitchFamily="34" charset="0"/>
                <a:ea typeface="Arial" pitchFamily="34" charset="-122"/>
                <a:cs typeface="Arial" pitchFamily="34" charset="-120"/>
              </a:rPr>
              <a:t>Limit trust between hosts; apply least privilege.</a:t>
            </a:r>
            <a:endParaRPr lang="en-US" sz="1100" dirty="0"/>
          </a:p>
        </p:txBody>
      </p:sp>
      <p:sp>
        <p:nvSpPr>
          <p:cNvPr id="35" name="Shape 27"/>
          <p:cNvSpPr/>
          <p:nvPr/>
        </p:nvSpPr>
        <p:spPr>
          <a:xfrm>
            <a:off x="685800" y="4892040"/>
            <a:ext cx="3456432" cy="1353312"/>
          </a:xfrm>
          <a:prstGeom prst="roundRect">
            <a:avLst>
              <a:gd name="adj" fmla="val 6757"/>
            </a:avLst>
          </a:prstGeom>
          <a:solidFill>
            <a:srgbClr val="EAF4FB"/>
          </a:solidFill>
          <a:ln/>
          <a:effectLst>
            <a:outerShdw sx="100000" sy="100000" kx="0" ky="0" algn="bl" rotWithShape="0" blurRad="127000" dist="38100" dir="5400000">
              <a:srgbClr val="000000">
                <a:alpha val="35000"/>
              </a:srgbClr>
            </a:outerShdw>
          </a:effectLst>
        </p:spPr>
      </p:sp>
      <p:sp>
        <p:nvSpPr>
          <p:cNvPr id="36" name="Shape 28"/>
          <p:cNvSpPr/>
          <p:nvPr/>
        </p:nvSpPr>
        <p:spPr>
          <a:xfrm>
            <a:off x="923544" y="5129784"/>
            <a:ext cx="512064" cy="512064"/>
          </a:xfrm>
          <a:prstGeom prst="ellipse">
            <a:avLst/>
          </a:prstGeom>
          <a:solidFill>
            <a:srgbClr val="0B2A45"/>
          </a:solidFill>
          <a:ln/>
        </p:spPr>
      </p:sp>
      <p:pic>
        <p:nvPicPr>
          <p:cNvPr id="37" name="Image 6" descr="assets/icons/zap.png">    </p:cNvPr>
          <p:cNvPicPr>
            <a:picLocks noChangeAspect="1"/>
          </p:cNvPicPr>
          <p:nvPr/>
        </p:nvPicPr>
        <p:blipFill>
          <a:blip r:embed="rId8"/>
          <a:stretch>
            <a:fillRect/>
          </a:stretch>
        </p:blipFill>
        <p:spPr>
          <a:xfrm>
            <a:off x="1066922" y="5273162"/>
            <a:ext cx="225308" cy="225308"/>
          </a:xfrm>
          <a:prstGeom prst="rect">
            <a:avLst/>
          </a:prstGeom>
        </p:spPr>
      </p:pic>
      <p:sp>
        <p:nvSpPr>
          <p:cNvPr id="38" name="Text 29"/>
          <p:cNvSpPr txBox="1"/>
          <p:nvPr/>
        </p:nvSpPr>
        <p:spPr>
          <a:xfrm>
            <a:off x="1554480" y="5093208"/>
            <a:ext cx="2450592" cy="502920"/>
          </a:xfrm>
          <a:prstGeom prst="rect">
            <a:avLst/>
          </a:prstGeom>
          <a:noFill/>
          <a:ln/>
        </p:spPr>
        <p:txBody>
          <a:bodyPr wrap="square" lIns="0" tIns="0" rIns="0" bIns="0" rtlCol="0" anchor="ctr"/>
          <a:lstStyle/>
          <a:p>
            <a:pPr indent="0" marL="0">
              <a:buNone/>
            </a:pPr>
            <a:r>
              <a:rPr lang="en-US" sz="1350" b="1" dirty="0">
                <a:solidFill>
                  <a:srgbClr val="0B2A45"/>
                </a:solidFill>
                <a:latin typeface="Arial" pitchFamily="34" charset="0"/>
                <a:ea typeface="Arial" pitchFamily="34" charset="-122"/>
                <a:cs typeface="Arial" pitchFamily="34" charset="-120"/>
              </a:rPr>
              <a:t>Incident response</a:t>
            </a:r>
            <a:endParaRPr lang="en-US" sz="1350" dirty="0"/>
          </a:p>
        </p:txBody>
      </p:sp>
      <p:sp>
        <p:nvSpPr>
          <p:cNvPr id="39" name="Text 30"/>
          <p:cNvSpPr txBox="1"/>
          <p:nvPr/>
        </p:nvSpPr>
        <p:spPr>
          <a:xfrm>
            <a:off x="923544" y="5678424"/>
            <a:ext cx="2999232" cy="502920"/>
          </a:xfrm>
          <a:prstGeom prst="rect">
            <a:avLst/>
          </a:prstGeom>
          <a:noFill/>
          <a:ln/>
        </p:spPr>
        <p:txBody>
          <a:bodyPr wrap="square" lIns="0" tIns="0" rIns="0" bIns="0" rtlCol="0" anchor="ctr"/>
          <a:lstStyle/>
          <a:p>
            <a:pPr indent="0" marL="0">
              <a:lnSpc>
                <a:spcPct val="98000"/>
              </a:lnSpc>
              <a:buNone/>
            </a:pPr>
            <a:r>
              <a:rPr lang="en-US" sz="1100" dirty="0">
                <a:solidFill>
                  <a:srgbClr val="475569"/>
                </a:solidFill>
                <a:latin typeface="Arial" pitchFamily="34" charset="0"/>
                <a:ea typeface="Arial" pitchFamily="34" charset="-122"/>
                <a:cs typeface="Arial" pitchFamily="34" charset="-120"/>
              </a:rPr>
              <a:t>Have a tested plan to detect, isolate and recover.</a:t>
            </a:r>
            <a:endParaRPr lang="en-US" sz="1100" dirty="0"/>
          </a:p>
        </p:txBody>
      </p:sp>
      <p:sp>
        <p:nvSpPr>
          <p:cNvPr id="40" name="Shape 31"/>
          <p:cNvSpPr/>
          <p:nvPr/>
        </p:nvSpPr>
        <p:spPr>
          <a:xfrm>
            <a:off x="4471416" y="4892040"/>
            <a:ext cx="3456432" cy="1353312"/>
          </a:xfrm>
          <a:prstGeom prst="roundRect">
            <a:avLst>
              <a:gd name="adj" fmla="val 6757"/>
            </a:avLst>
          </a:prstGeom>
          <a:solidFill>
            <a:srgbClr val="EAF4FB"/>
          </a:solidFill>
          <a:ln/>
          <a:effectLst>
            <a:outerShdw sx="100000" sy="100000" kx="0" ky="0" algn="bl" rotWithShape="0" blurRad="127000" dist="38100" dir="5400000">
              <a:srgbClr val="000000">
                <a:alpha val="35000"/>
              </a:srgbClr>
            </a:outerShdw>
          </a:effectLst>
        </p:spPr>
      </p:sp>
      <p:sp>
        <p:nvSpPr>
          <p:cNvPr id="41" name="Shape 32"/>
          <p:cNvSpPr/>
          <p:nvPr/>
        </p:nvSpPr>
        <p:spPr>
          <a:xfrm>
            <a:off x="4709160" y="5129784"/>
            <a:ext cx="512064" cy="512064"/>
          </a:xfrm>
          <a:prstGeom prst="ellipse">
            <a:avLst/>
          </a:prstGeom>
          <a:solidFill>
            <a:srgbClr val="0B2A45"/>
          </a:solidFill>
          <a:ln/>
        </p:spPr>
      </p:sp>
      <p:pic>
        <p:nvPicPr>
          <p:cNvPr id="42" name="Image 7" descr="assets/icons/code.png">    </p:cNvPr>
          <p:cNvPicPr>
            <a:picLocks noChangeAspect="1"/>
          </p:cNvPicPr>
          <p:nvPr/>
        </p:nvPicPr>
        <p:blipFill>
          <a:blip r:embed="rId9"/>
          <a:stretch>
            <a:fillRect/>
          </a:stretch>
        </p:blipFill>
        <p:spPr>
          <a:xfrm>
            <a:off x="4852538" y="5273162"/>
            <a:ext cx="225308" cy="225308"/>
          </a:xfrm>
          <a:prstGeom prst="rect">
            <a:avLst/>
          </a:prstGeom>
        </p:spPr>
      </p:pic>
      <p:sp>
        <p:nvSpPr>
          <p:cNvPr id="43" name="Text 33"/>
          <p:cNvSpPr txBox="1"/>
          <p:nvPr/>
        </p:nvSpPr>
        <p:spPr>
          <a:xfrm>
            <a:off x="5340096" y="5093208"/>
            <a:ext cx="2450592" cy="502920"/>
          </a:xfrm>
          <a:prstGeom prst="rect">
            <a:avLst/>
          </a:prstGeom>
          <a:noFill/>
          <a:ln/>
        </p:spPr>
        <p:txBody>
          <a:bodyPr wrap="square" lIns="0" tIns="0" rIns="0" bIns="0" rtlCol="0" anchor="ctr"/>
          <a:lstStyle/>
          <a:p>
            <a:pPr indent="0" marL="0">
              <a:buNone/>
            </a:pPr>
            <a:r>
              <a:rPr lang="en-US" sz="1350" b="1" dirty="0">
                <a:solidFill>
                  <a:srgbClr val="0B2A45"/>
                </a:solidFill>
                <a:latin typeface="Arial" pitchFamily="34" charset="0"/>
                <a:ea typeface="Arial" pitchFamily="34" charset="-122"/>
                <a:cs typeface="Arial" pitchFamily="34" charset="-120"/>
              </a:rPr>
              <a:t>Secure coding</a:t>
            </a:r>
            <a:endParaRPr lang="en-US" sz="1350" dirty="0"/>
          </a:p>
        </p:txBody>
      </p:sp>
      <p:sp>
        <p:nvSpPr>
          <p:cNvPr id="44" name="Text 34"/>
          <p:cNvSpPr txBox="1"/>
          <p:nvPr/>
        </p:nvSpPr>
        <p:spPr>
          <a:xfrm>
            <a:off x="4709160" y="5678424"/>
            <a:ext cx="2999232" cy="502920"/>
          </a:xfrm>
          <a:prstGeom prst="rect">
            <a:avLst/>
          </a:prstGeom>
          <a:noFill/>
          <a:ln/>
        </p:spPr>
        <p:txBody>
          <a:bodyPr wrap="square" lIns="0" tIns="0" rIns="0" bIns="0" rtlCol="0" anchor="ctr"/>
          <a:lstStyle/>
          <a:p>
            <a:pPr indent="0" marL="0">
              <a:lnSpc>
                <a:spcPct val="98000"/>
              </a:lnSpc>
              <a:buNone/>
            </a:pPr>
            <a:r>
              <a:rPr lang="en-US" sz="1100" dirty="0">
                <a:solidFill>
                  <a:srgbClr val="475569"/>
                </a:solidFill>
                <a:latin typeface="Arial" pitchFamily="34" charset="0"/>
                <a:ea typeface="Arial" pitchFamily="34" charset="-122"/>
                <a:cs typeface="Arial" pitchFamily="34" charset="-120"/>
              </a:rPr>
              <a:t>Validate input and avoid unsafe programming patterns.</a:t>
            </a:r>
            <a:endParaRPr lang="en-US" sz="1100" dirty="0"/>
          </a:p>
        </p:txBody>
      </p:sp>
      <p:sp>
        <p:nvSpPr>
          <p:cNvPr id="45" name="Shape 35"/>
          <p:cNvSpPr/>
          <p:nvPr/>
        </p:nvSpPr>
        <p:spPr>
          <a:xfrm>
            <a:off x="8257032" y="4892040"/>
            <a:ext cx="3456432" cy="1353312"/>
          </a:xfrm>
          <a:prstGeom prst="roundRect">
            <a:avLst>
              <a:gd name="adj" fmla="val 6757"/>
            </a:avLst>
          </a:prstGeom>
          <a:solidFill>
            <a:srgbClr val="EAF4FB"/>
          </a:solidFill>
          <a:ln/>
          <a:effectLst>
            <a:outerShdw sx="100000" sy="100000" kx="0" ky="0" algn="bl" rotWithShape="0" blurRad="127000" dist="38100" dir="5400000">
              <a:srgbClr val="000000">
                <a:alpha val="35000"/>
              </a:srgbClr>
            </a:outerShdw>
          </a:effectLst>
        </p:spPr>
      </p:sp>
      <p:sp>
        <p:nvSpPr>
          <p:cNvPr id="46" name="Shape 36"/>
          <p:cNvSpPr/>
          <p:nvPr/>
        </p:nvSpPr>
        <p:spPr>
          <a:xfrm>
            <a:off x="8494776" y="5129784"/>
            <a:ext cx="512064" cy="512064"/>
          </a:xfrm>
          <a:prstGeom prst="ellipse">
            <a:avLst/>
          </a:prstGeom>
          <a:solidFill>
            <a:srgbClr val="0B2A45"/>
          </a:solidFill>
          <a:ln/>
        </p:spPr>
      </p:sp>
      <p:pic>
        <p:nvPicPr>
          <p:cNvPr id="47" name="Image 8" descr="assets/icons/layers.png">    </p:cNvPr>
          <p:cNvPicPr>
            <a:picLocks noChangeAspect="1"/>
          </p:cNvPicPr>
          <p:nvPr/>
        </p:nvPicPr>
        <p:blipFill>
          <a:blip r:embed="rId10"/>
          <a:stretch>
            <a:fillRect/>
          </a:stretch>
        </p:blipFill>
        <p:spPr>
          <a:xfrm>
            <a:off x="8638154" y="5273162"/>
            <a:ext cx="225308" cy="225308"/>
          </a:xfrm>
          <a:prstGeom prst="rect">
            <a:avLst/>
          </a:prstGeom>
        </p:spPr>
      </p:pic>
      <p:sp>
        <p:nvSpPr>
          <p:cNvPr id="48" name="Text 37"/>
          <p:cNvSpPr txBox="1"/>
          <p:nvPr/>
        </p:nvSpPr>
        <p:spPr>
          <a:xfrm>
            <a:off x="9125712" y="5093208"/>
            <a:ext cx="2450592" cy="502920"/>
          </a:xfrm>
          <a:prstGeom prst="rect">
            <a:avLst/>
          </a:prstGeom>
          <a:noFill/>
          <a:ln/>
        </p:spPr>
        <p:txBody>
          <a:bodyPr wrap="square" lIns="0" tIns="0" rIns="0" bIns="0" rtlCol="0" anchor="ctr"/>
          <a:lstStyle/>
          <a:p>
            <a:pPr indent="0" marL="0">
              <a:buNone/>
            </a:pPr>
            <a:r>
              <a:rPr lang="en-US" sz="1350" b="1" dirty="0">
                <a:solidFill>
                  <a:srgbClr val="0B2A45"/>
                </a:solidFill>
                <a:latin typeface="Arial" pitchFamily="34" charset="0"/>
                <a:ea typeface="Arial" pitchFamily="34" charset="-122"/>
                <a:cs typeface="Arial" pitchFamily="34" charset="-120"/>
              </a:rPr>
              <a:t>Network segmentation</a:t>
            </a:r>
            <a:endParaRPr lang="en-US" sz="1350" dirty="0"/>
          </a:p>
        </p:txBody>
      </p:sp>
      <p:sp>
        <p:nvSpPr>
          <p:cNvPr id="49" name="Text 38"/>
          <p:cNvSpPr txBox="1"/>
          <p:nvPr/>
        </p:nvSpPr>
        <p:spPr>
          <a:xfrm>
            <a:off x="8494776" y="5678424"/>
            <a:ext cx="2999232" cy="502920"/>
          </a:xfrm>
          <a:prstGeom prst="rect">
            <a:avLst/>
          </a:prstGeom>
          <a:noFill/>
          <a:ln/>
        </p:spPr>
        <p:txBody>
          <a:bodyPr wrap="square" lIns="0" tIns="0" rIns="0" bIns="0" rtlCol="0" anchor="ctr"/>
          <a:lstStyle/>
          <a:p>
            <a:pPr indent="0" marL="0">
              <a:lnSpc>
                <a:spcPct val="98000"/>
              </a:lnSpc>
              <a:buNone/>
            </a:pPr>
            <a:r>
              <a:rPr lang="en-US" sz="1100" dirty="0">
                <a:solidFill>
                  <a:srgbClr val="475569"/>
                </a:solidFill>
                <a:latin typeface="Arial" pitchFamily="34" charset="0"/>
                <a:ea typeface="Arial" pitchFamily="34" charset="-122"/>
                <a:cs typeface="Arial" pitchFamily="34" charset="-120"/>
              </a:rPr>
              <a:t>Contain outbreaks by dividing networks into zones.</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11430000" y="6400800"/>
            <a:ext cx="548640" cy="320040"/>
          </a:xfrm>
          <a:prstGeom prst="rect">
            <a:avLst/>
          </a:prstGeom>
          <a:noFill/>
          <a:ln/>
        </p:spPr>
        <p:txBody>
          <a:bodyPr wrap="square" lIns="0" tIns="0" rIns="0" bIns="0" rtlCol="0" anchor="ctr"/>
          <a:lstStyle/>
          <a:p>
            <a:pPr algn="r" indent="0" marL="0">
              <a:buNone/>
            </a:pPr>
            <a:r>
              <a:rPr lang="en-US" sz="1100" dirty="0">
                <a:solidFill>
                  <a:srgbClr val="94A3B8"/>
                </a:solidFill>
                <a:latin typeface="Courier New" pitchFamily="34" charset="0"/>
                <a:ea typeface="Courier New" pitchFamily="34" charset="-122"/>
                <a:cs typeface="Courier New" pitchFamily="34" charset="-120"/>
              </a:rPr>
              <a:t>12</a:t>
            </a:r>
            <a:endParaRPr lang="en-US" sz="1100" dirty="0"/>
          </a:p>
        </p:txBody>
      </p:sp>
      <p:sp>
        <p:nvSpPr>
          <p:cNvPr id="3" name="Text 1"/>
          <p:cNvSpPr txBox="1"/>
          <p:nvPr/>
        </p:nvSpPr>
        <p:spPr>
          <a:xfrm>
            <a:off x="685800" y="502920"/>
            <a:ext cx="5486400" cy="292608"/>
          </a:xfrm>
          <a:prstGeom prst="rect">
            <a:avLst/>
          </a:prstGeom>
          <a:noFill/>
          <a:ln/>
        </p:spPr>
        <p:txBody>
          <a:bodyPr wrap="square" lIns="0" tIns="0" rIns="0" bIns="0" rtlCol="0" anchor="ctr"/>
          <a:lstStyle/>
          <a:p>
            <a:pPr indent="0" marL="0">
              <a:buNone/>
            </a:pPr>
            <a:r>
              <a:rPr lang="en-US" sz="1250" spc="250" kern="0" dirty="0">
                <a:solidFill>
                  <a:srgbClr val="22D3EE"/>
                </a:solidFill>
                <a:latin typeface="Courier New" pitchFamily="34" charset="0"/>
                <a:ea typeface="Courier New" pitchFamily="34" charset="-122"/>
                <a:cs typeface="Courier New" pitchFamily="34" charset="-120"/>
              </a:rPr>
              <a:t>MODERN ANALYSIS</a:t>
            </a:r>
            <a:endParaRPr lang="en-US" sz="1250" dirty="0"/>
          </a:p>
        </p:txBody>
      </p:sp>
      <p:sp>
        <p:nvSpPr>
          <p:cNvPr id="4" name="Text 2"/>
          <p:cNvSpPr txBox="1"/>
          <p:nvPr/>
        </p:nvSpPr>
        <p:spPr>
          <a:xfrm>
            <a:off x="685800" y="822960"/>
            <a:ext cx="10789920" cy="1097280"/>
          </a:xfrm>
          <a:prstGeom prst="rect">
            <a:avLst/>
          </a:prstGeom>
          <a:noFill/>
          <a:ln/>
        </p:spPr>
        <p:txBody>
          <a:bodyPr wrap="square" lIns="0" tIns="0" rIns="0" bIns="0" rtlCol="0" anchor="ctr"/>
          <a:lstStyle/>
          <a:p>
            <a:pPr indent="0" marL="0">
              <a:lnSpc>
                <a:spcPct val="98000"/>
              </a:lnSpc>
              <a:buNone/>
            </a:pPr>
            <a:r>
              <a:rPr lang="en-US" sz="3800" b="1" dirty="0">
                <a:solidFill>
                  <a:srgbClr val="FFFFFF"/>
                </a:solidFill>
                <a:latin typeface="Arial" pitchFamily="34" charset="0"/>
                <a:ea typeface="Arial" pitchFamily="34" charset="-122"/>
                <a:cs typeface="Arial" pitchFamily="34" charset="-120"/>
              </a:rPr>
              <a:t>Morris Worm: then vs today</a:t>
            </a:r>
            <a:endParaRPr lang="en-US" sz="3800" dirty="0"/>
          </a:p>
        </p:txBody>
      </p:sp>
      <p:sp>
        <p:nvSpPr>
          <p:cNvPr id="5" name="Text 3"/>
          <p:cNvSpPr txBox="1"/>
          <p:nvPr/>
        </p:nvSpPr>
        <p:spPr>
          <a:xfrm>
            <a:off x="685800" y="1737360"/>
            <a:ext cx="10789920" cy="411480"/>
          </a:xfrm>
          <a:prstGeom prst="rect">
            <a:avLst/>
          </a:prstGeom>
          <a:noFill/>
          <a:ln/>
        </p:spPr>
        <p:txBody>
          <a:bodyPr wrap="square" lIns="0" tIns="0" rIns="0" bIns="0" rtlCol="0" anchor="ctr"/>
          <a:lstStyle/>
          <a:p>
            <a:pPr indent="0" marL="0">
              <a:buNone/>
            </a:pPr>
            <a:r>
              <a:rPr lang="en-US" sz="1400" i="1" dirty="0">
                <a:solidFill>
                  <a:srgbClr val="94A3B8"/>
                </a:solidFill>
                <a:latin typeface="Arial" pitchFamily="34" charset="0"/>
                <a:ea typeface="Arial" pitchFamily="34" charset="-122"/>
                <a:cs typeface="Arial" pitchFamily="34" charset="-120"/>
              </a:rPr>
              <a:t>A comparison of the 1988 environment with modern cybersecurity practice (present-day analysis).</a:t>
            </a:r>
            <a:endParaRPr lang="en-US" sz="1400" dirty="0"/>
          </a:p>
        </p:txBody>
      </p:sp>
      <p:sp>
        <p:nvSpPr>
          <p:cNvPr id="6" name="Shape 4"/>
          <p:cNvSpPr/>
          <p:nvPr/>
        </p:nvSpPr>
        <p:spPr>
          <a:xfrm>
            <a:off x="685800" y="2331720"/>
            <a:ext cx="2926080" cy="676656"/>
          </a:xfrm>
          <a:prstGeom prst="rect">
            <a:avLst/>
          </a:prstGeom>
          <a:solidFill>
            <a:srgbClr val="0B2A45"/>
          </a:solidFill>
          <a:ln w="12700">
            <a:solidFill>
              <a:srgbClr val="06121F"/>
            </a:solidFill>
            <a:prstDash val="solid"/>
          </a:ln>
        </p:spPr>
      </p:sp>
      <p:sp>
        <p:nvSpPr>
          <p:cNvPr id="7" name="Text 5"/>
          <p:cNvSpPr txBox="1"/>
          <p:nvPr/>
        </p:nvSpPr>
        <p:spPr>
          <a:xfrm>
            <a:off x="868680" y="2331720"/>
            <a:ext cx="2606040" cy="676656"/>
          </a:xfrm>
          <a:prstGeom prst="rect">
            <a:avLst/>
          </a:prstGeom>
          <a:noFill/>
          <a:ln/>
        </p:spPr>
        <p:txBody>
          <a:bodyPr wrap="square" lIns="0" tIns="0" rIns="0" bIns="0" rtlCol="0" anchor="ctr"/>
          <a:lstStyle/>
          <a:p>
            <a:pPr indent="0" marL="0">
              <a:lnSpc>
                <a:spcPct val="95000"/>
              </a:lnSpc>
              <a:buNone/>
            </a:pPr>
            <a:r>
              <a:rPr lang="en-US" sz="1350" b="1" dirty="0">
                <a:solidFill>
                  <a:srgbClr val="FFFFFF"/>
                </a:solidFill>
                <a:latin typeface="Arial" pitchFamily="34" charset="0"/>
                <a:ea typeface="Arial" pitchFamily="34" charset="-122"/>
                <a:cs typeface="Arial" pitchFamily="34" charset="-120"/>
              </a:rPr>
              <a:t>Aspect</a:t>
            </a:r>
            <a:endParaRPr lang="en-US" sz="1350" dirty="0"/>
          </a:p>
        </p:txBody>
      </p:sp>
      <p:sp>
        <p:nvSpPr>
          <p:cNvPr id="8" name="Shape 6"/>
          <p:cNvSpPr/>
          <p:nvPr/>
        </p:nvSpPr>
        <p:spPr>
          <a:xfrm>
            <a:off x="3611880" y="2331720"/>
            <a:ext cx="3931920" cy="676656"/>
          </a:xfrm>
          <a:prstGeom prst="rect">
            <a:avLst/>
          </a:prstGeom>
          <a:solidFill>
            <a:srgbClr val="0B2A45"/>
          </a:solidFill>
          <a:ln w="12700">
            <a:solidFill>
              <a:srgbClr val="06121F"/>
            </a:solidFill>
            <a:prstDash val="solid"/>
          </a:ln>
        </p:spPr>
      </p:sp>
      <p:sp>
        <p:nvSpPr>
          <p:cNvPr id="9" name="Text 7"/>
          <p:cNvSpPr txBox="1"/>
          <p:nvPr/>
        </p:nvSpPr>
        <p:spPr>
          <a:xfrm>
            <a:off x="3794760" y="2331720"/>
            <a:ext cx="3611880" cy="676656"/>
          </a:xfrm>
          <a:prstGeom prst="rect">
            <a:avLst/>
          </a:prstGeom>
          <a:noFill/>
          <a:ln/>
        </p:spPr>
        <p:txBody>
          <a:bodyPr wrap="square" lIns="0" tIns="0" rIns="0" bIns="0" rtlCol="0" anchor="ctr"/>
          <a:lstStyle/>
          <a:p>
            <a:pPr indent="0" marL="0">
              <a:lnSpc>
                <a:spcPct val="95000"/>
              </a:lnSpc>
              <a:buNone/>
            </a:pPr>
            <a:r>
              <a:rPr lang="en-US" sz="1350" b="1" dirty="0">
                <a:solidFill>
                  <a:srgbClr val="22D3EE"/>
                </a:solidFill>
                <a:latin typeface="Arial" pitchFamily="34" charset="0"/>
                <a:ea typeface="Arial" pitchFamily="34" charset="-122"/>
                <a:cs typeface="Arial" pitchFamily="34" charset="-120"/>
              </a:rPr>
              <a:t>1988</a:t>
            </a:r>
            <a:endParaRPr lang="en-US" sz="1350" dirty="0"/>
          </a:p>
        </p:txBody>
      </p:sp>
      <p:sp>
        <p:nvSpPr>
          <p:cNvPr id="10" name="Shape 8"/>
          <p:cNvSpPr/>
          <p:nvPr/>
        </p:nvSpPr>
        <p:spPr>
          <a:xfrm>
            <a:off x="7543800" y="2331720"/>
            <a:ext cx="3959352" cy="676656"/>
          </a:xfrm>
          <a:prstGeom prst="rect">
            <a:avLst/>
          </a:prstGeom>
          <a:solidFill>
            <a:srgbClr val="0B2A45"/>
          </a:solidFill>
          <a:ln w="12700">
            <a:solidFill>
              <a:srgbClr val="06121F"/>
            </a:solidFill>
            <a:prstDash val="solid"/>
          </a:ln>
        </p:spPr>
      </p:sp>
      <p:sp>
        <p:nvSpPr>
          <p:cNvPr id="11" name="Text 9"/>
          <p:cNvSpPr txBox="1"/>
          <p:nvPr/>
        </p:nvSpPr>
        <p:spPr>
          <a:xfrm>
            <a:off x="7726680" y="2331720"/>
            <a:ext cx="3639312" cy="676656"/>
          </a:xfrm>
          <a:prstGeom prst="rect">
            <a:avLst/>
          </a:prstGeom>
          <a:noFill/>
          <a:ln/>
        </p:spPr>
        <p:txBody>
          <a:bodyPr wrap="square" lIns="0" tIns="0" rIns="0" bIns="0" rtlCol="0" anchor="ctr"/>
          <a:lstStyle/>
          <a:p>
            <a:pPr indent="0" marL="0">
              <a:lnSpc>
                <a:spcPct val="95000"/>
              </a:lnSpc>
              <a:buNone/>
            </a:pPr>
            <a:r>
              <a:rPr lang="en-US" sz="1350" b="1" dirty="0">
                <a:solidFill>
                  <a:srgbClr val="22D3EE"/>
                </a:solidFill>
                <a:latin typeface="Arial" pitchFamily="34" charset="0"/>
                <a:ea typeface="Arial" pitchFamily="34" charset="-122"/>
                <a:cs typeface="Arial" pitchFamily="34" charset="-120"/>
              </a:rPr>
              <a:t>Today</a:t>
            </a:r>
            <a:endParaRPr lang="en-US" sz="1350" dirty="0"/>
          </a:p>
        </p:txBody>
      </p:sp>
      <p:sp>
        <p:nvSpPr>
          <p:cNvPr id="12" name="Shape 10"/>
          <p:cNvSpPr/>
          <p:nvPr/>
        </p:nvSpPr>
        <p:spPr>
          <a:xfrm>
            <a:off x="685800" y="3008376"/>
            <a:ext cx="2926080" cy="676656"/>
          </a:xfrm>
          <a:prstGeom prst="rect">
            <a:avLst/>
          </a:prstGeom>
          <a:solidFill>
            <a:srgbClr val="EAF4FB"/>
          </a:solidFill>
          <a:ln w="12700">
            <a:solidFill>
              <a:srgbClr val="06121F"/>
            </a:solidFill>
            <a:prstDash val="solid"/>
          </a:ln>
        </p:spPr>
      </p:sp>
      <p:sp>
        <p:nvSpPr>
          <p:cNvPr id="13" name="Text 11"/>
          <p:cNvSpPr txBox="1"/>
          <p:nvPr/>
        </p:nvSpPr>
        <p:spPr>
          <a:xfrm>
            <a:off x="868680" y="3008376"/>
            <a:ext cx="2606040" cy="676656"/>
          </a:xfrm>
          <a:prstGeom prst="rect">
            <a:avLst/>
          </a:prstGeom>
          <a:noFill/>
          <a:ln/>
        </p:spPr>
        <p:txBody>
          <a:bodyPr wrap="square" lIns="0" tIns="0" rIns="0" bIns="0" rtlCol="0" anchor="ctr"/>
          <a:lstStyle/>
          <a:p>
            <a:pPr indent="0" marL="0">
              <a:lnSpc>
                <a:spcPct val="95000"/>
              </a:lnSpc>
              <a:buNone/>
            </a:pPr>
            <a:r>
              <a:rPr lang="en-US" sz="1300" b="1" dirty="0">
                <a:solidFill>
                  <a:srgbClr val="0B2A45"/>
                </a:solidFill>
                <a:latin typeface="Arial" pitchFamily="34" charset="0"/>
                <a:ea typeface="Arial" pitchFamily="34" charset="-122"/>
                <a:cs typeface="Arial" pitchFamily="34" charset="-120"/>
              </a:rPr>
              <a:t>Network trust</a:t>
            </a:r>
            <a:endParaRPr lang="en-US" sz="1300" dirty="0"/>
          </a:p>
        </p:txBody>
      </p:sp>
      <p:sp>
        <p:nvSpPr>
          <p:cNvPr id="14" name="Shape 12"/>
          <p:cNvSpPr/>
          <p:nvPr/>
        </p:nvSpPr>
        <p:spPr>
          <a:xfrm>
            <a:off x="3611880" y="3008376"/>
            <a:ext cx="3931920" cy="676656"/>
          </a:xfrm>
          <a:prstGeom prst="rect">
            <a:avLst/>
          </a:prstGeom>
          <a:solidFill>
            <a:srgbClr val="EAF4FB"/>
          </a:solidFill>
          <a:ln w="12700">
            <a:solidFill>
              <a:srgbClr val="06121F"/>
            </a:solidFill>
            <a:prstDash val="solid"/>
          </a:ln>
        </p:spPr>
      </p:sp>
      <p:sp>
        <p:nvSpPr>
          <p:cNvPr id="15" name="Text 13"/>
          <p:cNvSpPr txBox="1"/>
          <p:nvPr/>
        </p:nvSpPr>
        <p:spPr>
          <a:xfrm>
            <a:off x="3794760" y="3008376"/>
            <a:ext cx="3611880" cy="676656"/>
          </a:xfrm>
          <a:prstGeom prst="rect">
            <a:avLst/>
          </a:prstGeom>
          <a:noFill/>
          <a:ln/>
        </p:spPr>
        <p:txBody>
          <a:bodyPr wrap="square" lIns="0" tIns="0" rIns="0" bIns="0" rtlCol="0" anchor="ctr"/>
          <a:lstStyle/>
          <a:p>
            <a:pPr indent="0" marL="0">
              <a:lnSpc>
                <a:spcPct val="95000"/>
              </a:lnSpc>
              <a:buNone/>
            </a:pPr>
            <a:r>
              <a:rPr lang="en-US" sz="1300" dirty="0">
                <a:solidFill>
                  <a:srgbClr val="0B2A45"/>
                </a:solidFill>
                <a:latin typeface="Arial" pitchFamily="34" charset="0"/>
                <a:ea typeface="Arial" pitchFamily="34" charset="-122"/>
                <a:cs typeface="Arial" pitchFamily="34" charset="-120"/>
              </a:rPr>
              <a:t>Open, highly trusted hosts</a:t>
            </a:r>
            <a:endParaRPr lang="en-US" sz="1300" dirty="0"/>
          </a:p>
        </p:txBody>
      </p:sp>
      <p:sp>
        <p:nvSpPr>
          <p:cNvPr id="16" name="Shape 14"/>
          <p:cNvSpPr/>
          <p:nvPr/>
        </p:nvSpPr>
        <p:spPr>
          <a:xfrm>
            <a:off x="7543800" y="3008376"/>
            <a:ext cx="3959352" cy="676656"/>
          </a:xfrm>
          <a:prstGeom prst="rect">
            <a:avLst/>
          </a:prstGeom>
          <a:solidFill>
            <a:srgbClr val="EAF4FB"/>
          </a:solidFill>
          <a:ln w="12700">
            <a:solidFill>
              <a:srgbClr val="06121F"/>
            </a:solidFill>
            <a:prstDash val="solid"/>
          </a:ln>
        </p:spPr>
      </p:sp>
      <p:sp>
        <p:nvSpPr>
          <p:cNvPr id="17" name="Text 15"/>
          <p:cNvSpPr txBox="1"/>
          <p:nvPr/>
        </p:nvSpPr>
        <p:spPr>
          <a:xfrm>
            <a:off x="7726680" y="3008376"/>
            <a:ext cx="3639312" cy="676656"/>
          </a:xfrm>
          <a:prstGeom prst="rect">
            <a:avLst/>
          </a:prstGeom>
          <a:noFill/>
          <a:ln/>
        </p:spPr>
        <p:txBody>
          <a:bodyPr wrap="square" lIns="0" tIns="0" rIns="0" bIns="0" rtlCol="0" anchor="ctr"/>
          <a:lstStyle/>
          <a:p>
            <a:pPr indent="0" marL="0">
              <a:lnSpc>
                <a:spcPct val="95000"/>
              </a:lnSpc>
              <a:buNone/>
            </a:pPr>
            <a:r>
              <a:rPr lang="en-US" sz="1300" dirty="0">
                <a:solidFill>
                  <a:srgbClr val="0B2A45"/>
                </a:solidFill>
                <a:latin typeface="Arial" pitchFamily="34" charset="0"/>
                <a:ea typeface="Arial" pitchFamily="34" charset="-122"/>
                <a:cs typeface="Arial" pitchFamily="34" charset="-120"/>
              </a:rPr>
              <a:t>Zero-trust, segmented networks</a:t>
            </a:r>
            <a:endParaRPr lang="en-US" sz="1300" dirty="0"/>
          </a:p>
        </p:txBody>
      </p:sp>
      <p:sp>
        <p:nvSpPr>
          <p:cNvPr id="18" name="Shape 16"/>
          <p:cNvSpPr/>
          <p:nvPr/>
        </p:nvSpPr>
        <p:spPr>
          <a:xfrm>
            <a:off x="685800" y="3685032"/>
            <a:ext cx="2926080" cy="676656"/>
          </a:xfrm>
          <a:prstGeom prst="rect">
            <a:avLst/>
          </a:prstGeom>
          <a:solidFill>
            <a:srgbClr val="DCEBF7"/>
          </a:solidFill>
          <a:ln w="12700">
            <a:solidFill>
              <a:srgbClr val="06121F"/>
            </a:solidFill>
            <a:prstDash val="solid"/>
          </a:ln>
        </p:spPr>
      </p:sp>
      <p:sp>
        <p:nvSpPr>
          <p:cNvPr id="19" name="Text 17"/>
          <p:cNvSpPr txBox="1"/>
          <p:nvPr/>
        </p:nvSpPr>
        <p:spPr>
          <a:xfrm>
            <a:off x="868680" y="3685032"/>
            <a:ext cx="2606040" cy="676656"/>
          </a:xfrm>
          <a:prstGeom prst="rect">
            <a:avLst/>
          </a:prstGeom>
          <a:noFill/>
          <a:ln/>
        </p:spPr>
        <p:txBody>
          <a:bodyPr wrap="square" lIns="0" tIns="0" rIns="0" bIns="0" rtlCol="0" anchor="ctr"/>
          <a:lstStyle/>
          <a:p>
            <a:pPr indent="0" marL="0">
              <a:lnSpc>
                <a:spcPct val="95000"/>
              </a:lnSpc>
              <a:buNone/>
            </a:pPr>
            <a:r>
              <a:rPr lang="en-US" sz="1300" b="1" dirty="0">
                <a:solidFill>
                  <a:srgbClr val="0B2A45"/>
                </a:solidFill>
                <a:latin typeface="Arial" pitchFamily="34" charset="0"/>
                <a:ea typeface="Arial" pitchFamily="34" charset="-122"/>
                <a:cs typeface="Arial" pitchFamily="34" charset="-120"/>
              </a:rPr>
              <a:t>Monitoring</a:t>
            </a:r>
            <a:endParaRPr lang="en-US" sz="1300" dirty="0"/>
          </a:p>
        </p:txBody>
      </p:sp>
      <p:sp>
        <p:nvSpPr>
          <p:cNvPr id="20" name="Shape 18"/>
          <p:cNvSpPr/>
          <p:nvPr/>
        </p:nvSpPr>
        <p:spPr>
          <a:xfrm>
            <a:off x="3611880" y="3685032"/>
            <a:ext cx="3931920" cy="676656"/>
          </a:xfrm>
          <a:prstGeom prst="rect">
            <a:avLst/>
          </a:prstGeom>
          <a:solidFill>
            <a:srgbClr val="DCEBF7"/>
          </a:solidFill>
          <a:ln w="12700">
            <a:solidFill>
              <a:srgbClr val="06121F"/>
            </a:solidFill>
            <a:prstDash val="solid"/>
          </a:ln>
        </p:spPr>
      </p:sp>
      <p:sp>
        <p:nvSpPr>
          <p:cNvPr id="21" name="Text 19"/>
          <p:cNvSpPr txBox="1"/>
          <p:nvPr/>
        </p:nvSpPr>
        <p:spPr>
          <a:xfrm>
            <a:off x="3794760" y="3685032"/>
            <a:ext cx="3611880" cy="676656"/>
          </a:xfrm>
          <a:prstGeom prst="rect">
            <a:avLst/>
          </a:prstGeom>
          <a:noFill/>
          <a:ln/>
        </p:spPr>
        <p:txBody>
          <a:bodyPr wrap="square" lIns="0" tIns="0" rIns="0" bIns="0" rtlCol="0" anchor="ctr"/>
          <a:lstStyle/>
          <a:p>
            <a:pPr indent="0" marL="0">
              <a:lnSpc>
                <a:spcPct val="95000"/>
              </a:lnSpc>
              <a:buNone/>
            </a:pPr>
            <a:r>
              <a:rPr lang="en-US" sz="1300" dirty="0">
                <a:solidFill>
                  <a:srgbClr val="0B2A45"/>
                </a:solidFill>
                <a:latin typeface="Arial" pitchFamily="34" charset="0"/>
                <a:ea typeface="Arial" pitchFamily="34" charset="-122"/>
                <a:cs typeface="Arial" pitchFamily="34" charset="-120"/>
              </a:rPr>
              <a:t>Little to none</a:t>
            </a:r>
            <a:endParaRPr lang="en-US" sz="1300" dirty="0"/>
          </a:p>
        </p:txBody>
      </p:sp>
      <p:sp>
        <p:nvSpPr>
          <p:cNvPr id="22" name="Shape 20"/>
          <p:cNvSpPr/>
          <p:nvPr/>
        </p:nvSpPr>
        <p:spPr>
          <a:xfrm>
            <a:off x="7543800" y="3685032"/>
            <a:ext cx="3959352" cy="676656"/>
          </a:xfrm>
          <a:prstGeom prst="rect">
            <a:avLst/>
          </a:prstGeom>
          <a:solidFill>
            <a:srgbClr val="DCEBF7"/>
          </a:solidFill>
          <a:ln w="12700">
            <a:solidFill>
              <a:srgbClr val="06121F"/>
            </a:solidFill>
            <a:prstDash val="solid"/>
          </a:ln>
        </p:spPr>
      </p:sp>
      <p:sp>
        <p:nvSpPr>
          <p:cNvPr id="23" name="Text 21"/>
          <p:cNvSpPr txBox="1"/>
          <p:nvPr/>
        </p:nvSpPr>
        <p:spPr>
          <a:xfrm>
            <a:off x="7726680" y="3685032"/>
            <a:ext cx="3639312" cy="676656"/>
          </a:xfrm>
          <a:prstGeom prst="rect">
            <a:avLst/>
          </a:prstGeom>
          <a:noFill/>
          <a:ln/>
        </p:spPr>
        <p:txBody>
          <a:bodyPr wrap="square" lIns="0" tIns="0" rIns="0" bIns="0" rtlCol="0" anchor="ctr"/>
          <a:lstStyle/>
          <a:p>
            <a:pPr indent="0" marL="0">
              <a:lnSpc>
                <a:spcPct val="95000"/>
              </a:lnSpc>
              <a:buNone/>
            </a:pPr>
            <a:r>
              <a:rPr lang="en-US" sz="1300" dirty="0">
                <a:solidFill>
                  <a:srgbClr val="0B2A45"/>
                </a:solidFill>
                <a:latin typeface="Arial" pitchFamily="34" charset="0"/>
                <a:ea typeface="Arial" pitchFamily="34" charset="-122"/>
                <a:cs typeface="Arial" pitchFamily="34" charset="-120"/>
              </a:rPr>
              <a:t>IDS / IPS, SIEM, continuous monitoring</a:t>
            </a:r>
            <a:endParaRPr lang="en-US" sz="1300" dirty="0"/>
          </a:p>
        </p:txBody>
      </p:sp>
      <p:sp>
        <p:nvSpPr>
          <p:cNvPr id="24" name="Shape 22"/>
          <p:cNvSpPr/>
          <p:nvPr/>
        </p:nvSpPr>
        <p:spPr>
          <a:xfrm>
            <a:off x="685800" y="4361688"/>
            <a:ext cx="2926080" cy="676656"/>
          </a:xfrm>
          <a:prstGeom prst="rect">
            <a:avLst/>
          </a:prstGeom>
          <a:solidFill>
            <a:srgbClr val="EAF4FB"/>
          </a:solidFill>
          <a:ln w="12700">
            <a:solidFill>
              <a:srgbClr val="06121F"/>
            </a:solidFill>
            <a:prstDash val="solid"/>
          </a:ln>
        </p:spPr>
      </p:sp>
      <p:sp>
        <p:nvSpPr>
          <p:cNvPr id="25" name="Text 23"/>
          <p:cNvSpPr txBox="1"/>
          <p:nvPr/>
        </p:nvSpPr>
        <p:spPr>
          <a:xfrm>
            <a:off x="868680" y="4361688"/>
            <a:ext cx="2606040" cy="676656"/>
          </a:xfrm>
          <a:prstGeom prst="rect">
            <a:avLst/>
          </a:prstGeom>
          <a:noFill/>
          <a:ln/>
        </p:spPr>
        <p:txBody>
          <a:bodyPr wrap="square" lIns="0" tIns="0" rIns="0" bIns="0" rtlCol="0" anchor="ctr"/>
          <a:lstStyle/>
          <a:p>
            <a:pPr indent="0" marL="0">
              <a:lnSpc>
                <a:spcPct val="95000"/>
              </a:lnSpc>
              <a:buNone/>
            </a:pPr>
            <a:r>
              <a:rPr lang="en-US" sz="1300" b="1" dirty="0">
                <a:solidFill>
                  <a:srgbClr val="0B2A45"/>
                </a:solidFill>
                <a:latin typeface="Arial" pitchFamily="34" charset="0"/>
                <a:ea typeface="Arial" pitchFamily="34" charset="-122"/>
                <a:cs typeface="Arial" pitchFamily="34" charset="-120"/>
              </a:rPr>
              <a:t>Defences</a:t>
            </a:r>
            <a:endParaRPr lang="en-US" sz="1300" dirty="0"/>
          </a:p>
        </p:txBody>
      </p:sp>
      <p:sp>
        <p:nvSpPr>
          <p:cNvPr id="26" name="Shape 24"/>
          <p:cNvSpPr/>
          <p:nvPr/>
        </p:nvSpPr>
        <p:spPr>
          <a:xfrm>
            <a:off x="3611880" y="4361688"/>
            <a:ext cx="3931920" cy="676656"/>
          </a:xfrm>
          <a:prstGeom prst="rect">
            <a:avLst/>
          </a:prstGeom>
          <a:solidFill>
            <a:srgbClr val="EAF4FB"/>
          </a:solidFill>
          <a:ln w="12700">
            <a:solidFill>
              <a:srgbClr val="06121F"/>
            </a:solidFill>
            <a:prstDash val="solid"/>
          </a:ln>
        </p:spPr>
      </p:sp>
      <p:sp>
        <p:nvSpPr>
          <p:cNvPr id="27" name="Text 25"/>
          <p:cNvSpPr txBox="1"/>
          <p:nvPr/>
        </p:nvSpPr>
        <p:spPr>
          <a:xfrm>
            <a:off x="3794760" y="4361688"/>
            <a:ext cx="3611880" cy="676656"/>
          </a:xfrm>
          <a:prstGeom prst="rect">
            <a:avLst/>
          </a:prstGeom>
          <a:noFill/>
          <a:ln/>
        </p:spPr>
        <p:txBody>
          <a:bodyPr wrap="square" lIns="0" tIns="0" rIns="0" bIns="0" rtlCol="0" anchor="ctr"/>
          <a:lstStyle/>
          <a:p>
            <a:pPr indent="0" marL="0">
              <a:lnSpc>
                <a:spcPct val="95000"/>
              </a:lnSpc>
              <a:buNone/>
            </a:pPr>
            <a:r>
              <a:rPr lang="en-US" sz="1300" dirty="0">
                <a:solidFill>
                  <a:srgbClr val="0B2A45"/>
                </a:solidFill>
                <a:latin typeface="Arial" pitchFamily="34" charset="0"/>
                <a:ea typeface="Arial" pitchFamily="34" charset="-122"/>
                <a:cs typeface="Arial" pitchFamily="34" charset="-120"/>
              </a:rPr>
              <a:t>Weak passwords, few controls</a:t>
            </a:r>
            <a:endParaRPr lang="en-US" sz="1300" dirty="0"/>
          </a:p>
        </p:txBody>
      </p:sp>
      <p:sp>
        <p:nvSpPr>
          <p:cNvPr id="28" name="Shape 26"/>
          <p:cNvSpPr/>
          <p:nvPr/>
        </p:nvSpPr>
        <p:spPr>
          <a:xfrm>
            <a:off x="7543800" y="4361688"/>
            <a:ext cx="3959352" cy="676656"/>
          </a:xfrm>
          <a:prstGeom prst="rect">
            <a:avLst/>
          </a:prstGeom>
          <a:solidFill>
            <a:srgbClr val="EAF4FB"/>
          </a:solidFill>
          <a:ln w="12700">
            <a:solidFill>
              <a:srgbClr val="06121F"/>
            </a:solidFill>
            <a:prstDash val="solid"/>
          </a:ln>
        </p:spPr>
      </p:sp>
      <p:sp>
        <p:nvSpPr>
          <p:cNvPr id="29" name="Text 27"/>
          <p:cNvSpPr txBox="1"/>
          <p:nvPr/>
        </p:nvSpPr>
        <p:spPr>
          <a:xfrm>
            <a:off x="7726680" y="4361688"/>
            <a:ext cx="3639312" cy="676656"/>
          </a:xfrm>
          <a:prstGeom prst="rect">
            <a:avLst/>
          </a:prstGeom>
          <a:noFill/>
          <a:ln/>
        </p:spPr>
        <p:txBody>
          <a:bodyPr wrap="square" lIns="0" tIns="0" rIns="0" bIns="0" rtlCol="0" anchor="ctr"/>
          <a:lstStyle/>
          <a:p>
            <a:pPr indent="0" marL="0">
              <a:lnSpc>
                <a:spcPct val="95000"/>
              </a:lnSpc>
              <a:buNone/>
            </a:pPr>
            <a:r>
              <a:rPr lang="en-US" sz="1300" dirty="0">
                <a:solidFill>
                  <a:srgbClr val="0B2A45"/>
                </a:solidFill>
                <a:latin typeface="Arial" pitchFamily="34" charset="0"/>
                <a:ea typeface="Arial" pitchFamily="34" charset="-122"/>
                <a:cs typeface="Arial" pitchFamily="34" charset="-120"/>
              </a:rPr>
              <a:t>Firewalls, endpoint protection, MFA</a:t>
            </a:r>
            <a:endParaRPr lang="en-US" sz="1300" dirty="0"/>
          </a:p>
        </p:txBody>
      </p:sp>
      <p:sp>
        <p:nvSpPr>
          <p:cNvPr id="30" name="Shape 28"/>
          <p:cNvSpPr/>
          <p:nvPr/>
        </p:nvSpPr>
        <p:spPr>
          <a:xfrm>
            <a:off x="685800" y="5038344"/>
            <a:ext cx="2926080" cy="676656"/>
          </a:xfrm>
          <a:prstGeom prst="rect">
            <a:avLst/>
          </a:prstGeom>
          <a:solidFill>
            <a:srgbClr val="DCEBF7"/>
          </a:solidFill>
          <a:ln w="12700">
            <a:solidFill>
              <a:srgbClr val="06121F"/>
            </a:solidFill>
            <a:prstDash val="solid"/>
          </a:ln>
        </p:spPr>
      </p:sp>
      <p:sp>
        <p:nvSpPr>
          <p:cNvPr id="31" name="Text 29"/>
          <p:cNvSpPr txBox="1"/>
          <p:nvPr/>
        </p:nvSpPr>
        <p:spPr>
          <a:xfrm>
            <a:off x="868680" y="5038344"/>
            <a:ext cx="2606040" cy="676656"/>
          </a:xfrm>
          <a:prstGeom prst="rect">
            <a:avLst/>
          </a:prstGeom>
          <a:noFill/>
          <a:ln/>
        </p:spPr>
        <p:txBody>
          <a:bodyPr wrap="square" lIns="0" tIns="0" rIns="0" bIns="0" rtlCol="0" anchor="ctr"/>
          <a:lstStyle/>
          <a:p>
            <a:pPr indent="0" marL="0">
              <a:lnSpc>
                <a:spcPct val="95000"/>
              </a:lnSpc>
              <a:buNone/>
            </a:pPr>
            <a:r>
              <a:rPr lang="en-US" sz="1300" b="1" dirty="0">
                <a:solidFill>
                  <a:srgbClr val="0B2A45"/>
                </a:solidFill>
                <a:latin typeface="Arial" pitchFamily="34" charset="0"/>
                <a:ea typeface="Arial" pitchFamily="34" charset="-122"/>
                <a:cs typeface="Arial" pitchFamily="34" charset="-120"/>
              </a:rPr>
              <a:t>Patching</a:t>
            </a:r>
            <a:endParaRPr lang="en-US" sz="1300" dirty="0"/>
          </a:p>
        </p:txBody>
      </p:sp>
      <p:sp>
        <p:nvSpPr>
          <p:cNvPr id="32" name="Shape 30"/>
          <p:cNvSpPr/>
          <p:nvPr/>
        </p:nvSpPr>
        <p:spPr>
          <a:xfrm>
            <a:off x="3611880" y="5038344"/>
            <a:ext cx="3931920" cy="676656"/>
          </a:xfrm>
          <a:prstGeom prst="rect">
            <a:avLst/>
          </a:prstGeom>
          <a:solidFill>
            <a:srgbClr val="DCEBF7"/>
          </a:solidFill>
          <a:ln w="12700">
            <a:solidFill>
              <a:srgbClr val="06121F"/>
            </a:solidFill>
            <a:prstDash val="solid"/>
          </a:ln>
        </p:spPr>
      </p:sp>
      <p:sp>
        <p:nvSpPr>
          <p:cNvPr id="33" name="Text 31"/>
          <p:cNvSpPr txBox="1"/>
          <p:nvPr/>
        </p:nvSpPr>
        <p:spPr>
          <a:xfrm>
            <a:off x="3794760" y="5038344"/>
            <a:ext cx="3611880" cy="676656"/>
          </a:xfrm>
          <a:prstGeom prst="rect">
            <a:avLst/>
          </a:prstGeom>
          <a:noFill/>
          <a:ln/>
        </p:spPr>
        <p:txBody>
          <a:bodyPr wrap="square" lIns="0" tIns="0" rIns="0" bIns="0" rtlCol="0" anchor="ctr"/>
          <a:lstStyle/>
          <a:p>
            <a:pPr indent="0" marL="0">
              <a:lnSpc>
                <a:spcPct val="95000"/>
              </a:lnSpc>
              <a:buNone/>
            </a:pPr>
            <a:r>
              <a:rPr lang="en-US" sz="1300" dirty="0">
                <a:solidFill>
                  <a:srgbClr val="0B2A45"/>
                </a:solidFill>
                <a:latin typeface="Arial" pitchFamily="34" charset="0"/>
                <a:ea typeface="Arial" pitchFamily="34" charset="-122"/>
                <a:cs typeface="Arial" pitchFamily="34" charset="-120"/>
              </a:rPr>
              <a:t>Slow, manual, inconsistent</a:t>
            </a:r>
            <a:endParaRPr lang="en-US" sz="1300" dirty="0"/>
          </a:p>
        </p:txBody>
      </p:sp>
      <p:sp>
        <p:nvSpPr>
          <p:cNvPr id="34" name="Shape 32"/>
          <p:cNvSpPr/>
          <p:nvPr/>
        </p:nvSpPr>
        <p:spPr>
          <a:xfrm>
            <a:off x="7543800" y="5038344"/>
            <a:ext cx="3959352" cy="676656"/>
          </a:xfrm>
          <a:prstGeom prst="rect">
            <a:avLst/>
          </a:prstGeom>
          <a:solidFill>
            <a:srgbClr val="DCEBF7"/>
          </a:solidFill>
          <a:ln w="12700">
            <a:solidFill>
              <a:srgbClr val="06121F"/>
            </a:solidFill>
            <a:prstDash val="solid"/>
          </a:ln>
        </p:spPr>
      </p:sp>
      <p:sp>
        <p:nvSpPr>
          <p:cNvPr id="35" name="Text 33"/>
          <p:cNvSpPr txBox="1"/>
          <p:nvPr/>
        </p:nvSpPr>
        <p:spPr>
          <a:xfrm>
            <a:off x="7726680" y="5038344"/>
            <a:ext cx="3639312" cy="676656"/>
          </a:xfrm>
          <a:prstGeom prst="rect">
            <a:avLst/>
          </a:prstGeom>
          <a:noFill/>
          <a:ln/>
        </p:spPr>
        <p:txBody>
          <a:bodyPr wrap="square" lIns="0" tIns="0" rIns="0" bIns="0" rtlCol="0" anchor="ctr"/>
          <a:lstStyle/>
          <a:p>
            <a:pPr indent="0" marL="0">
              <a:lnSpc>
                <a:spcPct val="95000"/>
              </a:lnSpc>
              <a:buNone/>
            </a:pPr>
            <a:r>
              <a:rPr lang="en-US" sz="1300" dirty="0">
                <a:solidFill>
                  <a:srgbClr val="0B2A45"/>
                </a:solidFill>
                <a:latin typeface="Arial" pitchFamily="34" charset="0"/>
                <a:ea typeface="Arial" pitchFamily="34" charset="-122"/>
                <a:cs typeface="Arial" pitchFamily="34" charset="-120"/>
              </a:rPr>
              <a:t>Automated vulnerability &amp; patch management</a:t>
            </a:r>
            <a:endParaRPr lang="en-US" sz="1300" dirty="0"/>
          </a:p>
        </p:txBody>
      </p:sp>
      <p:sp>
        <p:nvSpPr>
          <p:cNvPr id="36" name="Shape 34"/>
          <p:cNvSpPr/>
          <p:nvPr/>
        </p:nvSpPr>
        <p:spPr>
          <a:xfrm>
            <a:off x="685800" y="5715000"/>
            <a:ext cx="2926080" cy="676656"/>
          </a:xfrm>
          <a:prstGeom prst="rect">
            <a:avLst/>
          </a:prstGeom>
          <a:solidFill>
            <a:srgbClr val="EAF4FB"/>
          </a:solidFill>
          <a:ln w="12700">
            <a:solidFill>
              <a:srgbClr val="06121F"/>
            </a:solidFill>
            <a:prstDash val="solid"/>
          </a:ln>
        </p:spPr>
      </p:sp>
      <p:sp>
        <p:nvSpPr>
          <p:cNvPr id="37" name="Text 35"/>
          <p:cNvSpPr txBox="1"/>
          <p:nvPr/>
        </p:nvSpPr>
        <p:spPr>
          <a:xfrm>
            <a:off x="868680" y="5715000"/>
            <a:ext cx="2606040" cy="676656"/>
          </a:xfrm>
          <a:prstGeom prst="rect">
            <a:avLst/>
          </a:prstGeom>
          <a:noFill/>
          <a:ln/>
        </p:spPr>
        <p:txBody>
          <a:bodyPr wrap="square" lIns="0" tIns="0" rIns="0" bIns="0" rtlCol="0" anchor="ctr"/>
          <a:lstStyle/>
          <a:p>
            <a:pPr indent="0" marL="0">
              <a:lnSpc>
                <a:spcPct val="95000"/>
              </a:lnSpc>
              <a:buNone/>
            </a:pPr>
            <a:r>
              <a:rPr lang="en-US" sz="1300" b="1" dirty="0">
                <a:solidFill>
                  <a:srgbClr val="0B2A45"/>
                </a:solidFill>
                <a:latin typeface="Arial" pitchFamily="34" charset="0"/>
                <a:ea typeface="Arial" pitchFamily="34" charset="-122"/>
                <a:cs typeface="Arial" pitchFamily="34" charset="-120"/>
              </a:rPr>
              <a:t>Response</a:t>
            </a:r>
            <a:endParaRPr lang="en-US" sz="1300" dirty="0"/>
          </a:p>
        </p:txBody>
      </p:sp>
      <p:sp>
        <p:nvSpPr>
          <p:cNvPr id="38" name="Shape 36"/>
          <p:cNvSpPr/>
          <p:nvPr/>
        </p:nvSpPr>
        <p:spPr>
          <a:xfrm>
            <a:off x="3611880" y="5715000"/>
            <a:ext cx="3931920" cy="676656"/>
          </a:xfrm>
          <a:prstGeom prst="rect">
            <a:avLst/>
          </a:prstGeom>
          <a:solidFill>
            <a:srgbClr val="EAF4FB"/>
          </a:solidFill>
          <a:ln w="12700">
            <a:solidFill>
              <a:srgbClr val="06121F"/>
            </a:solidFill>
            <a:prstDash val="solid"/>
          </a:ln>
        </p:spPr>
      </p:sp>
      <p:sp>
        <p:nvSpPr>
          <p:cNvPr id="39" name="Text 37"/>
          <p:cNvSpPr txBox="1"/>
          <p:nvPr/>
        </p:nvSpPr>
        <p:spPr>
          <a:xfrm>
            <a:off x="3794760" y="5715000"/>
            <a:ext cx="3611880" cy="676656"/>
          </a:xfrm>
          <a:prstGeom prst="rect">
            <a:avLst/>
          </a:prstGeom>
          <a:noFill/>
          <a:ln/>
        </p:spPr>
        <p:txBody>
          <a:bodyPr wrap="square" lIns="0" tIns="0" rIns="0" bIns="0" rtlCol="0" anchor="ctr"/>
          <a:lstStyle/>
          <a:p>
            <a:pPr indent="0" marL="0">
              <a:lnSpc>
                <a:spcPct val="95000"/>
              </a:lnSpc>
              <a:buNone/>
            </a:pPr>
            <a:r>
              <a:rPr lang="en-US" sz="1300" dirty="0">
                <a:solidFill>
                  <a:srgbClr val="0B2A45"/>
                </a:solidFill>
                <a:latin typeface="Arial" pitchFamily="34" charset="0"/>
                <a:ea typeface="Arial" pitchFamily="34" charset="-122"/>
                <a:cs typeface="Arial" pitchFamily="34" charset="-120"/>
              </a:rPr>
              <a:t>Improvised, ad-hoc</a:t>
            </a:r>
            <a:endParaRPr lang="en-US" sz="1300" dirty="0"/>
          </a:p>
        </p:txBody>
      </p:sp>
      <p:sp>
        <p:nvSpPr>
          <p:cNvPr id="40" name="Shape 38"/>
          <p:cNvSpPr/>
          <p:nvPr/>
        </p:nvSpPr>
        <p:spPr>
          <a:xfrm>
            <a:off x="7543800" y="5715000"/>
            <a:ext cx="3959352" cy="676656"/>
          </a:xfrm>
          <a:prstGeom prst="rect">
            <a:avLst/>
          </a:prstGeom>
          <a:solidFill>
            <a:srgbClr val="EAF4FB"/>
          </a:solidFill>
          <a:ln w="12700">
            <a:solidFill>
              <a:srgbClr val="06121F"/>
            </a:solidFill>
            <a:prstDash val="solid"/>
          </a:ln>
        </p:spPr>
      </p:sp>
      <p:sp>
        <p:nvSpPr>
          <p:cNvPr id="41" name="Text 39"/>
          <p:cNvSpPr txBox="1"/>
          <p:nvPr/>
        </p:nvSpPr>
        <p:spPr>
          <a:xfrm>
            <a:off x="7726680" y="5715000"/>
            <a:ext cx="3639312" cy="676656"/>
          </a:xfrm>
          <a:prstGeom prst="rect">
            <a:avLst/>
          </a:prstGeom>
          <a:noFill/>
          <a:ln/>
        </p:spPr>
        <p:txBody>
          <a:bodyPr wrap="square" lIns="0" tIns="0" rIns="0" bIns="0" rtlCol="0" anchor="ctr"/>
          <a:lstStyle/>
          <a:p>
            <a:pPr indent="0" marL="0">
              <a:lnSpc>
                <a:spcPct val="95000"/>
              </a:lnSpc>
              <a:buNone/>
            </a:pPr>
            <a:r>
              <a:rPr lang="en-US" sz="1300" dirty="0">
                <a:solidFill>
                  <a:srgbClr val="0B2A45"/>
                </a:solidFill>
                <a:latin typeface="Arial" pitchFamily="34" charset="0"/>
                <a:ea typeface="Arial" pitchFamily="34" charset="-122"/>
                <a:cs typeface="Arial" pitchFamily="34" charset="-120"/>
              </a:rPr>
              <a:t>Dedicated CERT / SOC incident response</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11430000" y="6400800"/>
            <a:ext cx="548640" cy="320040"/>
          </a:xfrm>
          <a:prstGeom prst="rect">
            <a:avLst/>
          </a:prstGeom>
          <a:noFill/>
          <a:ln/>
        </p:spPr>
        <p:txBody>
          <a:bodyPr wrap="square" lIns="0" tIns="0" rIns="0" bIns="0" rtlCol="0" anchor="ctr"/>
          <a:lstStyle/>
          <a:p>
            <a:pPr algn="r" indent="0" marL="0">
              <a:buNone/>
            </a:pPr>
            <a:r>
              <a:rPr lang="en-US" sz="1100" dirty="0">
                <a:solidFill>
                  <a:srgbClr val="94A3B8"/>
                </a:solidFill>
                <a:latin typeface="Courier New" pitchFamily="34" charset="0"/>
                <a:ea typeface="Courier New" pitchFamily="34" charset="-122"/>
                <a:cs typeface="Courier New" pitchFamily="34" charset="-120"/>
              </a:rPr>
              <a:t>13</a:t>
            </a:r>
            <a:endParaRPr lang="en-US" sz="1100" dirty="0"/>
          </a:p>
        </p:txBody>
      </p:sp>
      <p:pic>
        <p:nvPicPr>
          <p:cNvPr id="3" name="Image 0" descr="assets/grid.png">    </p:cNvPr>
          <p:cNvPicPr>
            <a:picLocks noChangeAspect="1"/>
          </p:cNvPicPr>
          <p:nvPr/>
        </p:nvPicPr>
        <p:blipFill>
          <a:blip r:embed="rId2"/>
          <a:stretch>
            <a:fillRect/>
          </a:stretch>
        </p:blipFill>
        <p:spPr>
          <a:xfrm>
            <a:off x="0" y="0"/>
            <a:ext cx="12191695" cy="6858000"/>
          </a:xfrm>
          <a:prstGeom prst="rect">
            <a:avLst/>
          </a:prstGeom>
        </p:spPr>
      </p:pic>
      <p:sp>
        <p:nvSpPr>
          <p:cNvPr id="4" name="Text 1"/>
          <p:cNvSpPr txBox="1"/>
          <p:nvPr/>
        </p:nvSpPr>
        <p:spPr>
          <a:xfrm>
            <a:off x="777240" y="914400"/>
            <a:ext cx="5486400" cy="292608"/>
          </a:xfrm>
          <a:prstGeom prst="rect">
            <a:avLst/>
          </a:prstGeom>
          <a:noFill/>
          <a:ln/>
        </p:spPr>
        <p:txBody>
          <a:bodyPr wrap="square" lIns="0" tIns="0" rIns="0" bIns="0" rtlCol="0" anchor="ctr"/>
          <a:lstStyle/>
          <a:p>
            <a:pPr indent="0" marL="0">
              <a:buNone/>
            </a:pPr>
            <a:r>
              <a:rPr lang="en-US" sz="1250" spc="250" kern="0" dirty="0">
                <a:solidFill>
                  <a:srgbClr val="22D3EE"/>
                </a:solidFill>
                <a:latin typeface="Courier New" pitchFamily="34" charset="0"/>
                <a:ea typeface="Courier New" pitchFamily="34" charset="-122"/>
                <a:cs typeface="Courier New" pitchFamily="34" charset="-120"/>
              </a:rPr>
              <a:t>KEY TAKEAWAY</a:t>
            </a:r>
            <a:endParaRPr lang="en-US" sz="1250" dirty="0"/>
          </a:p>
        </p:txBody>
      </p:sp>
      <p:sp>
        <p:nvSpPr>
          <p:cNvPr id="5" name="Text 2"/>
          <p:cNvSpPr txBox="1"/>
          <p:nvPr/>
        </p:nvSpPr>
        <p:spPr>
          <a:xfrm>
            <a:off x="777240" y="1325880"/>
            <a:ext cx="10607040" cy="1737360"/>
          </a:xfrm>
          <a:prstGeom prst="rect">
            <a:avLst/>
          </a:prstGeom>
          <a:noFill/>
          <a:ln/>
        </p:spPr>
        <p:txBody>
          <a:bodyPr wrap="square" lIns="0" tIns="0" rIns="0" bIns="0" rtlCol="0" anchor="ctr"/>
          <a:lstStyle/>
          <a:p>
            <a:pPr indent="0" marL="0">
              <a:lnSpc>
                <a:spcPct val="105000"/>
              </a:lnSpc>
              <a:buNone/>
            </a:pPr>
            <a:r>
              <a:rPr lang="en-US" sz="3600" b="1" dirty="0">
                <a:solidFill>
                  <a:srgbClr val="FFFFFF"/>
                </a:solidFill>
                <a:latin typeface="Arial" pitchFamily="34" charset="0"/>
                <a:ea typeface="Arial" pitchFamily="34" charset="-122"/>
                <a:cs typeface="Arial" pitchFamily="34" charset="-120"/>
              </a:rPr>
              <a:t>A small self-replicating program showed how </a:t>
            </a:r>
            <a:pPr indent="0" marL="0">
              <a:lnSpc>
                <a:spcPct val="105000"/>
              </a:lnSpc>
              <a:buNone/>
            </a:pPr>
            <a:r>
              <a:rPr lang="en-US" sz="3600" b="1" dirty="0">
                <a:solidFill>
                  <a:srgbClr val="22D3EE"/>
                </a:solidFill>
                <a:latin typeface="Arial" pitchFamily="34" charset="0"/>
                <a:ea typeface="Arial" pitchFamily="34" charset="-122"/>
                <a:cs typeface="Arial" pitchFamily="34" charset="-120"/>
              </a:rPr>
              <a:t>one vulnerable system</a:t>
            </a:r>
            <a:pPr indent="0" marL="0">
              <a:lnSpc>
                <a:spcPct val="105000"/>
              </a:lnSpc>
              <a:buNone/>
            </a:pPr>
            <a:r>
              <a:rPr lang="en-US" sz="3600" b="1" dirty="0">
                <a:solidFill>
                  <a:srgbClr val="FFFFFF"/>
                </a:solidFill>
                <a:latin typeface="Arial" pitchFamily="34" charset="0"/>
                <a:ea typeface="Arial" pitchFamily="34" charset="-122"/>
                <a:cs typeface="Arial" pitchFamily="34" charset="-120"/>
              </a:rPr>
              <a:t> could trigger a </a:t>
            </a:r>
            <a:pPr indent="0" marL="0">
              <a:lnSpc>
                <a:spcPct val="105000"/>
              </a:lnSpc>
              <a:buNone/>
            </a:pPr>
            <a:r>
              <a:rPr lang="en-US" sz="3600" b="1" dirty="0">
                <a:solidFill>
                  <a:srgbClr val="22D3EE"/>
                </a:solidFill>
                <a:latin typeface="Arial" pitchFamily="34" charset="0"/>
                <a:ea typeface="Arial" pitchFamily="34" charset="-122"/>
                <a:cs typeface="Arial" pitchFamily="34" charset="-120"/>
              </a:rPr>
              <a:t>large-scale network crisis.</a:t>
            </a:r>
            <a:endParaRPr lang="en-US" sz="3600" dirty="0"/>
          </a:p>
        </p:txBody>
      </p:sp>
      <p:sp>
        <p:nvSpPr>
          <p:cNvPr id="6" name="Shape 3"/>
          <p:cNvSpPr/>
          <p:nvPr/>
        </p:nvSpPr>
        <p:spPr>
          <a:xfrm>
            <a:off x="777240" y="3657600"/>
            <a:ext cx="1874520" cy="822960"/>
          </a:xfrm>
          <a:prstGeom prst="roundRect">
            <a:avLst>
              <a:gd name="adj" fmla="val 8889"/>
            </a:avLst>
          </a:prstGeom>
          <a:solidFill>
            <a:srgbClr val="0B2A45"/>
          </a:solidFill>
          <a:ln/>
        </p:spPr>
      </p:sp>
      <p:sp>
        <p:nvSpPr>
          <p:cNvPr id="7" name="Text 4"/>
          <p:cNvSpPr txBox="1"/>
          <p:nvPr/>
        </p:nvSpPr>
        <p:spPr>
          <a:xfrm>
            <a:off x="777240" y="3657600"/>
            <a:ext cx="1874520" cy="822960"/>
          </a:xfrm>
          <a:prstGeom prst="rect">
            <a:avLst/>
          </a:prstGeom>
          <a:noFill/>
          <a:ln/>
        </p:spPr>
        <p:txBody>
          <a:bodyPr wrap="square" lIns="0" tIns="0" rIns="0" bIns="0" rtlCol="0" anchor="ctr"/>
          <a:lstStyle/>
          <a:p>
            <a:pPr algn="ctr" indent="0" marL="0">
              <a:buNone/>
            </a:pPr>
            <a:r>
              <a:rPr lang="en-US" sz="1500" b="1" dirty="0">
                <a:solidFill>
                  <a:srgbClr val="EAF4FB"/>
                </a:solidFill>
                <a:latin typeface="Arial" pitchFamily="34" charset="0"/>
                <a:ea typeface="Arial" pitchFamily="34" charset="-122"/>
                <a:cs typeface="Arial" pitchFamily="34" charset="-120"/>
              </a:rPr>
              <a:t>Attack</a:t>
            </a:r>
            <a:endParaRPr lang="en-US" sz="1500" dirty="0"/>
          </a:p>
        </p:txBody>
      </p:sp>
      <p:sp>
        <p:nvSpPr>
          <p:cNvPr id="8" name="Text 5"/>
          <p:cNvSpPr txBox="1"/>
          <p:nvPr/>
        </p:nvSpPr>
        <p:spPr>
          <a:xfrm>
            <a:off x="2617470" y="3886200"/>
            <a:ext cx="411480" cy="365760"/>
          </a:xfrm>
          <a:prstGeom prst="rect">
            <a:avLst/>
          </a:prstGeom>
          <a:noFill/>
          <a:ln/>
        </p:spPr>
        <p:txBody>
          <a:bodyPr wrap="square" lIns="0" tIns="0" rIns="0" bIns="0" rtlCol="0" anchor="ctr"/>
          <a:lstStyle/>
          <a:p>
            <a:pPr algn="ctr" indent="0" marL="0">
              <a:buNone/>
            </a:pPr>
            <a:r>
              <a:rPr lang="en-US" sz="2200" b="1" dirty="0">
                <a:solidFill>
                  <a:srgbClr val="22D3EE"/>
                </a:solidFill>
                <a:latin typeface="Arial" pitchFamily="34" charset="0"/>
                <a:ea typeface="Arial" pitchFamily="34" charset="-122"/>
                <a:cs typeface="Arial" pitchFamily="34" charset="-120"/>
              </a:rPr>
              <a:t>→</a:t>
            </a:r>
            <a:endParaRPr lang="en-US" sz="2200" dirty="0"/>
          </a:p>
        </p:txBody>
      </p:sp>
      <p:sp>
        <p:nvSpPr>
          <p:cNvPr id="9" name="Shape 6"/>
          <p:cNvSpPr/>
          <p:nvPr/>
        </p:nvSpPr>
        <p:spPr>
          <a:xfrm>
            <a:off x="2994660" y="3657600"/>
            <a:ext cx="1874520" cy="822960"/>
          </a:xfrm>
          <a:prstGeom prst="roundRect">
            <a:avLst>
              <a:gd name="adj" fmla="val 8889"/>
            </a:avLst>
          </a:prstGeom>
          <a:solidFill>
            <a:srgbClr val="0B2A45"/>
          </a:solidFill>
          <a:ln/>
        </p:spPr>
      </p:sp>
      <p:sp>
        <p:nvSpPr>
          <p:cNvPr id="10" name="Text 7"/>
          <p:cNvSpPr txBox="1"/>
          <p:nvPr/>
        </p:nvSpPr>
        <p:spPr>
          <a:xfrm>
            <a:off x="2994660" y="3657600"/>
            <a:ext cx="1874520" cy="822960"/>
          </a:xfrm>
          <a:prstGeom prst="rect">
            <a:avLst/>
          </a:prstGeom>
          <a:noFill/>
          <a:ln/>
        </p:spPr>
        <p:txBody>
          <a:bodyPr wrap="square" lIns="0" tIns="0" rIns="0" bIns="0" rtlCol="0" anchor="ctr"/>
          <a:lstStyle/>
          <a:p>
            <a:pPr algn="ctr" indent="0" marL="0">
              <a:buNone/>
            </a:pPr>
            <a:r>
              <a:rPr lang="en-US" sz="1500" b="1" dirty="0">
                <a:solidFill>
                  <a:srgbClr val="EAF4FB"/>
                </a:solidFill>
                <a:latin typeface="Arial" pitchFamily="34" charset="0"/>
                <a:ea typeface="Arial" pitchFamily="34" charset="-122"/>
                <a:cs typeface="Arial" pitchFamily="34" charset="-120"/>
              </a:rPr>
              <a:t>Propagation</a:t>
            </a:r>
            <a:endParaRPr lang="en-US" sz="1500" dirty="0"/>
          </a:p>
        </p:txBody>
      </p:sp>
      <p:sp>
        <p:nvSpPr>
          <p:cNvPr id="11" name="Text 8"/>
          <p:cNvSpPr txBox="1"/>
          <p:nvPr/>
        </p:nvSpPr>
        <p:spPr>
          <a:xfrm>
            <a:off x="4834890" y="3886200"/>
            <a:ext cx="411480" cy="365760"/>
          </a:xfrm>
          <a:prstGeom prst="rect">
            <a:avLst/>
          </a:prstGeom>
          <a:noFill/>
          <a:ln/>
        </p:spPr>
        <p:txBody>
          <a:bodyPr wrap="square" lIns="0" tIns="0" rIns="0" bIns="0" rtlCol="0" anchor="ctr"/>
          <a:lstStyle/>
          <a:p>
            <a:pPr algn="ctr" indent="0" marL="0">
              <a:buNone/>
            </a:pPr>
            <a:r>
              <a:rPr lang="en-US" sz="2200" b="1" dirty="0">
                <a:solidFill>
                  <a:srgbClr val="22D3EE"/>
                </a:solidFill>
                <a:latin typeface="Arial" pitchFamily="34" charset="0"/>
                <a:ea typeface="Arial" pitchFamily="34" charset="-122"/>
                <a:cs typeface="Arial" pitchFamily="34" charset="-120"/>
              </a:rPr>
              <a:t>→</a:t>
            </a:r>
            <a:endParaRPr lang="en-US" sz="2200" dirty="0"/>
          </a:p>
        </p:txBody>
      </p:sp>
      <p:sp>
        <p:nvSpPr>
          <p:cNvPr id="12" name="Shape 9"/>
          <p:cNvSpPr/>
          <p:nvPr/>
        </p:nvSpPr>
        <p:spPr>
          <a:xfrm>
            <a:off x="5212080" y="3657600"/>
            <a:ext cx="1874520" cy="822960"/>
          </a:xfrm>
          <a:prstGeom prst="roundRect">
            <a:avLst>
              <a:gd name="adj" fmla="val 8889"/>
            </a:avLst>
          </a:prstGeom>
          <a:solidFill>
            <a:srgbClr val="0B2A45"/>
          </a:solidFill>
          <a:ln/>
        </p:spPr>
      </p:sp>
      <p:sp>
        <p:nvSpPr>
          <p:cNvPr id="13" name="Text 10"/>
          <p:cNvSpPr txBox="1"/>
          <p:nvPr/>
        </p:nvSpPr>
        <p:spPr>
          <a:xfrm>
            <a:off x="5212080" y="3657600"/>
            <a:ext cx="1874520" cy="822960"/>
          </a:xfrm>
          <a:prstGeom prst="rect">
            <a:avLst/>
          </a:prstGeom>
          <a:noFill/>
          <a:ln/>
        </p:spPr>
        <p:txBody>
          <a:bodyPr wrap="square" lIns="0" tIns="0" rIns="0" bIns="0" rtlCol="0" anchor="ctr"/>
          <a:lstStyle/>
          <a:p>
            <a:pPr algn="ctr" indent="0" marL="0">
              <a:buNone/>
            </a:pPr>
            <a:r>
              <a:rPr lang="en-US" sz="1500" b="1" dirty="0">
                <a:solidFill>
                  <a:srgbClr val="EAF4FB"/>
                </a:solidFill>
                <a:latin typeface="Arial" pitchFamily="34" charset="0"/>
                <a:ea typeface="Arial" pitchFamily="34" charset="-122"/>
                <a:cs typeface="Arial" pitchFamily="34" charset="-120"/>
              </a:rPr>
              <a:t>Impact</a:t>
            </a:r>
            <a:endParaRPr lang="en-US" sz="1500" dirty="0"/>
          </a:p>
        </p:txBody>
      </p:sp>
      <p:sp>
        <p:nvSpPr>
          <p:cNvPr id="14" name="Text 11"/>
          <p:cNvSpPr txBox="1"/>
          <p:nvPr/>
        </p:nvSpPr>
        <p:spPr>
          <a:xfrm>
            <a:off x="7052310" y="3886200"/>
            <a:ext cx="411480" cy="365760"/>
          </a:xfrm>
          <a:prstGeom prst="rect">
            <a:avLst/>
          </a:prstGeom>
          <a:noFill/>
          <a:ln/>
        </p:spPr>
        <p:txBody>
          <a:bodyPr wrap="square" lIns="0" tIns="0" rIns="0" bIns="0" rtlCol="0" anchor="ctr"/>
          <a:lstStyle/>
          <a:p>
            <a:pPr algn="ctr" indent="0" marL="0">
              <a:buNone/>
            </a:pPr>
            <a:r>
              <a:rPr lang="en-US" sz="2200" b="1" dirty="0">
                <a:solidFill>
                  <a:srgbClr val="22D3EE"/>
                </a:solidFill>
                <a:latin typeface="Arial" pitchFamily="34" charset="0"/>
                <a:ea typeface="Arial" pitchFamily="34" charset="-122"/>
                <a:cs typeface="Arial" pitchFamily="34" charset="-120"/>
              </a:rPr>
              <a:t>→</a:t>
            </a:r>
            <a:endParaRPr lang="en-US" sz="2200" dirty="0"/>
          </a:p>
        </p:txBody>
      </p:sp>
      <p:sp>
        <p:nvSpPr>
          <p:cNvPr id="15" name="Shape 12"/>
          <p:cNvSpPr/>
          <p:nvPr/>
        </p:nvSpPr>
        <p:spPr>
          <a:xfrm>
            <a:off x="7429500" y="3657600"/>
            <a:ext cx="1874520" cy="822960"/>
          </a:xfrm>
          <a:prstGeom prst="roundRect">
            <a:avLst>
              <a:gd name="adj" fmla="val 8889"/>
            </a:avLst>
          </a:prstGeom>
          <a:solidFill>
            <a:srgbClr val="0B2A45"/>
          </a:solidFill>
          <a:ln/>
        </p:spPr>
      </p:sp>
      <p:sp>
        <p:nvSpPr>
          <p:cNvPr id="16" name="Text 13"/>
          <p:cNvSpPr txBox="1"/>
          <p:nvPr/>
        </p:nvSpPr>
        <p:spPr>
          <a:xfrm>
            <a:off x="7429500" y="3657600"/>
            <a:ext cx="1874520" cy="822960"/>
          </a:xfrm>
          <a:prstGeom prst="rect">
            <a:avLst/>
          </a:prstGeom>
          <a:noFill/>
          <a:ln/>
        </p:spPr>
        <p:txBody>
          <a:bodyPr wrap="square" lIns="0" tIns="0" rIns="0" bIns="0" rtlCol="0" anchor="ctr"/>
          <a:lstStyle/>
          <a:p>
            <a:pPr algn="ctr" indent="0" marL="0">
              <a:buNone/>
            </a:pPr>
            <a:r>
              <a:rPr lang="en-US" sz="1500" b="1" dirty="0">
                <a:solidFill>
                  <a:srgbClr val="EAF4FB"/>
                </a:solidFill>
                <a:latin typeface="Arial" pitchFamily="34" charset="0"/>
                <a:ea typeface="Arial" pitchFamily="34" charset="-122"/>
                <a:cs typeface="Arial" pitchFamily="34" charset="-120"/>
              </a:rPr>
              <a:t>Response</a:t>
            </a:r>
            <a:endParaRPr lang="en-US" sz="1500" dirty="0"/>
          </a:p>
        </p:txBody>
      </p:sp>
      <p:sp>
        <p:nvSpPr>
          <p:cNvPr id="17" name="Text 14"/>
          <p:cNvSpPr txBox="1"/>
          <p:nvPr/>
        </p:nvSpPr>
        <p:spPr>
          <a:xfrm>
            <a:off x="9269730" y="3886200"/>
            <a:ext cx="411480" cy="365760"/>
          </a:xfrm>
          <a:prstGeom prst="rect">
            <a:avLst/>
          </a:prstGeom>
          <a:noFill/>
          <a:ln/>
        </p:spPr>
        <p:txBody>
          <a:bodyPr wrap="square" lIns="0" tIns="0" rIns="0" bIns="0" rtlCol="0" anchor="ctr"/>
          <a:lstStyle/>
          <a:p>
            <a:pPr algn="ctr" indent="0" marL="0">
              <a:buNone/>
            </a:pPr>
            <a:r>
              <a:rPr lang="en-US" sz="2200" b="1" dirty="0">
                <a:solidFill>
                  <a:srgbClr val="22D3EE"/>
                </a:solidFill>
                <a:latin typeface="Arial" pitchFamily="34" charset="0"/>
                <a:ea typeface="Arial" pitchFamily="34" charset="-122"/>
                <a:cs typeface="Arial" pitchFamily="34" charset="-120"/>
              </a:rPr>
              <a:t>→</a:t>
            </a:r>
            <a:endParaRPr lang="en-US" sz="2200" dirty="0"/>
          </a:p>
        </p:txBody>
      </p:sp>
      <p:sp>
        <p:nvSpPr>
          <p:cNvPr id="18" name="Shape 15"/>
          <p:cNvSpPr/>
          <p:nvPr/>
        </p:nvSpPr>
        <p:spPr>
          <a:xfrm>
            <a:off x="9646920" y="3657600"/>
            <a:ext cx="1874520" cy="822960"/>
          </a:xfrm>
          <a:prstGeom prst="roundRect">
            <a:avLst>
              <a:gd name="adj" fmla="val 8889"/>
            </a:avLst>
          </a:prstGeom>
          <a:solidFill>
            <a:srgbClr val="22D3EE"/>
          </a:solidFill>
          <a:ln/>
        </p:spPr>
      </p:sp>
      <p:sp>
        <p:nvSpPr>
          <p:cNvPr id="19" name="Text 16"/>
          <p:cNvSpPr txBox="1"/>
          <p:nvPr/>
        </p:nvSpPr>
        <p:spPr>
          <a:xfrm>
            <a:off x="9646920" y="3657600"/>
            <a:ext cx="1874520" cy="822960"/>
          </a:xfrm>
          <a:prstGeom prst="rect">
            <a:avLst/>
          </a:prstGeom>
          <a:noFill/>
          <a:ln/>
        </p:spPr>
        <p:txBody>
          <a:bodyPr wrap="square" lIns="0" tIns="0" rIns="0" bIns="0" rtlCol="0" anchor="ctr"/>
          <a:lstStyle/>
          <a:p>
            <a:pPr algn="ctr" indent="0" marL="0">
              <a:buNone/>
            </a:pPr>
            <a:r>
              <a:rPr lang="en-US" sz="1500" b="1" dirty="0">
                <a:solidFill>
                  <a:srgbClr val="06121F"/>
                </a:solidFill>
                <a:latin typeface="Arial" pitchFamily="34" charset="0"/>
                <a:ea typeface="Arial" pitchFamily="34" charset="-122"/>
                <a:cs typeface="Arial" pitchFamily="34" charset="-120"/>
              </a:rPr>
              <a:t>Lessons</a:t>
            </a:r>
            <a:endParaRPr lang="en-US" sz="1500" dirty="0"/>
          </a:p>
        </p:txBody>
      </p:sp>
      <p:sp>
        <p:nvSpPr>
          <p:cNvPr id="20" name="Text 17"/>
          <p:cNvSpPr txBox="1"/>
          <p:nvPr/>
        </p:nvSpPr>
        <p:spPr>
          <a:xfrm>
            <a:off x="777240" y="4846320"/>
            <a:ext cx="10607040" cy="1005840"/>
          </a:xfrm>
          <a:prstGeom prst="rect">
            <a:avLst/>
          </a:prstGeom>
          <a:noFill/>
          <a:ln/>
        </p:spPr>
        <p:txBody>
          <a:bodyPr wrap="square" lIns="0" tIns="0" rIns="0" bIns="0" rtlCol="0" anchor="ctr"/>
          <a:lstStyle/>
          <a:p>
            <a:pPr indent="0" marL="0">
              <a:lnSpc>
                <a:spcPct val="110000"/>
              </a:lnSpc>
              <a:buNone/>
            </a:pPr>
            <a:r>
              <a:rPr lang="en-US" sz="1600" dirty="0">
                <a:solidFill>
                  <a:srgbClr val="EAF4FB"/>
                </a:solidFill>
                <a:latin typeface="Arial" pitchFamily="34" charset="0"/>
                <a:ea typeface="Arial" pitchFamily="34" charset="-122"/>
                <a:cs typeface="Arial" pitchFamily="34" charset="-120"/>
              </a:rPr>
              <a:t>Security must be designed, monitored and practised before an incident — not improvised after one. The Morris Worm made Internet security visible, and its lessons still define the discipline today.</a:t>
            </a:r>
            <a:endParaRPr lang="en-US" sz="1600" dirty="0"/>
          </a:p>
        </p:txBody>
      </p:sp>
      <p:sp>
        <p:nvSpPr>
          <p:cNvPr id="21" name="Text 18"/>
          <p:cNvSpPr txBox="1"/>
          <p:nvPr/>
        </p:nvSpPr>
        <p:spPr>
          <a:xfrm>
            <a:off x="777240" y="5989320"/>
            <a:ext cx="10607040" cy="365760"/>
          </a:xfrm>
          <a:prstGeom prst="rect">
            <a:avLst/>
          </a:prstGeom>
          <a:noFill/>
          <a:ln/>
        </p:spPr>
        <p:txBody>
          <a:bodyPr wrap="square" lIns="0" tIns="0" rIns="0" bIns="0" rtlCol="0" anchor="ctr"/>
          <a:lstStyle/>
          <a:p>
            <a:pPr indent="0" marL="0">
              <a:buNone/>
            </a:pPr>
            <a:r>
              <a:rPr lang="en-US" sz="1300" i="1" dirty="0">
                <a:solidFill>
                  <a:srgbClr val="22D3EE"/>
                </a:solidFill>
                <a:latin typeface="Courier New" pitchFamily="34" charset="0"/>
                <a:ea typeface="Courier New" pitchFamily="34" charset="-122"/>
                <a:cs typeface="Courier New" pitchFamily="34" charset="-120"/>
              </a:rPr>
              <a:t>Takeaway: a small program can have a very large blast radius.</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11430000" y="6400800"/>
            <a:ext cx="548640" cy="320040"/>
          </a:xfrm>
          <a:prstGeom prst="rect">
            <a:avLst/>
          </a:prstGeom>
          <a:noFill/>
          <a:ln/>
        </p:spPr>
        <p:txBody>
          <a:bodyPr wrap="square" lIns="0" tIns="0" rIns="0" bIns="0" rtlCol="0" anchor="ctr"/>
          <a:lstStyle/>
          <a:p>
            <a:pPr algn="r" indent="0" marL="0">
              <a:buNone/>
            </a:pPr>
            <a:r>
              <a:rPr lang="en-US" sz="1100" dirty="0">
                <a:solidFill>
                  <a:srgbClr val="94A3B8"/>
                </a:solidFill>
                <a:latin typeface="Courier New" pitchFamily="34" charset="0"/>
                <a:ea typeface="Courier New" pitchFamily="34" charset="-122"/>
                <a:cs typeface="Courier New" pitchFamily="34" charset="-120"/>
              </a:rPr>
              <a:t>14</a:t>
            </a:r>
            <a:endParaRPr lang="en-US" sz="1100" dirty="0"/>
          </a:p>
        </p:txBody>
      </p:sp>
      <p:sp>
        <p:nvSpPr>
          <p:cNvPr id="3" name="Text 1"/>
          <p:cNvSpPr txBox="1"/>
          <p:nvPr/>
        </p:nvSpPr>
        <p:spPr>
          <a:xfrm>
            <a:off x="685800" y="594360"/>
            <a:ext cx="5486400" cy="292608"/>
          </a:xfrm>
          <a:prstGeom prst="rect">
            <a:avLst/>
          </a:prstGeom>
          <a:noFill/>
          <a:ln/>
        </p:spPr>
        <p:txBody>
          <a:bodyPr wrap="square" lIns="0" tIns="0" rIns="0" bIns="0" rtlCol="0" anchor="ctr"/>
          <a:lstStyle/>
          <a:p>
            <a:pPr indent="0" marL="0">
              <a:buNone/>
            </a:pPr>
            <a:r>
              <a:rPr lang="en-US" sz="1250" spc="250" kern="0" dirty="0">
                <a:solidFill>
                  <a:srgbClr val="22D3EE"/>
                </a:solidFill>
                <a:latin typeface="Courier New" pitchFamily="34" charset="0"/>
                <a:ea typeface="Courier New" pitchFamily="34" charset="-122"/>
                <a:cs typeface="Courier New" pitchFamily="34" charset="-120"/>
              </a:rPr>
              <a:t>SOURCES</a:t>
            </a:r>
            <a:endParaRPr lang="en-US" sz="1250" dirty="0"/>
          </a:p>
        </p:txBody>
      </p:sp>
      <p:sp>
        <p:nvSpPr>
          <p:cNvPr id="4" name="Text 2"/>
          <p:cNvSpPr txBox="1"/>
          <p:nvPr/>
        </p:nvSpPr>
        <p:spPr>
          <a:xfrm>
            <a:off x="685800" y="914400"/>
            <a:ext cx="10789920" cy="1097280"/>
          </a:xfrm>
          <a:prstGeom prst="rect">
            <a:avLst/>
          </a:prstGeom>
          <a:noFill/>
          <a:ln/>
        </p:spPr>
        <p:txBody>
          <a:bodyPr wrap="square" lIns="0" tIns="0" rIns="0" bIns="0" rtlCol="0" anchor="ctr"/>
          <a:lstStyle/>
          <a:p>
            <a:pPr indent="0" marL="0">
              <a:lnSpc>
                <a:spcPct val="98000"/>
              </a:lnSpc>
              <a:buNone/>
            </a:pPr>
            <a:r>
              <a:rPr lang="en-US" sz="3800" b="1" dirty="0">
                <a:solidFill>
                  <a:srgbClr val="FFFFFF"/>
                </a:solidFill>
                <a:latin typeface="Arial" pitchFamily="34" charset="0"/>
                <a:ea typeface="Arial" pitchFamily="34" charset="-122"/>
                <a:cs typeface="Arial" pitchFamily="34" charset="-120"/>
              </a:rPr>
              <a:t>Academic references</a:t>
            </a:r>
            <a:endParaRPr lang="en-US" sz="3800" dirty="0"/>
          </a:p>
        </p:txBody>
      </p:sp>
      <p:sp>
        <p:nvSpPr>
          <p:cNvPr id="5" name="Shape 3"/>
          <p:cNvSpPr/>
          <p:nvPr/>
        </p:nvSpPr>
        <p:spPr>
          <a:xfrm>
            <a:off x="685800" y="2011680"/>
            <a:ext cx="2331720" cy="512064"/>
          </a:xfrm>
          <a:prstGeom prst="roundRect">
            <a:avLst>
              <a:gd name="adj" fmla="val 10714"/>
            </a:avLst>
          </a:prstGeom>
          <a:solidFill>
            <a:srgbClr val="0B2A45"/>
          </a:solidFill>
          <a:ln/>
        </p:spPr>
      </p:sp>
      <p:sp>
        <p:nvSpPr>
          <p:cNvPr id="6" name="Text 4"/>
          <p:cNvSpPr txBox="1"/>
          <p:nvPr/>
        </p:nvSpPr>
        <p:spPr>
          <a:xfrm>
            <a:off x="685800" y="2011680"/>
            <a:ext cx="2331720" cy="512064"/>
          </a:xfrm>
          <a:prstGeom prst="rect">
            <a:avLst/>
          </a:prstGeom>
          <a:noFill/>
          <a:ln/>
        </p:spPr>
        <p:txBody>
          <a:bodyPr wrap="square" lIns="0" tIns="0" rIns="0" bIns="0" rtlCol="0" anchor="ctr"/>
          <a:lstStyle/>
          <a:p>
            <a:pPr algn="ctr" indent="0" marL="0">
              <a:buNone/>
            </a:pPr>
            <a:r>
              <a:rPr lang="en-US" sz="1200" b="1" dirty="0">
                <a:solidFill>
                  <a:srgbClr val="22D3EE"/>
                </a:solidFill>
                <a:latin typeface="Courier New" pitchFamily="34" charset="0"/>
                <a:ea typeface="Courier New" pitchFamily="34" charset="-122"/>
                <a:cs typeface="Courier New" pitchFamily="34" charset="-120"/>
              </a:rPr>
              <a:t>FBI</a:t>
            </a:r>
            <a:endParaRPr lang="en-US" sz="1200" dirty="0"/>
          </a:p>
        </p:txBody>
      </p:sp>
      <p:sp>
        <p:nvSpPr>
          <p:cNvPr id="7" name="Text 5"/>
          <p:cNvSpPr txBox="1"/>
          <p:nvPr/>
        </p:nvSpPr>
        <p:spPr>
          <a:xfrm>
            <a:off x="3200400" y="1975104"/>
            <a:ext cx="8321040" cy="585216"/>
          </a:xfrm>
          <a:prstGeom prst="rect">
            <a:avLst/>
          </a:prstGeom>
          <a:noFill/>
          <a:ln/>
        </p:spPr>
        <p:txBody>
          <a:bodyPr wrap="square" lIns="0" tIns="0" rIns="0" bIns="0" rtlCol="0" anchor="ctr"/>
          <a:lstStyle/>
          <a:p>
            <a:pPr indent="0" marL="0">
              <a:lnSpc>
                <a:spcPct val="98000"/>
              </a:lnSpc>
              <a:buNone/>
            </a:pPr>
            <a:r>
              <a:rPr lang="en-US" sz="1250" dirty="0">
                <a:solidFill>
                  <a:srgbClr val="EAF4FB"/>
                </a:solidFill>
                <a:latin typeface="Arial" pitchFamily="34" charset="0"/>
                <a:ea typeface="Arial" pitchFamily="34" charset="-122"/>
                <a:cs typeface="Arial" pitchFamily="34" charset="-120"/>
              </a:rPr>
              <a:t>Federal Bureau of Investigation — “The Morris Worm: 30 Years Since First Major Attack on the Internet” (famous-cases history).</a:t>
            </a:r>
            <a:endParaRPr lang="en-US" sz="1250" dirty="0"/>
          </a:p>
        </p:txBody>
      </p:sp>
      <p:sp>
        <p:nvSpPr>
          <p:cNvPr id="8" name="Shape 6"/>
          <p:cNvSpPr/>
          <p:nvPr/>
        </p:nvSpPr>
        <p:spPr>
          <a:xfrm>
            <a:off x="685800" y="2633472"/>
            <a:ext cx="2331720" cy="512064"/>
          </a:xfrm>
          <a:prstGeom prst="roundRect">
            <a:avLst>
              <a:gd name="adj" fmla="val 10714"/>
            </a:avLst>
          </a:prstGeom>
          <a:solidFill>
            <a:srgbClr val="0B2A45"/>
          </a:solidFill>
          <a:ln/>
        </p:spPr>
      </p:sp>
      <p:sp>
        <p:nvSpPr>
          <p:cNvPr id="9" name="Text 7"/>
          <p:cNvSpPr txBox="1"/>
          <p:nvPr/>
        </p:nvSpPr>
        <p:spPr>
          <a:xfrm>
            <a:off x="685800" y="2633472"/>
            <a:ext cx="2331720" cy="512064"/>
          </a:xfrm>
          <a:prstGeom prst="rect">
            <a:avLst/>
          </a:prstGeom>
          <a:noFill/>
          <a:ln/>
        </p:spPr>
        <p:txBody>
          <a:bodyPr wrap="square" lIns="0" tIns="0" rIns="0" bIns="0" rtlCol="0" anchor="ctr"/>
          <a:lstStyle/>
          <a:p>
            <a:pPr algn="ctr" indent="0" marL="0">
              <a:buNone/>
            </a:pPr>
            <a:r>
              <a:rPr lang="en-US" sz="1200" b="1" dirty="0">
                <a:solidFill>
                  <a:srgbClr val="22D3EE"/>
                </a:solidFill>
                <a:latin typeface="Courier New" pitchFamily="34" charset="0"/>
                <a:ea typeface="Courier New" pitchFamily="34" charset="-122"/>
                <a:cs typeface="Courier New" pitchFamily="34" charset="-120"/>
              </a:rPr>
              <a:t>Spafford, 1989</a:t>
            </a:r>
            <a:endParaRPr lang="en-US" sz="1200" dirty="0"/>
          </a:p>
        </p:txBody>
      </p:sp>
      <p:sp>
        <p:nvSpPr>
          <p:cNvPr id="10" name="Text 8"/>
          <p:cNvSpPr txBox="1"/>
          <p:nvPr/>
        </p:nvSpPr>
        <p:spPr>
          <a:xfrm>
            <a:off x="3200400" y="2596896"/>
            <a:ext cx="8321040" cy="585216"/>
          </a:xfrm>
          <a:prstGeom prst="rect">
            <a:avLst/>
          </a:prstGeom>
          <a:noFill/>
          <a:ln/>
        </p:spPr>
        <p:txBody>
          <a:bodyPr wrap="square" lIns="0" tIns="0" rIns="0" bIns="0" rtlCol="0" anchor="ctr"/>
          <a:lstStyle/>
          <a:p>
            <a:pPr indent="0" marL="0">
              <a:lnSpc>
                <a:spcPct val="98000"/>
              </a:lnSpc>
              <a:buNone/>
            </a:pPr>
            <a:r>
              <a:rPr lang="en-US" sz="1250" dirty="0">
                <a:solidFill>
                  <a:srgbClr val="EAF4FB"/>
                </a:solidFill>
                <a:latin typeface="Arial" pitchFamily="34" charset="0"/>
                <a:ea typeface="Arial" pitchFamily="34" charset="-122"/>
                <a:cs typeface="Arial" pitchFamily="34" charset="-120"/>
              </a:rPr>
              <a:t>Eugene H. Spafford, “The Internet Worm Program: An Analysis,” ACM SIGCOMM Computer Communication Review, 19(1), 1989 (Purdue Tech. Rep. CSD-TR-823).</a:t>
            </a:r>
            <a:endParaRPr lang="en-US" sz="1250" dirty="0"/>
          </a:p>
        </p:txBody>
      </p:sp>
      <p:sp>
        <p:nvSpPr>
          <p:cNvPr id="11" name="Shape 9"/>
          <p:cNvSpPr/>
          <p:nvPr/>
        </p:nvSpPr>
        <p:spPr>
          <a:xfrm>
            <a:off x="685800" y="3255264"/>
            <a:ext cx="2331720" cy="512064"/>
          </a:xfrm>
          <a:prstGeom prst="roundRect">
            <a:avLst>
              <a:gd name="adj" fmla="val 10714"/>
            </a:avLst>
          </a:prstGeom>
          <a:solidFill>
            <a:srgbClr val="0B2A45"/>
          </a:solidFill>
          <a:ln/>
        </p:spPr>
      </p:sp>
      <p:sp>
        <p:nvSpPr>
          <p:cNvPr id="12" name="Text 10"/>
          <p:cNvSpPr txBox="1"/>
          <p:nvPr/>
        </p:nvSpPr>
        <p:spPr>
          <a:xfrm>
            <a:off x="685800" y="3255264"/>
            <a:ext cx="2331720" cy="512064"/>
          </a:xfrm>
          <a:prstGeom prst="rect">
            <a:avLst/>
          </a:prstGeom>
          <a:noFill/>
          <a:ln/>
        </p:spPr>
        <p:txBody>
          <a:bodyPr wrap="square" lIns="0" tIns="0" rIns="0" bIns="0" rtlCol="0" anchor="ctr"/>
          <a:lstStyle/>
          <a:p>
            <a:pPr algn="ctr" indent="0" marL="0">
              <a:buNone/>
            </a:pPr>
            <a:r>
              <a:rPr lang="en-US" sz="1200" b="1" dirty="0">
                <a:solidFill>
                  <a:srgbClr val="22D3EE"/>
                </a:solidFill>
                <a:latin typeface="Courier New" pitchFamily="34" charset="0"/>
                <a:ea typeface="Courier New" pitchFamily="34" charset="-122"/>
                <a:cs typeface="Courier New" pitchFamily="34" charset="-120"/>
              </a:rPr>
              <a:t>Eichin &amp; Rochlis</a:t>
            </a:r>
            <a:endParaRPr lang="en-US" sz="1200" dirty="0"/>
          </a:p>
        </p:txBody>
      </p:sp>
      <p:sp>
        <p:nvSpPr>
          <p:cNvPr id="13" name="Text 11"/>
          <p:cNvSpPr txBox="1"/>
          <p:nvPr/>
        </p:nvSpPr>
        <p:spPr>
          <a:xfrm>
            <a:off x="3200400" y="3218688"/>
            <a:ext cx="8321040" cy="585216"/>
          </a:xfrm>
          <a:prstGeom prst="rect">
            <a:avLst/>
          </a:prstGeom>
          <a:noFill/>
          <a:ln/>
        </p:spPr>
        <p:txBody>
          <a:bodyPr wrap="square" lIns="0" tIns="0" rIns="0" bIns="0" rtlCol="0" anchor="ctr"/>
          <a:lstStyle/>
          <a:p>
            <a:pPr indent="0" marL="0">
              <a:lnSpc>
                <a:spcPct val="98000"/>
              </a:lnSpc>
              <a:buNone/>
            </a:pPr>
            <a:r>
              <a:rPr lang="en-US" sz="1250" dirty="0">
                <a:solidFill>
                  <a:srgbClr val="EAF4FB"/>
                </a:solidFill>
                <a:latin typeface="Arial" pitchFamily="34" charset="0"/>
                <a:ea typeface="Arial" pitchFamily="34" charset="-122"/>
                <a:cs typeface="Arial" pitchFamily="34" charset="-120"/>
              </a:rPr>
              <a:t>M. W. Eichin &amp; J. A. Rochlis, “With Microscope and Tweezers: An Analysis of the Internet Virus of November 1988,” MIT, 1989.</a:t>
            </a:r>
            <a:endParaRPr lang="en-US" sz="1250" dirty="0"/>
          </a:p>
        </p:txBody>
      </p:sp>
      <p:sp>
        <p:nvSpPr>
          <p:cNvPr id="14" name="Shape 12"/>
          <p:cNvSpPr/>
          <p:nvPr/>
        </p:nvSpPr>
        <p:spPr>
          <a:xfrm>
            <a:off x="685800" y="3877056"/>
            <a:ext cx="2331720" cy="512064"/>
          </a:xfrm>
          <a:prstGeom prst="roundRect">
            <a:avLst>
              <a:gd name="adj" fmla="val 10714"/>
            </a:avLst>
          </a:prstGeom>
          <a:solidFill>
            <a:srgbClr val="0B2A45"/>
          </a:solidFill>
          <a:ln/>
        </p:spPr>
      </p:sp>
      <p:sp>
        <p:nvSpPr>
          <p:cNvPr id="15" name="Text 13"/>
          <p:cNvSpPr txBox="1"/>
          <p:nvPr/>
        </p:nvSpPr>
        <p:spPr>
          <a:xfrm>
            <a:off x="685800" y="3877056"/>
            <a:ext cx="2331720" cy="512064"/>
          </a:xfrm>
          <a:prstGeom prst="rect">
            <a:avLst/>
          </a:prstGeom>
          <a:noFill/>
          <a:ln/>
        </p:spPr>
        <p:txBody>
          <a:bodyPr wrap="square" lIns="0" tIns="0" rIns="0" bIns="0" rtlCol="0" anchor="ctr"/>
          <a:lstStyle/>
          <a:p>
            <a:pPr algn="ctr" indent="0" marL="0">
              <a:buNone/>
            </a:pPr>
            <a:r>
              <a:rPr lang="en-US" sz="1200" b="1" dirty="0">
                <a:solidFill>
                  <a:srgbClr val="22D3EE"/>
                </a:solidFill>
                <a:latin typeface="Courier New" pitchFamily="34" charset="0"/>
                <a:ea typeface="Courier New" pitchFamily="34" charset="-122"/>
                <a:cs typeface="Courier New" pitchFamily="34" charset="-120"/>
              </a:rPr>
              <a:t>U.S. GAO</a:t>
            </a:r>
            <a:endParaRPr lang="en-US" sz="1200" dirty="0"/>
          </a:p>
        </p:txBody>
      </p:sp>
      <p:sp>
        <p:nvSpPr>
          <p:cNvPr id="16" name="Text 14"/>
          <p:cNvSpPr txBox="1"/>
          <p:nvPr/>
        </p:nvSpPr>
        <p:spPr>
          <a:xfrm>
            <a:off x="3200400" y="3840480"/>
            <a:ext cx="8321040" cy="585216"/>
          </a:xfrm>
          <a:prstGeom prst="rect">
            <a:avLst/>
          </a:prstGeom>
          <a:noFill/>
          <a:ln/>
        </p:spPr>
        <p:txBody>
          <a:bodyPr wrap="square" lIns="0" tIns="0" rIns="0" bIns="0" rtlCol="0" anchor="ctr"/>
          <a:lstStyle/>
          <a:p>
            <a:pPr indent="0" marL="0">
              <a:lnSpc>
                <a:spcPct val="98000"/>
              </a:lnSpc>
              <a:buNone/>
            </a:pPr>
            <a:r>
              <a:rPr lang="en-US" sz="1250" dirty="0">
                <a:solidFill>
                  <a:srgbClr val="EAF4FB"/>
                </a:solidFill>
                <a:latin typeface="Arial" pitchFamily="34" charset="0"/>
                <a:ea typeface="Arial" pitchFamily="34" charset="-122"/>
                <a:cs typeface="Arial" pitchFamily="34" charset="-120"/>
              </a:rPr>
              <a:t>U.S. General Accounting Office, “Computer Security: Virus Highlights Need for Improved Internet Management,” GAO/IMTEC-89-57, 1989.</a:t>
            </a:r>
            <a:endParaRPr lang="en-US" sz="1250" dirty="0"/>
          </a:p>
        </p:txBody>
      </p:sp>
      <p:sp>
        <p:nvSpPr>
          <p:cNvPr id="17" name="Shape 15"/>
          <p:cNvSpPr/>
          <p:nvPr/>
        </p:nvSpPr>
        <p:spPr>
          <a:xfrm>
            <a:off x="685800" y="4498848"/>
            <a:ext cx="2331720" cy="512064"/>
          </a:xfrm>
          <a:prstGeom prst="roundRect">
            <a:avLst>
              <a:gd name="adj" fmla="val 10714"/>
            </a:avLst>
          </a:prstGeom>
          <a:solidFill>
            <a:srgbClr val="0B2A45"/>
          </a:solidFill>
          <a:ln/>
        </p:spPr>
      </p:sp>
      <p:sp>
        <p:nvSpPr>
          <p:cNvPr id="18" name="Text 16"/>
          <p:cNvSpPr txBox="1"/>
          <p:nvPr/>
        </p:nvSpPr>
        <p:spPr>
          <a:xfrm>
            <a:off x="685800" y="4498848"/>
            <a:ext cx="2331720" cy="512064"/>
          </a:xfrm>
          <a:prstGeom prst="rect">
            <a:avLst/>
          </a:prstGeom>
          <a:noFill/>
          <a:ln/>
        </p:spPr>
        <p:txBody>
          <a:bodyPr wrap="square" lIns="0" tIns="0" rIns="0" bIns="0" rtlCol="0" anchor="ctr"/>
          <a:lstStyle/>
          <a:p>
            <a:pPr algn="ctr" indent="0" marL="0">
              <a:buNone/>
            </a:pPr>
            <a:r>
              <a:rPr lang="en-US" sz="1200" b="1" dirty="0">
                <a:solidFill>
                  <a:srgbClr val="22D3EE"/>
                </a:solidFill>
                <a:latin typeface="Courier New" pitchFamily="34" charset="0"/>
                <a:ea typeface="Courier New" pitchFamily="34" charset="-122"/>
                <a:cs typeface="Courier New" pitchFamily="34" charset="-120"/>
              </a:rPr>
              <a:t>U.S. v. Morris</a:t>
            </a:r>
            <a:endParaRPr lang="en-US" sz="1200" dirty="0"/>
          </a:p>
        </p:txBody>
      </p:sp>
      <p:sp>
        <p:nvSpPr>
          <p:cNvPr id="19" name="Text 17"/>
          <p:cNvSpPr txBox="1"/>
          <p:nvPr/>
        </p:nvSpPr>
        <p:spPr>
          <a:xfrm>
            <a:off x="3200400" y="4462272"/>
            <a:ext cx="8321040" cy="585216"/>
          </a:xfrm>
          <a:prstGeom prst="rect">
            <a:avLst/>
          </a:prstGeom>
          <a:noFill/>
          <a:ln/>
        </p:spPr>
        <p:txBody>
          <a:bodyPr wrap="square" lIns="0" tIns="0" rIns="0" bIns="0" rtlCol="0" anchor="ctr"/>
          <a:lstStyle/>
          <a:p>
            <a:pPr indent="0" marL="0">
              <a:lnSpc>
                <a:spcPct val="98000"/>
              </a:lnSpc>
              <a:buNone/>
            </a:pPr>
            <a:r>
              <a:rPr lang="en-US" sz="1250" dirty="0">
                <a:solidFill>
                  <a:srgbClr val="EAF4FB"/>
                </a:solidFill>
                <a:latin typeface="Arial" pitchFamily="34" charset="0"/>
                <a:ea typeface="Arial" pitchFamily="34" charset="-122"/>
                <a:cs typeface="Arial" pitchFamily="34" charset="-120"/>
              </a:rPr>
              <a:t>United States v. Morris, 928 F.2d 504 (2d Cir. 1991) — conviction under the Computer Fraud and Abuse Act of 1986.</a:t>
            </a:r>
            <a:endParaRPr lang="en-US" sz="1250" dirty="0"/>
          </a:p>
        </p:txBody>
      </p:sp>
      <p:sp>
        <p:nvSpPr>
          <p:cNvPr id="20" name="Shape 18"/>
          <p:cNvSpPr/>
          <p:nvPr/>
        </p:nvSpPr>
        <p:spPr>
          <a:xfrm>
            <a:off x="685800" y="5120640"/>
            <a:ext cx="2331720" cy="512064"/>
          </a:xfrm>
          <a:prstGeom prst="roundRect">
            <a:avLst>
              <a:gd name="adj" fmla="val 10714"/>
            </a:avLst>
          </a:prstGeom>
          <a:solidFill>
            <a:srgbClr val="0B2A45"/>
          </a:solidFill>
          <a:ln/>
        </p:spPr>
      </p:sp>
      <p:sp>
        <p:nvSpPr>
          <p:cNvPr id="21" name="Text 19"/>
          <p:cNvSpPr txBox="1"/>
          <p:nvPr/>
        </p:nvSpPr>
        <p:spPr>
          <a:xfrm>
            <a:off x="685800" y="5120640"/>
            <a:ext cx="2331720" cy="512064"/>
          </a:xfrm>
          <a:prstGeom prst="rect">
            <a:avLst/>
          </a:prstGeom>
          <a:noFill/>
          <a:ln/>
        </p:spPr>
        <p:txBody>
          <a:bodyPr wrap="square" lIns="0" tIns="0" rIns="0" bIns="0" rtlCol="0" anchor="ctr"/>
          <a:lstStyle/>
          <a:p>
            <a:pPr algn="ctr" indent="0" marL="0">
              <a:buNone/>
            </a:pPr>
            <a:r>
              <a:rPr lang="en-US" sz="1200" b="1" dirty="0">
                <a:solidFill>
                  <a:srgbClr val="22D3EE"/>
                </a:solidFill>
                <a:latin typeface="Courier New" pitchFamily="34" charset="0"/>
                <a:ea typeface="Courier New" pitchFamily="34" charset="-122"/>
                <a:cs typeface="Courier New" pitchFamily="34" charset="-120"/>
              </a:rPr>
              <a:t>CERT/CC</a:t>
            </a:r>
            <a:endParaRPr lang="en-US" sz="1200" dirty="0"/>
          </a:p>
        </p:txBody>
      </p:sp>
      <p:sp>
        <p:nvSpPr>
          <p:cNvPr id="22" name="Text 20"/>
          <p:cNvSpPr txBox="1"/>
          <p:nvPr/>
        </p:nvSpPr>
        <p:spPr>
          <a:xfrm>
            <a:off x="3200400" y="5084064"/>
            <a:ext cx="8321040" cy="585216"/>
          </a:xfrm>
          <a:prstGeom prst="rect">
            <a:avLst/>
          </a:prstGeom>
          <a:noFill/>
          <a:ln/>
        </p:spPr>
        <p:txBody>
          <a:bodyPr wrap="square" lIns="0" tIns="0" rIns="0" bIns="0" rtlCol="0" anchor="ctr"/>
          <a:lstStyle/>
          <a:p>
            <a:pPr indent="0" marL="0">
              <a:lnSpc>
                <a:spcPct val="98000"/>
              </a:lnSpc>
              <a:buNone/>
            </a:pPr>
            <a:r>
              <a:rPr lang="en-US" sz="1250" dirty="0">
                <a:solidFill>
                  <a:srgbClr val="EAF4FB"/>
                </a:solidFill>
                <a:latin typeface="Arial" pitchFamily="34" charset="0"/>
                <a:ea typeface="Arial" pitchFamily="34" charset="-122"/>
                <a:cs typeface="Arial" pitchFamily="34" charset="-120"/>
              </a:rPr>
              <a:t>CERT Coordination Center, Software Engineering Institute, Carnegie Mellon University (established November 1988).</a:t>
            </a:r>
            <a:endParaRPr lang="en-US" sz="1250" dirty="0"/>
          </a:p>
        </p:txBody>
      </p:sp>
      <p:sp>
        <p:nvSpPr>
          <p:cNvPr id="23" name="Shape 21"/>
          <p:cNvSpPr/>
          <p:nvPr/>
        </p:nvSpPr>
        <p:spPr>
          <a:xfrm>
            <a:off x="685800" y="5742432"/>
            <a:ext cx="2331720" cy="512064"/>
          </a:xfrm>
          <a:prstGeom prst="roundRect">
            <a:avLst>
              <a:gd name="adj" fmla="val 10714"/>
            </a:avLst>
          </a:prstGeom>
          <a:solidFill>
            <a:srgbClr val="0B2A45"/>
          </a:solidFill>
          <a:ln/>
        </p:spPr>
      </p:sp>
      <p:sp>
        <p:nvSpPr>
          <p:cNvPr id="24" name="Text 22"/>
          <p:cNvSpPr txBox="1"/>
          <p:nvPr/>
        </p:nvSpPr>
        <p:spPr>
          <a:xfrm>
            <a:off x="685800" y="5742432"/>
            <a:ext cx="2331720" cy="512064"/>
          </a:xfrm>
          <a:prstGeom prst="rect">
            <a:avLst/>
          </a:prstGeom>
          <a:noFill/>
          <a:ln/>
        </p:spPr>
        <p:txBody>
          <a:bodyPr wrap="square" lIns="0" tIns="0" rIns="0" bIns="0" rtlCol="0" anchor="ctr"/>
          <a:lstStyle/>
          <a:p>
            <a:pPr algn="ctr" indent="0" marL="0">
              <a:buNone/>
            </a:pPr>
            <a:r>
              <a:rPr lang="en-US" sz="1200" b="1" dirty="0">
                <a:solidFill>
                  <a:srgbClr val="22D3EE"/>
                </a:solidFill>
                <a:latin typeface="Courier New" pitchFamily="34" charset="0"/>
                <a:ea typeface="Courier New" pitchFamily="34" charset="-122"/>
                <a:cs typeface="Courier New" pitchFamily="34" charset="-120"/>
              </a:rPr>
              <a:t>Computer History Museum</a:t>
            </a:r>
            <a:endParaRPr lang="en-US" sz="1200" dirty="0"/>
          </a:p>
        </p:txBody>
      </p:sp>
      <p:sp>
        <p:nvSpPr>
          <p:cNvPr id="25" name="Text 23"/>
          <p:cNvSpPr txBox="1"/>
          <p:nvPr/>
        </p:nvSpPr>
        <p:spPr>
          <a:xfrm>
            <a:off x="3200400" y="5705856"/>
            <a:ext cx="8321040" cy="585216"/>
          </a:xfrm>
          <a:prstGeom prst="rect">
            <a:avLst/>
          </a:prstGeom>
          <a:noFill/>
          <a:ln/>
        </p:spPr>
        <p:txBody>
          <a:bodyPr wrap="square" lIns="0" tIns="0" rIns="0" bIns="0" rtlCol="0" anchor="ctr"/>
          <a:lstStyle/>
          <a:p>
            <a:pPr indent="0" marL="0">
              <a:lnSpc>
                <a:spcPct val="98000"/>
              </a:lnSpc>
              <a:buNone/>
            </a:pPr>
            <a:r>
              <a:rPr lang="en-US" sz="1250" dirty="0">
                <a:solidFill>
                  <a:srgbClr val="EAF4FB"/>
                </a:solidFill>
                <a:latin typeface="Arial" pitchFamily="34" charset="0"/>
                <a:ea typeface="Arial" pitchFamily="34" charset="-122"/>
                <a:cs typeface="Arial" pitchFamily="34" charset="-120"/>
              </a:rPr>
              <a:t>Computer History Museum — exhibits and articles on the 1988 Internet Worm.</a:t>
            </a:r>
            <a:endParaRPr lang="en-US" sz="1250" dirty="0"/>
          </a:p>
        </p:txBody>
      </p:sp>
      <p:sp>
        <p:nvSpPr>
          <p:cNvPr id="26" name="Text 24"/>
          <p:cNvSpPr txBox="1"/>
          <p:nvPr/>
        </p:nvSpPr>
        <p:spPr>
          <a:xfrm>
            <a:off x="685800" y="6400800"/>
            <a:ext cx="10789920" cy="320040"/>
          </a:xfrm>
          <a:prstGeom prst="rect">
            <a:avLst/>
          </a:prstGeom>
          <a:noFill/>
          <a:ln/>
        </p:spPr>
        <p:txBody>
          <a:bodyPr wrap="square" lIns="0" tIns="0" rIns="0" bIns="0" rtlCol="0" anchor="ctr"/>
          <a:lstStyle/>
          <a:p>
            <a:pPr indent="0" marL="0">
              <a:buNone/>
            </a:pPr>
            <a:r>
              <a:rPr lang="en-US" sz="1050" i="1" dirty="0">
                <a:solidFill>
                  <a:srgbClr val="94A3B8"/>
                </a:solidFill>
                <a:latin typeface="Arial" pitchFamily="34" charset="0"/>
                <a:ea typeface="Arial" pitchFamily="34" charset="-122"/>
                <a:cs typeface="Arial" pitchFamily="34" charset="-120"/>
              </a:rPr>
              <a:t>All historical facts drawn from the authoritative sources above; the “then vs today” comparison is present-day analysis.</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Morris Worm 1988 - Cyber Security Case Study</dc:title>
  <dc:subject>PptxGenJS Presentation</dc:subject>
  <dc:creator>Cyber Security Case Study</dc:creator>
  <cp:lastModifiedBy>Cyber Security Case Study</cp:lastModifiedBy>
  <cp:revision>1</cp:revision>
  <dcterms:created xsi:type="dcterms:W3CDTF">2026-10-05T19:55:23Z</dcterms:created>
  <dcterms:modified xsi:type="dcterms:W3CDTF">2026-10-05T19:55:23Z</dcterms:modified>
</cp:coreProperties>
</file>