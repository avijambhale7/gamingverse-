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topic: the Tata Power cyberattack, disclosed on 14 October 2022. The Hive ransomware-as-a-service group breached the corporate IT network of India's largest integrated power company, encrypted systems and later leaked stolen employee data. Stress the headline point you will return to: critical operational systems kept running, so electricity supply to over 12 million consumers was never interrupted. Preview the flow: what happened, how, the impact, the response, the law, and the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incident precisely. Tata Power is India's largest integrated power company. The Hive group — a ransomware-as-a-service operation — claimed it encrypted Tata Power's IT systems around 3 October 2022. The company disclosed the attack to the stock exchanges on 14 October. This was a double-extortion attack: data was stolen before encryption, so refusing to pay led to a public leak. The single most important fact: only corporate IT was affected; the operational systems that run the grid kept working, so no customer lost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context. India's power sector digitised fast — smart meters, SCADA upgrades, customer portals, cloud ERP and remote access connected systems that were once isolated. At the same time, state-linked espionage groups (RedEcho, TAG-38) repeatedly targeted Indian load-despatch centres, and the 2020 Mumbai blackout raised suspicions of sabotage. Meanwhile ransomware became a professional ecosystem; by Q3 2022 Hive was one of the top three families worldwide. These conditions set the stage for the October 2022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single most important technical distinction. IT (information technology) is the corporate side: email, HR and payroll, finance, billing, customer portals. OT (operational technology) is SCADA, energy management, PLCs and relays that physically run the grid. Hive encrypted IT and stole files that sat on IT shares. Tata Power stated OT kept functioning, so the grid stayed up. The lesson for later: the IT/OT boundary held this time, but a breach of IT is only ever a few steps from the systems that keep the country powered.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nine stages. Reconnaissance and initial access get the attacker in (stolen credentials, an unpatched service or phishing). Execution and persistence establish a stable foothold. Credential theft and lateral movement expand control across the IT network. Then the two decisive stages: exfiltration — copying sensitive files out before any alarm — and inhibit recovery — deleting backups and shadow copies. Only at the end do they encrypt and demand ransom. Emphasise: the data was already gone before encryption, which is why backups alone could not undo the harm. Note this chain is reconstructed from Hive's known behaviour, not a Tata Power forensic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business model and why it mattered. Ransomware-as-a-service means a core team builds the tools and runs the leak site, while affiliates do the break-ins and keep about 80% of each ransom — so many attacks run in parallel. Hive hit over 1,300 organisations and collected roughly US$100 million. Double extortion is the key idea: data is stolen before encryption, so refusing to pay brings a public leak. When Tata Power declined to pay, Hive published contracts, NDAs, engineering drawings and employees' Aadhaar, PAN and salary data. Good backups restore systems but cannot un-steal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the timeline. Around 3 October Hive claims it encrypted Tata Power's IT. On 14 October the company disclosed the attack to the exchanges but did not name an attacker or mention data theft. About ten days later, on 24–25 October, Hive listed Tata Power on its leak site and began publishing stolen Aadhaar, PAN, salary data and engineering drawings — a clear sign the ransom was not paid. In November Microsoft cited the attack as part of a wider targeting of Indian grid assets. Finally, on 26 January 2023 the FBI and European partners seized Hive's infrastructure, dismantling the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impact around data and trust rather than power. The headline reassurance: Tata Power serves over 12 million distribution consumers and none lost electricity. But the leaked files exposed employees' Aadhaar, PAN, salary and contact details — unlike a password, identity numbers cannot be reset, so staff face identity-theft and phishing risk for years. Walk the table: employees bore the worst harm; customers faced restricted portals; vendors had contracts and drawings exposed; and nationally it raised questions about protecting critical infrastructure. Tata Power never quantified the cost, and its share price showed no lasting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legal and regulatory angle, which makes this case distinctively Indian. The CERT-In Directions (in force from June 2022) require ransomware and data breaches to be reported within just 6 hours, logs kept for 180 days, and clocks synced to national time servers. The CEA guidelines require utilities to appoint a CISO, segregate IT and OT, and undergo audits; as a listed company Tata Power also had to disclose under SEBI LODR Regulation 30. Walk the table: the IT Act criminalises the access and theft, s.43A sets a duty of reasonable security, s.66F/70 cover cyber terrorism and protected critical systems, and the DPDP Act 2023 now adds breach-notification duties with penalties up to ₹250 crore.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balanced assessment of the response. What went right: Tata Power protected the grid, restored affected systems, restricted portals as a precaution, disclosed to the exchanges, and refused to pay the ransom — denying Hive its payout. What went wrong: detection was late. The intrusion seems to have been noticed only at the encryption stage, by which point contracts, HR records and engineering files had already been exfiltrated. That points to gaps in monitoring and data-loss prevention. The lesson: containment alone is not enough; you must detect the intrusion before the data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the incident into defensive principles, each tied to a weakness it exposed. IT/OT segmentation kept the grid safe — keep testing that boundary. Phishing-resistant MFA and fast patching close the common entry routes Hive affiliates used. Exfiltration monitoring (EDR/NDR/DLP) is the control that would have caught the theft before the leak. Data minimisation — masking and limiting stored Aadhaar/PAN/salary data — would have reduced the harm. Immutable, tested backups let a victim refuse to pay. Add least privilege, a rehearsed incident-response plan, and meeting the CERT-In 6-hour reporting duty.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the incident to best practice, and label it clearly as present-day analysis. Column by column: the IT/OT boundary held and supply was unaffected — today formalise it with the Purdue model and IEC 62443 tested zones. Monitoring failed (theft went unnoticed) — today run EDR, NDR, DLP and a 24×7 SOC. Personal data sat in reachable shares — today mask, encrypt and apply least privilege. Backups let the company refuse to pay — keep them immutable, offline and restore-tested. Communication was a brief filing — today give timely notice to staff and CERT-In. The attack exposed exactly the gaps these controls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core message. The Tata Power attack was serious yet, in one crucial respect, contained: a ransomware-as-a-service group breached IT, encrypted systems and leaked data when the company refused to pay — but the lights stayed on because the IT/OT boundary held. Summarise the arc: IT breach, data theft, encryption, refuse-and-leak, lessons. The enduring lesson is that a utility must defend its data as carefully as its grid, because in a connected power sector a breach of corporate IT is only a few steps from the systems that keep a country running. End by inviting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sources and their authority: the Tata Power exchange filing for the disclosure, The Hacker News and Security Affairs for the leak, the CISA/FBI advisory AA22-321A for Hive's techniques, Recorded Future and Microsoft for the targeting of Indian grid assets, CERT-In/CEA and the IT and DPDP Acts for the legal framework, and the DoJ/FBI for the takedown. Make clear the attack chain is a reconstruction from Hive's known behaviour since Tata Power published no forensic report, attacker claims are flagged as claims, and the comparison slide is your own present-day analysis.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grid.png">    </p:cNvPr>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7040880" y="1051560"/>
            <a:ext cx="4754880" cy="4754880"/>
          </a:xfrm>
          <a:prstGeom prst="ellipse">
            <a:avLst/>
          </a:prstGeom>
          <a:ln w="12700">
            <a:solidFill>
              <a:srgbClr val="0B2A45"/>
            </a:solidFill>
            <a:prstDash val="solid"/>
          </a:ln>
        </p:spPr>
      </p:sp>
      <p:sp>
        <p:nvSpPr>
          <p:cNvPr id="4" name="Shape 1"/>
          <p:cNvSpPr/>
          <p:nvPr/>
        </p:nvSpPr>
        <p:spPr>
          <a:xfrm>
            <a:off x="7635240" y="1645920"/>
            <a:ext cx="3566160" cy="3566160"/>
          </a:xfrm>
          <a:prstGeom prst="ellipse">
            <a:avLst/>
          </a:prstGeom>
          <a:ln w="12700">
            <a:solidFill>
              <a:srgbClr val="38BDF8">
                <a:alpha val="88000"/>
              </a:srgbClr>
            </a:solidFill>
            <a:prstDash val="solid"/>
          </a:ln>
        </p:spPr>
      </p:sp>
      <p:sp>
        <p:nvSpPr>
          <p:cNvPr id="5" name="Shape 2"/>
          <p:cNvSpPr/>
          <p:nvPr/>
        </p:nvSpPr>
        <p:spPr>
          <a:xfrm>
            <a:off x="8229600" y="2240280"/>
            <a:ext cx="2377440" cy="2377440"/>
          </a:xfrm>
          <a:prstGeom prst="ellipse">
            <a:avLst/>
          </a:prstGeom>
          <a:ln w="12700">
            <a:solidFill>
              <a:srgbClr val="0B2A45">
                <a:alpha val="76000"/>
              </a:srgbClr>
            </a:solidFill>
            <a:prstDash val="solid"/>
          </a:ln>
        </p:spPr>
      </p:sp>
      <p:sp>
        <p:nvSpPr>
          <p:cNvPr id="6" name="Shape 3"/>
          <p:cNvSpPr/>
          <p:nvPr/>
        </p:nvSpPr>
        <p:spPr>
          <a:xfrm>
            <a:off x="8778240" y="2788920"/>
            <a:ext cx="1280160" cy="1280160"/>
          </a:xfrm>
          <a:prstGeom prst="ellipse">
            <a:avLst/>
          </a:prstGeom>
          <a:ln w="12700">
            <a:solidFill>
              <a:srgbClr val="38BDF8">
                <a:alpha val="64000"/>
              </a:srgbClr>
            </a:solidFill>
            <a:prstDash val="solid"/>
          </a:ln>
        </p:spPr>
      </p:sp>
      <p:sp>
        <p:nvSpPr>
          <p:cNvPr id="7" name="Shape 4"/>
          <p:cNvSpPr/>
          <p:nvPr/>
        </p:nvSpPr>
        <p:spPr>
          <a:xfrm>
            <a:off x="8732520" y="2743200"/>
            <a:ext cx="1371600" cy="1371600"/>
          </a:xfrm>
          <a:prstGeom prst="ellipse">
            <a:avLst/>
          </a:prstGeom>
          <a:solidFill>
            <a:srgbClr val="22D3EE"/>
          </a:solidFill>
          <a:ln/>
        </p:spPr>
      </p:sp>
      <p:pic>
        <p:nvPicPr>
          <p:cNvPr id="8" name="Image 1" descr="assets/icons/lock.png">    </p:cNvPr>
          <p:cNvPicPr>
            <a:picLocks noChangeAspect="1"/>
          </p:cNvPicPr>
          <p:nvPr/>
        </p:nvPicPr>
        <p:blipFill>
          <a:blip r:embed="rId3"/>
          <a:stretch>
            <a:fillRect/>
          </a:stretch>
        </p:blipFill>
        <p:spPr>
          <a:xfrm>
            <a:off x="9116568" y="3127248"/>
            <a:ext cx="603504" cy="603504"/>
          </a:xfrm>
          <a:prstGeom prst="rect">
            <a:avLst/>
          </a:prstGeom>
        </p:spPr>
      </p:pic>
      <p:sp>
        <p:nvSpPr>
          <p:cNvPr id="9" name="Text 5"/>
          <p:cNvSpPr txBox="1"/>
          <p:nvPr/>
        </p:nvSpPr>
        <p:spPr>
          <a:xfrm>
            <a:off x="777240" y="1234440"/>
            <a:ext cx="73152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CYBER SECURITY  ·  CASE STUDY</a:t>
            </a:r>
            <a:endParaRPr lang="en-US" sz="1250" dirty="0"/>
          </a:p>
        </p:txBody>
      </p:sp>
      <p:sp>
        <p:nvSpPr>
          <p:cNvPr id="10" name="Text 6"/>
          <p:cNvSpPr txBox="1"/>
          <p:nvPr/>
        </p:nvSpPr>
        <p:spPr>
          <a:xfrm>
            <a:off x="731520" y="1600200"/>
            <a:ext cx="7863840" cy="2103120"/>
          </a:xfrm>
          <a:prstGeom prst="rect">
            <a:avLst/>
          </a:prstGeom>
          <a:noFill/>
          <a:ln/>
        </p:spPr>
        <p:txBody>
          <a:bodyPr wrap="square" lIns="0" tIns="0" rIns="0" bIns="0" rtlCol="0" anchor="ctr"/>
          <a:lstStyle/>
          <a:p>
            <a:pPr indent="0" marL="0">
              <a:lnSpc>
                <a:spcPct val="98000"/>
              </a:lnSpc>
              <a:buNone/>
            </a:pPr>
            <a:r>
              <a:rPr lang="en-US" sz="5200" b="1" dirty="0">
                <a:solidFill>
                  <a:srgbClr val="FFFFFF"/>
                </a:solidFill>
                <a:latin typeface="Arial" pitchFamily="34" charset="0"/>
                <a:ea typeface="Arial" pitchFamily="34" charset="-122"/>
                <a:cs typeface="Arial" pitchFamily="34" charset="-120"/>
              </a:rPr>
              <a:t>Tata Power</a:t>
            </a:r>
            <a:endParaRPr lang="en-US" sz="5200" dirty="0"/>
          </a:p>
          <a:p>
            <a:pPr indent="0" marL="0">
              <a:lnSpc>
                <a:spcPct val="98000"/>
              </a:lnSpc>
              <a:buNone/>
            </a:pPr>
            <a:r>
              <a:rPr lang="en-US" sz="5200" b="1" dirty="0">
                <a:solidFill>
                  <a:srgbClr val="22D3EE"/>
                </a:solidFill>
                <a:latin typeface="Arial" pitchFamily="34" charset="0"/>
                <a:ea typeface="Arial" pitchFamily="34" charset="-122"/>
                <a:cs typeface="Arial" pitchFamily="34" charset="-120"/>
              </a:rPr>
              <a:t>Cyberattack — 2022</a:t>
            </a:r>
            <a:endParaRPr lang="en-US" sz="5200" dirty="0"/>
          </a:p>
        </p:txBody>
      </p:sp>
      <p:sp>
        <p:nvSpPr>
          <p:cNvPr id="11" name="Shape 7"/>
          <p:cNvSpPr/>
          <p:nvPr/>
        </p:nvSpPr>
        <p:spPr>
          <a:xfrm>
            <a:off x="777240" y="3840480"/>
            <a:ext cx="1737360" cy="45720"/>
          </a:xfrm>
          <a:prstGeom prst="rect">
            <a:avLst/>
          </a:prstGeom>
          <a:solidFill>
            <a:srgbClr val="22D3EE"/>
          </a:solidFill>
          <a:ln/>
        </p:spPr>
      </p:sp>
      <p:sp>
        <p:nvSpPr>
          <p:cNvPr id="12" name="Text 8"/>
          <p:cNvSpPr txBox="1"/>
          <p:nvPr/>
        </p:nvSpPr>
        <p:spPr>
          <a:xfrm>
            <a:off x="777240" y="4069080"/>
            <a:ext cx="6949440" cy="640080"/>
          </a:xfrm>
          <a:prstGeom prst="rect">
            <a:avLst/>
          </a:prstGeom>
          <a:noFill/>
          <a:ln/>
        </p:spPr>
        <p:txBody>
          <a:bodyPr wrap="square" lIns="0" tIns="0" rIns="0" bIns="0" rtlCol="0" anchor="ctr"/>
          <a:lstStyle/>
          <a:p>
            <a:pPr indent="0" marL="0">
              <a:buNone/>
            </a:pPr>
            <a:r>
              <a:rPr lang="en-US" sz="1600" dirty="0">
                <a:solidFill>
                  <a:srgbClr val="EAF4FB"/>
                </a:solidFill>
                <a:latin typeface="Arial" pitchFamily="34" charset="0"/>
                <a:ea typeface="Arial" pitchFamily="34" charset="-122"/>
                <a:cs typeface="Arial" pitchFamily="34" charset="-120"/>
              </a:rPr>
              <a:t>A Hive ransomware breach of India's largest integrated power utility — disclosed 14 October 2022.</a:t>
            </a:r>
            <a:endParaRPr lang="en-US" sz="1600" dirty="0"/>
          </a:p>
        </p:txBody>
      </p:sp>
      <p:sp>
        <p:nvSpPr>
          <p:cNvPr id="13" name="Shape 9"/>
          <p:cNvSpPr/>
          <p:nvPr/>
        </p:nvSpPr>
        <p:spPr>
          <a:xfrm>
            <a:off x="777240" y="4937760"/>
            <a:ext cx="6309360" cy="1463040"/>
          </a:xfrm>
          <a:prstGeom prst="roundRect">
            <a:avLst>
              <a:gd name="adj" fmla="val 6250"/>
            </a:avLst>
          </a:prstGeom>
          <a:solidFill>
            <a:srgbClr val="0B2A45"/>
          </a:solidFill>
          <a:ln/>
          <a:effectLst>
            <a:outerShdw sx="100000" sy="100000" kx="0" ky="0" algn="bl" rotWithShape="0" blurRad="127000" dist="38100" dir="5400000">
              <a:srgbClr val="000000">
                <a:alpha val="35000"/>
              </a:srgbClr>
            </a:outerShdw>
          </a:effectLst>
        </p:spPr>
      </p:sp>
      <p:sp>
        <p:nvSpPr>
          <p:cNvPr id="14" name="Text 10"/>
          <p:cNvSpPr txBox="1"/>
          <p:nvPr/>
        </p:nvSpPr>
        <p:spPr>
          <a:xfrm>
            <a:off x="1005840" y="5102352"/>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Name:  </a:t>
            </a:r>
            <a:pPr indent="0" marL="0">
              <a:buNone/>
            </a:pPr>
            <a:r>
              <a:rPr lang="en-US" sz="1150" dirty="0">
                <a:solidFill>
                  <a:srgbClr val="EAF4FB"/>
                </a:solidFill>
                <a:latin typeface="Courier New" pitchFamily="34" charset="0"/>
                <a:ea typeface="Courier New" pitchFamily="34" charset="-122"/>
                <a:cs typeface="Courier New" pitchFamily="34" charset="-120"/>
              </a:rPr>
              <a:t>Avdhoot Kamthe</a:t>
            </a:r>
            <a:endParaRPr lang="en-US" sz="1150" dirty="0"/>
          </a:p>
        </p:txBody>
      </p:sp>
      <p:sp>
        <p:nvSpPr>
          <p:cNvPr id="15" name="Text 11"/>
          <p:cNvSpPr txBox="1"/>
          <p:nvPr/>
        </p:nvSpPr>
        <p:spPr>
          <a:xfrm>
            <a:off x="4114800" y="5102352"/>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Enrollment No.:  </a:t>
            </a:r>
            <a:pPr indent="0" marL="0">
              <a:buNone/>
            </a:pPr>
            <a:r>
              <a:rPr lang="en-US" sz="1150" dirty="0">
                <a:solidFill>
                  <a:srgbClr val="EAF4FB"/>
                </a:solidFill>
                <a:latin typeface="Courier New" pitchFamily="34" charset="0"/>
                <a:ea typeface="Courier New" pitchFamily="34" charset="-122"/>
                <a:cs typeface="Courier New" pitchFamily="34" charset="-120"/>
              </a:rPr>
              <a:t>20406094</a:t>
            </a:r>
            <a:endParaRPr lang="en-US" sz="1150" dirty="0"/>
          </a:p>
        </p:txBody>
      </p:sp>
      <p:sp>
        <p:nvSpPr>
          <p:cNvPr id="16" name="Text 12"/>
          <p:cNvSpPr txBox="1"/>
          <p:nvPr/>
        </p:nvSpPr>
        <p:spPr>
          <a:xfrm>
            <a:off x="1005840" y="5468112"/>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Class:  </a:t>
            </a:r>
            <a:pPr indent="0" marL="0">
              <a:buNone/>
            </a:pPr>
            <a:r>
              <a:rPr lang="en-US" sz="1150" dirty="0">
                <a:solidFill>
                  <a:srgbClr val="EAF4FB"/>
                </a:solidFill>
                <a:latin typeface="Courier New" pitchFamily="34" charset="0"/>
                <a:ea typeface="Courier New" pitchFamily="34" charset="-122"/>
                <a:cs typeface="Courier New" pitchFamily="34" charset="-120"/>
              </a:rPr>
              <a:t>H3</a:t>
            </a:r>
            <a:endParaRPr lang="en-US" sz="1150" dirty="0"/>
          </a:p>
        </p:txBody>
      </p:sp>
      <p:sp>
        <p:nvSpPr>
          <p:cNvPr id="17" name="Text 13"/>
          <p:cNvSpPr txBox="1"/>
          <p:nvPr/>
        </p:nvSpPr>
        <p:spPr>
          <a:xfrm>
            <a:off x="4114800" y="5468112"/>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Subject:  </a:t>
            </a:r>
            <a:pPr indent="0" marL="0">
              <a:buNone/>
            </a:pPr>
            <a:r>
              <a:rPr lang="en-US" sz="1150" dirty="0">
                <a:solidFill>
                  <a:srgbClr val="EAF4FB"/>
                </a:solidFill>
                <a:latin typeface="Courier New" pitchFamily="34" charset="0"/>
                <a:ea typeface="Courier New" pitchFamily="34" charset="-122"/>
                <a:cs typeface="Courier New" pitchFamily="34" charset="-120"/>
              </a:rPr>
              <a:t>Cyber Security</a:t>
            </a:r>
            <a:endParaRPr lang="en-US" sz="1150" dirty="0"/>
          </a:p>
        </p:txBody>
      </p:sp>
      <p:sp>
        <p:nvSpPr>
          <p:cNvPr id="18" name="Text 14"/>
          <p:cNvSpPr txBox="1"/>
          <p:nvPr/>
        </p:nvSpPr>
        <p:spPr>
          <a:xfrm>
            <a:off x="1005840" y="5833872"/>
            <a:ext cx="3017520" cy="274320"/>
          </a:xfrm>
          <a:prstGeom prst="rect">
            <a:avLst/>
          </a:prstGeom>
          <a:noFill/>
          <a:ln/>
        </p:spPr>
        <p:txBody>
          <a:bodyPr wrap="square" lIns="0" tIns="0" rIns="0" bIns="0" rtlCol="0" anchor="ctr"/>
          <a:lstStyle/>
          <a:p>
            <a:pPr indent="0" marL="0">
              <a:buNone/>
            </a:pPr>
            <a:r>
              <a:rPr lang="en-US" sz="1150" b="1" dirty="0">
                <a:solidFill>
                  <a:srgbClr val="22D3EE"/>
                </a:solidFill>
                <a:latin typeface="Courier New" pitchFamily="34" charset="0"/>
                <a:ea typeface="Courier New" pitchFamily="34" charset="-122"/>
                <a:cs typeface="Courier New" pitchFamily="34" charset="-120"/>
              </a:rPr>
              <a:t>Guided By:  </a:t>
            </a:r>
            <a:pPr indent="0" marL="0">
              <a:buNone/>
            </a:pPr>
            <a:r>
              <a:rPr lang="en-US" sz="1150" dirty="0">
                <a:solidFill>
                  <a:srgbClr val="EAF4FB"/>
                </a:solidFill>
                <a:latin typeface="Courier New" pitchFamily="34" charset="0"/>
                <a:ea typeface="Courier New" pitchFamily="34" charset="-122"/>
                <a:cs typeface="Courier New" pitchFamily="34" charset="-120"/>
              </a:rPr>
              <a:t>Smt. S. P. Ambavane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2</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OVERVIEW</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600" b="1" dirty="0">
                <a:solidFill>
                  <a:srgbClr val="FFFFFF"/>
                </a:solidFill>
                <a:latin typeface="Arial" pitchFamily="34" charset="0"/>
                <a:ea typeface="Arial" pitchFamily="34" charset="-122"/>
                <a:cs typeface="Arial" pitchFamily="34" charset="-120"/>
              </a:rPr>
              <a:t>What was the Tata Power attack?</a:t>
            </a:r>
            <a:endParaRPr lang="en-US" sz="3600" dirty="0"/>
          </a:p>
        </p:txBody>
      </p:sp>
      <p:sp>
        <p:nvSpPr>
          <p:cNvPr id="5" name="Text 3"/>
          <p:cNvSpPr txBox="1"/>
          <p:nvPr/>
        </p:nvSpPr>
        <p:spPr>
          <a:xfrm>
            <a:off x="685800" y="1737360"/>
            <a:ext cx="10789920" cy="640080"/>
          </a:xfrm>
          <a:prstGeom prst="rect">
            <a:avLst/>
          </a:prstGeom>
          <a:noFill/>
          <a:ln/>
        </p:spPr>
        <p:txBody>
          <a:bodyPr wrap="square" lIns="0" tIns="0" rIns="0" bIns="0" rtlCol="0" anchor="ctr"/>
          <a:lstStyle/>
          <a:p>
            <a:pPr indent="0" marL="0">
              <a:buNone/>
            </a:pPr>
            <a:r>
              <a:rPr lang="en-US" sz="1500" dirty="0">
                <a:solidFill>
                  <a:srgbClr val="EAF4FB"/>
                </a:solidFill>
                <a:latin typeface="Arial" pitchFamily="34" charset="0"/>
                <a:ea typeface="Arial" pitchFamily="34" charset="-122"/>
                <a:cs typeface="Arial" pitchFamily="34" charset="-120"/>
              </a:rPr>
              <a:t>A ransomware-as-a-service group breached Tata Power's corporate IT network, encrypted systems and stole sensitive data — but the electricity grid kept running.</a:t>
            </a:r>
            <a:endParaRPr lang="en-US" sz="1500" dirty="0"/>
          </a:p>
        </p:txBody>
      </p:sp>
      <p:sp>
        <p:nvSpPr>
          <p:cNvPr id="6" name="Shape 4"/>
          <p:cNvSpPr/>
          <p:nvPr/>
        </p:nvSpPr>
        <p:spPr>
          <a:xfrm>
            <a:off x="685800" y="2743200"/>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7" name="Text 5"/>
          <p:cNvSpPr txBox="1"/>
          <p:nvPr/>
        </p:nvSpPr>
        <p:spPr>
          <a:xfrm>
            <a:off x="941832" y="2944368"/>
            <a:ext cx="2999232" cy="320040"/>
          </a:xfrm>
          <a:prstGeom prst="rect">
            <a:avLst/>
          </a:prstGeom>
          <a:noFill/>
          <a:ln/>
        </p:spPr>
        <p:txBody>
          <a:bodyPr wrap="square" lIns="0" tIns="0" rIns="0" bIns="0" rtlCol="0" anchor="ctr"/>
          <a:lstStyle/>
          <a:p>
            <a:pPr indent="0" marL="0">
              <a:buNone/>
            </a:pPr>
            <a:r>
              <a:rPr lang="en-US" sz="1200" b="1" spc="100" kern="0" dirty="0">
                <a:solidFill>
                  <a:srgbClr val="0E7A8C"/>
                </a:solidFill>
                <a:latin typeface="Courier New" pitchFamily="34" charset="0"/>
                <a:ea typeface="Courier New" pitchFamily="34" charset="-122"/>
                <a:cs typeface="Courier New" pitchFamily="34" charset="-120"/>
              </a:rPr>
              <a:t>Target</a:t>
            </a:r>
            <a:endParaRPr lang="en-US" sz="1200" dirty="0"/>
          </a:p>
        </p:txBody>
      </p:sp>
      <p:sp>
        <p:nvSpPr>
          <p:cNvPr id="8" name="Text 6"/>
          <p:cNvSpPr txBox="1"/>
          <p:nvPr/>
        </p:nvSpPr>
        <p:spPr>
          <a:xfrm>
            <a:off x="941832" y="3310128"/>
            <a:ext cx="2999232" cy="731520"/>
          </a:xfrm>
          <a:prstGeom prst="rect">
            <a:avLst/>
          </a:prstGeom>
          <a:noFill/>
          <a:ln/>
        </p:spPr>
        <p:txBody>
          <a:bodyPr wrap="square" lIns="0" tIns="0" rIns="0" bIns="0" rtlCol="0" anchor="ctr"/>
          <a:lstStyle/>
          <a:p>
            <a:pPr indent="0" marL="0">
              <a:lnSpc>
                <a:spcPct val="100000"/>
              </a:lnSpc>
              <a:buNone/>
            </a:pPr>
            <a:r>
              <a:rPr lang="en-US" sz="1400" dirty="0">
                <a:solidFill>
                  <a:srgbClr val="0B2A45"/>
                </a:solidFill>
                <a:latin typeface="Arial" pitchFamily="34" charset="0"/>
                <a:ea typeface="Arial" pitchFamily="34" charset="-122"/>
                <a:cs typeface="Arial" pitchFamily="34" charset="-120"/>
              </a:rPr>
              <a:t>Tata Power — India's largest integrated power utility</a:t>
            </a:r>
            <a:endParaRPr lang="en-US" sz="1400" dirty="0"/>
          </a:p>
        </p:txBody>
      </p:sp>
      <p:sp>
        <p:nvSpPr>
          <p:cNvPr id="9" name="Shape 7"/>
          <p:cNvSpPr/>
          <p:nvPr/>
        </p:nvSpPr>
        <p:spPr>
          <a:xfrm>
            <a:off x="4471416" y="2743200"/>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10" name="Text 8"/>
          <p:cNvSpPr txBox="1"/>
          <p:nvPr/>
        </p:nvSpPr>
        <p:spPr>
          <a:xfrm>
            <a:off x="4727448" y="2944368"/>
            <a:ext cx="2999232" cy="320040"/>
          </a:xfrm>
          <a:prstGeom prst="rect">
            <a:avLst/>
          </a:prstGeom>
          <a:noFill/>
          <a:ln/>
        </p:spPr>
        <p:txBody>
          <a:bodyPr wrap="square" lIns="0" tIns="0" rIns="0" bIns="0" rtlCol="0" anchor="ctr"/>
          <a:lstStyle/>
          <a:p>
            <a:pPr indent="0" marL="0">
              <a:buNone/>
            </a:pPr>
            <a:r>
              <a:rPr lang="en-US" sz="1200" b="1" spc="100" kern="0" dirty="0">
                <a:solidFill>
                  <a:srgbClr val="0E7A8C"/>
                </a:solidFill>
                <a:latin typeface="Courier New" pitchFamily="34" charset="0"/>
                <a:ea typeface="Courier New" pitchFamily="34" charset="-122"/>
                <a:cs typeface="Courier New" pitchFamily="34" charset="-120"/>
              </a:rPr>
              <a:t>Attacker</a:t>
            </a:r>
            <a:endParaRPr lang="en-US" sz="1200" dirty="0"/>
          </a:p>
        </p:txBody>
      </p:sp>
      <p:sp>
        <p:nvSpPr>
          <p:cNvPr id="11" name="Text 9"/>
          <p:cNvSpPr txBox="1"/>
          <p:nvPr/>
        </p:nvSpPr>
        <p:spPr>
          <a:xfrm>
            <a:off x="4727448" y="3310128"/>
            <a:ext cx="2999232" cy="731520"/>
          </a:xfrm>
          <a:prstGeom prst="rect">
            <a:avLst/>
          </a:prstGeom>
          <a:noFill/>
          <a:ln/>
        </p:spPr>
        <p:txBody>
          <a:bodyPr wrap="square" lIns="0" tIns="0" rIns="0" bIns="0" rtlCol="0" anchor="ctr"/>
          <a:lstStyle/>
          <a:p>
            <a:pPr indent="0" marL="0">
              <a:lnSpc>
                <a:spcPct val="100000"/>
              </a:lnSpc>
              <a:buNone/>
            </a:pPr>
            <a:r>
              <a:rPr lang="en-US" sz="1400" dirty="0">
                <a:solidFill>
                  <a:srgbClr val="0B2A45"/>
                </a:solidFill>
                <a:latin typeface="Arial" pitchFamily="34" charset="0"/>
                <a:ea typeface="Arial" pitchFamily="34" charset="-122"/>
                <a:cs typeface="Arial" pitchFamily="34" charset="-120"/>
              </a:rPr>
              <a:t>Hive ransomware-as-a-service group (claimed)</a:t>
            </a:r>
            <a:endParaRPr lang="en-US" sz="1400" dirty="0"/>
          </a:p>
        </p:txBody>
      </p:sp>
      <p:sp>
        <p:nvSpPr>
          <p:cNvPr id="12" name="Shape 10"/>
          <p:cNvSpPr/>
          <p:nvPr/>
        </p:nvSpPr>
        <p:spPr>
          <a:xfrm>
            <a:off x="8257032" y="2743200"/>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13" name="Text 11"/>
          <p:cNvSpPr txBox="1"/>
          <p:nvPr/>
        </p:nvSpPr>
        <p:spPr>
          <a:xfrm>
            <a:off x="8513064" y="2944368"/>
            <a:ext cx="2999232" cy="320040"/>
          </a:xfrm>
          <a:prstGeom prst="rect">
            <a:avLst/>
          </a:prstGeom>
          <a:noFill/>
          <a:ln/>
        </p:spPr>
        <p:txBody>
          <a:bodyPr wrap="square" lIns="0" tIns="0" rIns="0" bIns="0" rtlCol="0" anchor="ctr"/>
          <a:lstStyle/>
          <a:p>
            <a:pPr indent="0" marL="0">
              <a:buNone/>
            </a:pPr>
            <a:r>
              <a:rPr lang="en-US" sz="1200" b="1" spc="100" kern="0" dirty="0">
                <a:solidFill>
                  <a:srgbClr val="0E7A8C"/>
                </a:solidFill>
                <a:latin typeface="Courier New" pitchFamily="34" charset="0"/>
                <a:ea typeface="Courier New" pitchFamily="34" charset="-122"/>
                <a:cs typeface="Courier New" pitchFamily="34" charset="-120"/>
              </a:rPr>
              <a:t>Encrypted</a:t>
            </a:r>
            <a:endParaRPr lang="en-US" sz="1200" dirty="0"/>
          </a:p>
        </p:txBody>
      </p:sp>
      <p:sp>
        <p:nvSpPr>
          <p:cNvPr id="14" name="Text 12"/>
          <p:cNvSpPr txBox="1"/>
          <p:nvPr/>
        </p:nvSpPr>
        <p:spPr>
          <a:xfrm>
            <a:off x="8513064" y="3310128"/>
            <a:ext cx="2999232" cy="731520"/>
          </a:xfrm>
          <a:prstGeom prst="rect">
            <a:avLst/>
          </a:prstGeom>
          <a:noFill/>
          <a:ln/>
        </p:spPr>
        <p:txBody>
          <a:bodyPr wrap="square" lIns="0" tIns="0" rIns="0" bIns="0" rtlCol="0" anchor="ctr"/>
          <a:lstStyle/>
          <a:p>
            <a:pPr indent="0" marL="0">
              <a:lnSpc>
                <a:spcPct val="100000"/>
              </a:lnSpc>
              <a:buNone/>
            </a:pPr>
            <a:r>
              <a:rPr lang="en-US" sz="1400" dirty="0">
                <a:solidFill>
                  <a:srgbClr val="0B2A45"/>
                </a:solidFill>
                <a:latin typeface="Arial" pitchFamily="34" charset="0"/>
                <a:ea typeface="Arial" pitchFamily="34" charset="-122"/>
                <a:cs typeface="Arial" pitchFamily="34" charset="-120"/>
              </a:rPr>
              <a:t>~3 October 2022 (per Hive's claim)</a:t>
            </a:r>
            <a:endParaRPr lang="en-US" sz="1400" dirty="0"/>
          </a:p>
        </p:txBody>
      </p:sp>
      <p:sp>
        <p:nvSpPr>
          <p:cNvPr id="15" name="Shape 13"/>
          <p:cNvSpPr/>
          <p:nvPr/>
        </p:nvSpPr>
        <p:spPr>
          <a:xfrm>
            <a:off x="685800" y="4453128"/>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16" name="Text 14"/>
          <p:cNvSpPr txBox="1"/>
          <p:nvPr/>
        </p:nvSpPr>
        <p:spPr>
          <a:xfrm>
            <a:off x="941832" y="4654296"/>
            <a:ext cx="2999232" cy="320040"/>
          </a:xfrm>
          <a:prstGeom prst="rect">
            <a:avLst/>
          </a:prstGeom>
          <a:noFill/>
          <a:ln/>
        </p:spPr>
        <p:txBody>
          <a:bodyPr wrap="square" lIns="0" tIns="0" rIns="0" bIns="0" rtlCol="0" anchor="ctr"/>
          <a:lstStyle/>
          <a:p>
            <a:pPr indent="0" marL="0">
              <a:buNone/>
            </a:pPr>
            <a:r>
              <a:rPr lang="en-US" sz="1200" b="1" spc="100" kern="0" dirty="0">
                <a:solidFill>
                  <a:srgbClr val="0E7A8C"/>
                </a:solidFill>
                <a:latin typeface="Courier New" pitchFamily="34" charset="0"/>
                <a:ea typeface="Courier New" pitchFamily="34" charset="-122"/>
                <a:cs typeface="Courier New" pitchFamily="34" charset="-120"/>
              </a:rPr>
              <a:t>Disclosed</a:t>
            </a:r>
            <a:endParaRPr lang="en-US" sz="1200" dirty="0"/>
          </a:p>
        </p:txBody>
      </p:sp>
      <p:sp>
        <p:nvSpPr>
          <p:cNvPr id="17" name="Text 15"/>
          <p:cNvSpPr txBox="1"/>
          <p:nvPr/>
        </p:nvSpPr>
        <p:spPr>
          <a:xfrm>
            <a:off x="941832" y="5020056"/>
            <a:ext cx="2999232" cy="731520"/>
          </a:xfrm>
          <a:prstGeom prst="rect">
            <a:avLst/>
          </a:prstGeom>
          <a:noFill/>
          <a:ln/>
        </p:spPr>
        <p:txBody>
          <a:bodyPr wrap="square" lIns="0" tIns="0" rIns="0" bIns="0" rtlCol="0" anchor="ctr"/>
          <a:lstStyle/>
          <a:p>
            <a:pPr indent="0" marL="0">
              <a:lnSpc>
                <a:spcPct val="100000"/>
              </a:lnSpc>
              <a:buNone/>
            </a:pPr>
            <a:r>
              <a:rPr lang="en-US" sz="1400" dirty="0">
                <a:solidFill>
                  <a:srgbClr val="0B2A45"/>
                </a:solidFill>
                <a:latin typeface="Arial" pitchFamily="34" charset="0"/>
                <a:ea typeface="Arial" pitchFamily="34" charset="-122"/>
                <a:cs typeface="Arial" pitchFamily="34" charset="-120"/>
              </a:rPr>
              <a:t>14 October 2022, to the BSE and NSE</a:t>
            </a:r>
            <a:endParaRPr lang="en-US" sz="1400" dirty="0"/>
          </a:p>
        </p:txBody>
      </p:sp>
      <p:sp>
        <p:nvSpPr>
          <p:cNvPr id="18" name="Shape 16"/>
          <p:cNvSpPr/>
          <p:nvPr/>
        </p:nvSpPr>
        <p:spPr>
          <a:xfrm>
            <a:off x="4471416" y="4453128"/>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19" name="Text 17"/>
          <p:cNvSpPr txBox="1"/>
          <p:nvPr/>
        </p:nvSpPr>
        <p:spPr>
          <a:xfrm>
            <a:off x="4727448" y="4654296"/>
            <a:ext cx="2999232" cy="320040"/>
          </a:xfrm>
          <a:prstGeom prst="rect">
            <a:avLst/>
          </a:prstGeom>
          <a:noFill/>
          <a:ln/>
        </p:spPr>
        <p:txBody>
          <a:bodyPr wrap="square" lIns="0" tIns="0" rIns="0" bIns="0" rtlCol="0" anchor="ctr"/>
          <a:lstStyle/>
          <a:p>
            <a:pPr indent="0" marL="0">
              <a:buNone/>
            </a:pPr>
            <a:r>
              <a:rPr lang="en-US" sz="1200" b="1" spc="100" kern="0" dirty="0">
                <a:solidFill>
                  <a:srgbClr val="0E7A8C"/>
                </a:solidFill>
                <a:latin typeface="Courier New" pitchFamily="34" charset="0"/>
                <a:ea typeface="Courier New" pitchFamily="34" charset="-122"/>
                <a:cs typeface="Courier New" pitchFamily="34" charset="-120"/>
              </a:rPr>
              <a:t>Method</a:t>
            </a:r>
            <a:endParaRPr lang="en-US" sz="1200" dirty="0"/>
          </a:p>
        </p:txBody>
      </p:sp>
      <p:sp>
        <p:nvSpPr>
          <p:cNvPr id="20" name="Text 18"/>
          <p:cNvSpPr txBox="1"/>
          <p:nvPr/>
        </p:nvSpPr>
        <p:spPr>
          <a:xfrm>
            <a:off x="4727448" y="5020056"/>
            <a:ext cx="2999232" cy="731520"/>
          </a:xfrm>
          <a:prstGeom prst="rect">
            <a:avLst/>
          </a:prstGeom>
          <a:noFill/>
          <a:ln/>
        </p:spPr>
        <p:txBody>
          <a:bodyPr wrap="square" lIns="0" tIns="0" rIns="0" bIns="0" rtlCol="0" anchor="ctr"/>
          <a:lstStyle/>
          <a:p>
            <a:pPr indent="0" marL="0">
              <a:lnSpc>
                <a:spcPct val="100000"/>
              </a:lnSpc>
              <a:buNone/>
            </a:pPr>
            <a:r>
              <a:rPr lang="en-US" sz="1400" dirty="0">
                <a:solidFill>
                  <a:srgbClr val="0B2A45"/>
                </a:solidFill>
                <a:latin typeface="Arial" pitchFamily="34" charset="0"/>
                <a:ea typeface="Arial" pitchFamily="34" charset="-122"/>
                <a:cs typeface="Arial" pitchFamily="34" charset="-120"/>
              </a:rPr>
              <a:t>IT breach + double extortion (encrypt + leak)</a:t>
            </a:r>
            <a:endParaRPr lang="en-US" sz="1400" dirty="0"/>
          </a:p>
        </p:txBody>
      </p:sp>
      <p:sp>
        <p:nvSpPr>
          <p:cNvPr id="21" name="Shape 19"/>
          <p:cNvSpPr/>
          <p:nvPr/>
        </p:nvSpPr>
        <p:spPr>
          <a:xfrm>
            <a:off x="8257032" y="4453128"/>
            <a:ext cx="3456432" cy="1417320"/>
          </a:xfrm>
          <a:prstGeom prst="roundRect">
            <a:avLst>
              <a:gd name="adj" fmla="val 6452"/>
            </a:avLst>
          </a:prstGeom>
          <a:solidFill>
            <a:srgbClr val="EAF4FB"/>
          </a:solidFill>
          <a:ln/>
          <a:effectLst>
            <a:outerShdw sx="100000" sy="100000" kx="0" ky="0" algn="bl" rotWithShape="0" blurRad="127000" dist="38100" dir="5400000">
              <a:srgbClr val="000000">
                <a:alpha val="35000"/>
              </a:srgbClr>
            </a:outerShdw>
          </a:effectLst>
        </p:spPr>
      </p:sp>
      <p:sp>
        <p:nvSpPr>
          <p:cNvPr id="22" name="Text 20"/>
          <p:cNvSpPr txBox="1"/>
          <p:nvPr/>
        </p:nvSpPr>
        <p:spPr>
          <a:xfrm>
            <a:off x="8513064" y="4654296"/>
            <a:ext cx="2999232" cy="320040"/>
          </a:xfrm>
          <a:prstGeom prst="rect">
            <a:avLst/>
          </a:prstGeom>
          <a:noFill/>
          <a:ln/>
        </p:spPr>
        <p:txBody>
          <a:bodyPr wrap="square" lIns="0" tIns="0" rIns="0" bIns="0" rtlCol="0" anchor="ctr"/>
          <a:lstStyle/>
          <a:p>
            <a:pPr indent="0" marL="0">
              <a:buNone/>
            </a:pPr>
            <a:r>
              <a:rPr lang="en-US" sz="1200" b="1" spc="100" kern="0" dirty="0">
                <a:solidFill>
                  <a:srgbClr val="0E7A8C"/>
                </a:solidFill>
                <a:latin typeface="Courier New" pitchFamily="34" charset="0"/>
                <a:ea typeface="Courier New" pitchFamily="34" charset="-122"/>
                <a:cs typeface="Courier New" pitchFamily="34" charset="-120"/>
              </a:rPr>
              <a:t>Key outcome</a:t>
            </a:r>
            <a:endParaRPr lang="en-US" sz="1200" dirty="0"/>
          </a:p>
        </p:txBody>
      </p:sp>
      <p:sp>
        <p:nvSpPr>
          <p:cNvPr id="23" name="Text 21"/>
          <p:cNvSpPr txBox="1"/>
          <p:nvPr/>
        </p:nvSpPr>
        <p:spPr>
          <a:xfrm>
            <a:off x="8513064" y="5020056"/>
            <a:ext cx="2999232" cy="731520"/>
          </a:xfrm>
          <a:prstGeom prst="rect">
            <a:avLst/>
          </a:prstGeom>
          <a:noFill/>
          <a:ln/>
        </p:spPr>
        <p:txBody>
          <a:bodyPr wrap="square" lIns="0" tIns="0" rIns="0" bIns="0" rtlCol="0" anchor="ctr"/>
          <a:lstStyle/>
          <a:p>
            <a:pPr indent="0" marL="0">
              <a:lnSpc>
                <a:spcPct val="100000"/>
              </a:lnSpc>
              <a:buNone/>
            </a:pPr>
            <a:r>
              <a:rPr lang="en-US" sz="1400" dirty="0">
                <a:solidFill>
                  <a:srgbClr val="0B2A45"/>
                </a:solidFill>
                <a:latin typeface="Arial" pitchFamily="34" charset="0"/>
                <a:ea typeface="Arial" pitchFamily="34" charset="-122"/>
                <a:cs typeface="Arial" pitchFamily="34" charset="-120"/>
              </a:rPr>
              <a:t>IT hit; power supply never interrupted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3</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THE ENVIRONMENT</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600" b="1" dirty="0">
                <a:solidFill>
                  <a:srgbClr val="FFFFFF"/>
                </a:solidFill>
                <a:latin typeface="Arial" pitchFamily="34" charset="0"/>
                <a:ea typeface="Arial" pitchFamily="34" charset="-122"/>
                <a:cs typeface="Arial" pitchFamily="34" charset="-120"/>
              </a:rPr>
              <a:t>India's power sector under threat</a:t>
            </a:r>
            <a:endParaRPr lang="en-US" sz="3600" dirty="0"/>
          </a:p>
        </p:txBody>
      </p:sp>
      <p:sp>
        <p:nvSpPr>
          <p:cNvPr id="5" name="Text 3"/>
          <p:cNvSpPr txBox="1"/>
          <p:nvPr/>
        </p:nvSpPr>
        <p:spPr>
          <a:xfrm>
            <a:off x="685800" y="1737360"/>
            <a:ext cx="10789920" cy="548640"/>
          </a:xfrm>
          <a:prstGeom prst="rect">
            <a:avLst/>
          </a:prstGeom>
          <a:noFill/>
          <a:ln/>
        </p:spPr>
        <p:txBody>
          <a:bodyPr wrap="square" lIns="0" tIns="0" rIns="0" bIns="0" rtlCol="0" anchor="ctr"/>
          <a:lstStyle/>
          <a:p>
            <a:pPr indent="0" marL="0">
              <a:buNone/>
            </a:pPr>
            <a:r>
              <a:rPr lang="en-US" sz="1450" dirty="0">
                <a:solidFill>
                  <a:srgbClr val="EAF4FB"/>
                </a:solidFill>
                <a:latin typeface="Arial" pitchFamily="34" charset="0"/>
                <a:ea typeface="Arial" pitchFamily="34" charset="-122"/>
                <a:cs typeface="Arial" pitchFamily="34" charset="-120"/>
              </a:rPr>
              <a:t>The attack did not happen in a vacuum. Between 2020 and 2022, India's power sector was repeatedly targeted as it digitised rapidly and ransomware matured into a professional industry.</a:t>
            </a:r>
            <a:endParaRPr lang="en-US" sz="1450" dirty="0"/>
          </a:p>
        </p:txBody>
      </p:sp>
      <p:sp>
        <p:nvSpPr>
          <p:cNvPr id="6" name="Shape 4"/>
          <p:cNvSpPr/>
          <p:nvPr/>
        </p:nvSpPr>
        <p:spPr>
          <a:xfrm>
            <a:off x="685800" y="2788920"/>
            <a:ext cx="2615184" cy="2834640"/>
          </a:xfrm>
          <a:prstGeom prst="roundRect">
            <a:avLst>
              <a:gd name="adj" fmla="val 3497"/>
            </a:avLst>
          </a:prstGeom>
          <a:solidFill>
            <a:srgbClr val="0B2A45"/>
          </a:solidFill>
          <a:ln/>
          <a:effectLst>
            <a:outerShdw sx="100000" sy="100000" kx="0" ky="0" algn="bl" rotWithShape="0" blurRad="127000" dist="38100" dir="5400000">
              <a:srgbClr val="000000">
                <a:alpha val="35000"/>
              </a:srgbClr>
            </a:outerShdw>
          </a:effectLst>
        </p:spPr>
      </p:sp>
      <p:sp>
        <p:nvSpPr>
          <p:cNvPr id="7" name="Shape 5"/>
          <p:cNvSpPr/>
          <p:nvPr/>
        </p:nvSpPr>
        <p:spPr>
          <a:xfrm>
            <a:off x="960120" y="3081528"/>
            <a:ext cx="822960" cy="54864"/>
          </a:xfrm>
          <a:prstGeom prst="rect">
            <a:avLst/>
          </a:prstGeom>
          <a:solidFill>
            <a:srgbClr val="22D3EE"/>
          </a:solidFill>
          <a:ln/>
        </p:spPr>
      </p:sp>
      <p:sp>
        <p:nvSpPr>
          <p:cNvPr id="8" name="Text 6"/>
          <p:cNvSpPr txBox="1"/>
          <p:nvPr/>
        </p:nvSpPr>
        <p:spPr>
          <a:xfrm>
            <a:off x="960120" y="3246120"/>
            <a:ext cx="2066544" cy="457200"/>
          </a:xfrm>
          <a:prstGeom prst="rect">
            <a:avLst/>
          </a:prstGeom>
          <a:noFill/>
          <a:ln/>
        </p:spPr>
        <p:txBody>
          <a:bodyPr wrap="square" lIns="0" tIns="0" rIns="0" bIns="0" rtlCol="0" anchor="ctr"/>
          <a:lstStyle/>
          <a:p>
            <a:pPr indent="0" marL="0">
              <a:buNone/>
            </a:pPr>
            <a:r>
              <a:rPr lang="en-US" sz="1500" b="1" dirty="0">
                <a:solidFill>
                  <a:srgbClr val="22D3EE"/>
                </a:solidFill>
                <a:latin typeface="Courier New" pitchFamily="34" charset="0"/>
                <a:ea typeface="Courier New" pitchFamily="34" charset="-122"/>
                <a:cs typeface="Courier New" pitchFamily="34" charset="-120"/>
              </a:rPr>
              <a:t>Oct 2020</a:t>
            </a:r>
            <a:endParaRPr lang="en-US" sz="1500" dirty="0"/>
          </a:p>
        </p:txBody>
      </p:sp>
      <p:sp>
        <p:nvSpPr>
          <p:cNvPr id="9" name="Text 7"/>
          <p:cNvSpPr txBox="1"/>
          <p:nvPr/>
        </p:nvSpPr>
        <p:spPr>
          <a:xfrm>
            <a:off x="960120" y="3794760"/>
            <a:ext cx="2112264" cy="1645920"/>
          </a:xfrm>
          <a:prstGeom prst="rect">
            <a:avLst/>
          </a:prstGeom>
          <a:noFill/>
          <a:ln/>
        </p:spPr>
        <p:txBody>
          <a:bodyPr wrap="square" lIns="0" tIns="0" rIns="0" bIns="0" rtlCol="0" anchor="ctr"/>
          <a:lstStyle/>
          <a:p>
            <a:pPr indent="0" marL="0">
              <a:lnSpc>
                <a:spcPct val="108000"/>
              </a:lnSpc>
              <a:buNone/>
            </a:pPr>
            <a:r>
              <a:rPr lang="en-US" sz="1250" dirty="0">
                <a:solidFill>
                  <a:srgbClr val="EAF4FB"/>
                </a:solidFill>
                <a:latin typeface="Arial" pitchFamily="34" charset="0"/>
                <a:ea typeface="Arial" pitchFamily="34" charset="-122"/>
                <a:cs typeface="Arial" pitchFamily="34" charset="-120"/>
              </a:rPr>
              <a:t>A grid failure blacks out Mumbai for hours; cyber sabotage is suspected (official cause: human error).</a:t>
            </a:r>
            <a:endParaRPr lang="en-US" sz="1250" dirty="0"/>
          </a:p>
        </p:txBody>
      </p:sp>
      <p:sp>
        <p:nvSpPr>
          <p:cNvPr id="10" name="Text 8"/>
          <p:cNvSpPr txBox="1"/>
          <p:nvPr/>
        </p:nvSpPr>
        <p:spPr>
          <a:xfrm>
            <a:off x="3282696" y="3977640"/>
            <a:ext cx="246888" cy="365760"/>
          </a:xfrm>
          <a:prstGeom prst="rect">
            <a:avLst/>
          </a:prstGeom>
          <a:noFill/>
          <a:ln/>
        </p:spPr>
        <p:txBody>
          <a:bodyPr wrap="square" lIns="0" tIns="0" rIns="0" bIns="0" rtlCol="0" anchor="ctr"/>
          <a:lstStyle/>
          <a:p>
            <a:pPr algn="ctr" indent="0" marL="0">
              <a:buNone/>
            </a:pPr>
            <a:r>
              <a:rPr lang="en-US" sz="1800" b="1" dirty="0">
                <a:solidFill>
                  <a:srgbClr val="22D3EE"/>
                </a:solidFill>
                <a:latin typeface="Arial" pitchFamily="34" charset="0"/>
                <a:ea typeface="Arial" pitchFamily="34" charset="-122"/>
                <a:cs typeface="Arial" pitchFamily="34" charset="-120"/>
              </a:rPr>
              <a:t>→</a:t>
            </a:r>
            <a:endParaRPr lang="en-US" sz="1800" dirty="0"/>
          </a:p>
        </p:txBody>
      </p:sp>
      <p:sp>
        <p:nvSpPr>
          <p:cNvPr id="11" name="Shape 9"/>
          <p:cNvSpPr/>
          <p:nvPr/>
        </p:nvSpPr>
        <p:spPr>
          <a:xfrm>
            <a:off x="3502152" y="2788920"/>
            <a:ext cx="2615184" cy="2834640"/>
          </a:xfrm>
          <a:prstGeom prst="roundRect">
            <a:avLst>
              <a:gd name="adj" fmla="val 3497"/>
            </a:avLst>
          </a:prstGeom>
          <a:solidFill>
            <a:srgbClr val="0B2A45"/>
          </a:solidFill>
          <a:ln/>
          <a:effectLst>
            <a:outerShdw sx="100000" sy="100000" kx="0" ky="0" algn="bl" rotWithShape="0" blurRad="127000" dist="38100" dir="5400000">
              <a:srgbClr val="000000">
                <a:alpha val="35000"/>
              </a:srgbClr>
            </a:outerShdw>
          </a:effectLst>
        </p:spPr>
      </p:sp>
      <p:sp>
        <p:nvSpPr>
          <p:cNvPr id="12" name="Shape 10"/>
          <p:cNvSpPr/>
          <p:nvPr/>
        </p:nvSpPr>
        <p:spPr>
          <a:xfrm>
            <a:off x="3776472" y="3081528"/>
            <a:ext cx="822960" cy="54864"/>
          </a:xfrm>
          <a:prstGeom prst="rect">
            <a:avLst/>
          </a:prstGeom>
          <a:solidFill>
            <a:srgbClr val="22D3EE"/>
          </a:solidFill>
          <a:ln/>
        </p:spPr>
      </p:sp>
      <p:sp>
        <p:nvSpPr>
          <p:cNvPr id="13" name="Text 11"/>
          <p:cNvSpPr txBox="1"/>
          <p:nvPr/>
        </p:nvSpPr>
        <p:spPr>
          <a:xfrm>
            <a:off x="3776472" y="3246120"/>
            <a:ext cx="2066544" cy="457200"/>
          </a:xfrm>
          <a:prstGeom prst="rect">
            <a:avLst/>
          </a:prstGeom>
          <a:noFill/>
          <a:ln/>
        </p:spPr>
        <p:txBody>
          <a:bodyPr wrap="square" lIns="0" tIns="0" rIns="0" bIns="0" rtlCol="0" anchor="ctr"/>
          <a:lstStyle/>
          <a:p>
            <a:pPr indent="0" marL="0">
              <a:buNone/>
            </a:pPr>
            <a:r>
              <a:rPr lang="en-US" sz="1500" b="1" dirty="0">
                <a:solidFill>
                  <a:srgbClr val="22D3EE"/>
                </a:solidFill>
                <a:latin typeface="Courier New" pitchFamily="34" charset="0"/>
                <a:ea typeface="Courier New" pitchFamily="34" charset="-122"/>
                <a:cs typeface="Courier New" pitchFamily="34" charset="-120"/>
              </a:rPr>
              <a:t>2021–Apr 2022</a:t>
            </a:r>
            <a:endParaRPr lang="en-US" sz="1500" dirty="0"/>
          </a:p>
        </p:txBody>
      </p:sp>
      <p:sp>
        <p:nvSpPr>
          <p:cNvPr id="14" name="Text 12"/>
          <p:cNvSpPr txBox="1"/>
          <p:nvPr/>
        </p:nvSpPr>
        <p:spPr>
          <a:xfrm>
            <a:off x="3776472" y="3794760"/>
            <a:ext cx="2112264" cy="1645920"/>
          </a:xfrm>
          <a:prstGeom prst="rect">
            <a:avLst/>
          </a:prstGeom>
          <a:noFill/>
          <a:ln/>
        </p:spPr>
        <p:txBody>
          <a:bodyPr wrap="square" lIns="0" tIns="0" rIns="0" bIns="0" rtlCol="0" anchor="ctr"/>
          <a:lstStyle/>
          <a:p>
            <a:pPr indent="0" marL="0">
              <a:lnSpc>
                <a:spcPct val="108000"/>
              </a:lnSpc>
              <a:buNone/>
            </a:pPr>
            <a:r>
              <a:rPr lang="en-US" sz="1250" dirty="0">
                <a:solidFill>
                  <a:srgbClr val="EAF4FB"/>
                </a:solidFill>
                <a:latin typeface="Arial" pitchFamily="34" charset="0"/>
                <a:ea typeface="Arial" pitchFamily="34" charset="-122"/>
                <a:cs typeface="Arial" pitchFamily="34" charset="-120"/>
              </a:rPr>
              <a:t>RedEcho / TAG-38 intrusions hit Indian load-despatch centres; CEA and CERT-In issue new rules.</a:t>
            </a:r>
            <a:endParaRPr lang="en-US" sz="1250" dirty="0"/>
          </a:p>
        </p:txBody>
      </p:sp>
      <p:sp>
        <p:nvSpPr>
          <p:cNvPr id="15" name="Text 13"/>
          <p:cNvSpPr txBox="1"/>
          <p:nvPr/>
        </p:nvSpPr>
        <p:spPr>
          <a:xfrm>
            <a:off x="6099048" y="3977640"/>
            <a:ext cx="246888" cy="365760"/>
          </a:xfrm>
          <a:prstGeom prst="rect">
            <a:avLst/>
          </a:prstGeom>
          <a:noFill/>
          <a:ln/>
        </p:spPr>
        <p:txBody>
          <a:bodyPr wrap="square" lIns="0" tIns="0" rIns="0" bIns="0" rtlCol="0" anchor="ctr"/>
          <a:lstStyle/>
          <a:p>
            <a:pPr algn="ctr" indent="0" marL="0">
              <a:buNone/>
            </a:pPr>
            <a:r>
              <a:rPr lang="en-US" sz="1800" b="1" dirty="0">
                <a:solidFill>
                  <a:srgbClr val="22D3EE"/>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6318504" y="2788920"/>
            <a:ext cx="2615184" cy="2834640"/>
          </a:xfrm>
          <a:prstGeom prst="roundRect">
            <a:avLst>
              <a:gd name="adj" fmla="val 3497"/>
            </a:avLst>
          </a:prstGeom>
          <a:solidFill>
            <a:srgbClr val="0B2A45"/>
          </a:solidFill>
          <a:ln/>
          <a:effectLst>
            <a:outerShdw sx="100000" sy="100000" kx="0" ky="0" algn="bl" rotWithShape="0" blurRad="127000" dist="38100" dir="5400000">
              <a:srgbClr val="000000">
                <a:alpha val="35000"/>
              </a:srgbClr>
            </a:outerShdw>
          </a:effectLst>
        </p:spPr>
      </p:sp>
      <p:sp>
        <p:nvSpPr>
          <p:cNvPr id="17" name="Shape 15"/>
          <p:cNvSpPr/>
          <p:nvPr/>
        </p:nvSpPr>
        <p:spPr>
          <a:xfrm>
            <a:off x="6592824" y="3081528"/>
            <a:ext cx="822960" cy="54864"/>
          </a:xfrm>
          <a:prstGeom prst="rect">
            <a:avLst/>
          </a:prstGeom>
          <a:solidFill>
            <a:srgbClr val="22D3EE"/>
          </a:solidFill>
          <a:ln/>
        </p:spPr>
      </p:sp>
      <p:sp>
        <p:nvSpPr>
          <p:cNvPr id="18" name="Text 16"/>
          <p:cNvSpPr txBox="1"/>
          <p:nvPr/>
        </p:nvSpPr>
        <p:spPr>
          <a:xfrm>
            <a:off x="6592824" y="3246120"/>
            <a:ext cx="2066544" cy="457200"/>
          </a:xfrm>
          <a:prstGeom prst="rect">
            <a:avLst/>
          </a:prstGeom>
          <a:noFill/>
          <a:ln/>
        </p:spPr>
        <p:txBody>
          <a:bodyPr wrap="square" lIns="0" tIns="0" rIns="0" bIns="0" rtlCol="0" anchor="ctr"/>
          <a:lstStyle/>
          <a:p>
            <a:pPr indent="0" marL="0">
              <a:buNone/>
            </a:pPr>
            <a:r>
              <a:rPr lang="en-US" sz="1500" b="1" dirty="0">
                <a:solidFill>
                  <a:srgbClr val="22D3EE"/>
                </a:solidFill>
                <a:latin typeface="Courier New" pitchFamily="34" charset="0"/>
                <a:ea typeface="Courier New" pitchFamily="34" charset="-122"/>
                <a:cs typeface="Courier New" pitchFamily="34" charset="-120"/>
              </a:rPr>
              <a:t>Q3 2022</a:t>
            </a:r>
            <a:endParaRPr lang="en-US" sz="1500" dirty="0"/>
          </a:p>
        </p:txBody>
      </p:sp>
      <p:sp>
        <p:nvSpPr>
          <p:cNvPr id="19" name="Text 17"/>
          <p:cNvSpPr txBox="1"/>
          <p:nvPr/>
        </p:nvSpPr>
        <p:spPr>
          <a:xfrm>
            <a:off x="6592824" y="3794760"/>
            <a:ext cx="2112264" cy="1645920"/>
          </a:xfrm>
          <a:prstGeom prst="rect">
            <a:avLst/>
          </a:prstGeom>
          <a:noFill/>
          <a:ln/>
        </p:spPr>
        <p:txBody>
          <a:bodyPr wrap="square" lIns="0" tIns="0" rIns="0" bIns="0" rtlCol="0" anchor="ctr"/>
          <a:lstStyle/>
          <a:p>
            <a:pPr indent="0" marL="0">
              <a:lnSpc>
                <a:spcPct val="108000"/>
              </a:lnSpc>
              <a:buNone/>
            </a:pPr>
            <a:r>
              <a:rPr lang="en-US" sz="1250" dirty="0">
                <a:solidFill>
                  <a:srgbClr val="EAF4FB"/>
                </a:solidFill>
                <a:latin typeface="Arial" pitchFamily="34" charset="0"/>
                <a:ea typeface="Arial" pitchFamily="34" charset="-122"/>
                <a:cs typeface="Arial" pitchFamily="34" charset="-120"/>
              </a:rPr>
              <a:t>Hive ranks among the three most prevalent ransomware families worldwide.</a:t>
            </a:r>
            <a:endParaRPr lang="en-US" sz="1250" dirty="0"/>
          </a:p>
        </p:txBody>
      </p:sp>
      <p:sp>
        <p:nvSpPr>
          <p:cNvPr id="20" name="Text 18"/>
          <p:cNvSpPr txBox="1"/>
          <p:nvPr/>
        </p:nvSpPr>
        <p:spPr>
          <a:xfrm>
            <a:off x="8915400" y="3977640"/>
            <a:ext cx="246888" cy="365760"/>
          </a:xfrm>
          <a:prstGeom prst="rect">
            <a:avLst/>
          </a:prstGeom>
          <a:noFill/>
          <a:ln/>
        </p:spPr>
        <p:txBody>
          <a:bodyPr wrap="square" lIns="0" tIns="0" rIns="0" bIns="0" rtlCol="0" anchor="ctr"/>
          <a:lstStyle/>
          <a:p>
            <a:pPr algn="ctr" indent="0" marL="0">
              <a:buNone/>
            </a:pPr>
            <a:r>
              <a:rPr lang="en-US" sz="1800" b="1" dirty="0">
                <a:solidFill>
                  <a:srgbClr val="22D3EE"/>
                </a:solidFill>
                <a:latin typeface="Arial" pitchFamily="34" charset="0"/>
                <a:ea typeface="Arial" pitchFamily="34" charset="-122"/>
                <a:cs typeface="Arial" pitchFamily="34" charset="-120"/>
              </a:rPr>
              <a:t>→</a:t>
            </a:r>
            <a:endParaRPr lang="en-US" sz="1800" dirty="0"/>
          </a:p>
        </p:txBody>
      </p:sp>
      <p:sp>
        <p:nvSpPr>
          <p:cNvPr id="21" name="Shape 19"/>
          <p:cNvSpPr/>
          <p:nvPr/>
        </p:nvSpPr>
        <p:spPr>
          <a:xfrm>
            <a:off x="9134856" y="2788920"/>
            <a:ext cx="2615184" cy="2834640"/>
          </a:xfrm>
          <a:prstGeom prst="roundRect">
            <a:avLst>
              <a:gd name="adj" fmla="val 3497"/>
            </a:avLst>
          </a:prstGeom>
          <a:solidFill>
            <a:srgbClr val="0B2A45"/>
          </a:solidFill>
          <a:ln/>
          <a:effectLst>
            <a:outerShdw sx="100000" sy="100000" kx="0" ky="0" algn="bl" rotWithShape="0" blurRad="127000" dist="38100" dir="5400000">
              <a:srgbClr val="000000">
                <a:alpha val="35000"/>
              </a:srgbClr>
            </a:outerShdw>
          </a:effectLst>
        </p:spPr>
      </p:sp>
      <p:sp>
        <p:nvSpPr>
          <p:cNvPr id="22" name="Shape 20"/>
          <p:cNvSpPr/>
          <p:nvPr/>
        </p:nvSpPr>
        <p:spPr>
          <a:xfrm>
            <a:off x="9409176" y="3081528"/>
            <a:ext cx="822960" cy="54864"/>
          </a:xfrm>
          <a:prstGeom prst="rect">
            <a:avLst/>
          </a:prstGeom>
          <a:solidFill>
            <a:srgbClr val="22D3EE"/>
          </a:solidFill>
          <a:ln/>
        </p:spPr>
      </p:sp>
      <p:sp>
        <p:nvSpPr>
          <p:cNvPr id="23" name="Text 21"/>
          <p:cNvSpPr txBox="1"/>
          <p:nvPr/>
        </p:nvSpPr>
        <p:spPr>
          <a:xfrm>
            <a:off x="9409176" y="3246120"/>
            <a:ext cx="2066544" cy="457200"/>
          </a:xfrm>
          <a:prstGeom prst="rect">
            <a:avLst/>
          </a:prstGeom>
          <a:noFill/>
          <a:ln/>
        </p:spPr>
        <p:txBody>
          <a:bodyPr wrap="square" lIns="0" tIns="0" rIns="0" bIns="0" rtlCol="0" anchor="ctr"/>
          <a:lstStyle/>
          <a:p>
            <a:pPr indent="0" marL="0">
              <a:buNone/>
            </a:pPr>
            <a:r>
              <a:rPr lang="en-US" sz="1500" b="1" dirty="0">
                <a:solidFill>
                  <a:srgbClr val="22D3EE"/>
                </a:solidFill>
                <a:latin typeface="Courier New" pitchFamily="34" charset="0"/>
                <a:ea typeface="Courier New" pitchFamily="34" charset="-122"/>
                <a:cs typeface="Courier New" pitchFamily="34" charset="-120"/>
              </a:rPr>
              <a:t>3 Oct 2022</a:t>
            </a:r>
            <a:endParaRPr lang="en-US" sz="1500" dirty="0"/>
          </a:p>
        </p:txBody>
      </p:sp>
      <p:sp>
        <p:nvSpPr>
          <p:cNvPr id="24" name="Text 22"/>
          <p:cNvSpPr txBox="1"/>
          <p:nvPr/>
        </p:nvSpPr>
        <p:spPr>
          <a:xfrm>
            <a:off x="9409176" y="3794760"/>
            <a:ext cx="2112264" cy="1645920"/>
          </a:xfrm>
          <a:prstGeom prst="rect">
            <a:avLst/>
          </a:prstGeom>
          <a:noFill/>
          <a:ln/>
        </p:spPr>
        <p:txBody>
          <a:bodyPr wrap="square" lIns="0" tIns="0" rIns="0" bIns="0" rtlCol="0" anchor="ctr"/>
          <a:lstStyle/>
          <a:p>
            <a:pPr indent="0" marL="0">
              <a:lnSpc>
                <a:spcPct val="108000"/>
              </a:lnSpc>
              <a:buNone/>
            </a:pPr>
            <a:r>
              <a:rPr lang="en-US" sz="1250" dirty="0">
                <a:solidFill>
                  <a:srgbClr val="EAF4FB"/>
                </a:solidFill>
                <a:latin typeface="Arial" pitchFamily="34" charset="0"/>
                <a:ea typeface="Arial" pitchFamily="34" charset="-122"/>
                <a:cs typeface="Arial" pitchFamily="34" charset="-120"/>
              </a:rPr>
              <a:t>Hive later claims it encrypted Tata Power's IT systems.</a:t>
            </a:r>
            <a:endParaRPr lang="en-US" sz="1250" dirty="0"/>
          </a:p>
        </p:txBody>
      </p:sp>
      <p:sp>
        <p:nvSpPr>
          <p:cNvPr id="25" name="Text 23"/>
          <p:cNvSpPr txBox="1"/>
          <p:nvPr/>
        </p:nvSpPr>
        <p:spPr>
          <a:xfrm>
            <a:off x="685800" y="5943600"/>
            <a:ext cx="10789920" cy="274320"/>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Sources: Recorded Future / Insikt Group (2021, 2022); The Hacker News (Oct 2022).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4</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NETWORK THEORY</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600" b="1" dirty="0">
                <a:solidFill>
                  <a:srgbClr val="FFFFFF"/>
                </a:solidFill>
                <a:latin typeface="Arial" pitchFamily="34" charset="0"/>
                <a:ea typeface="Arial" pitchFamily="34" charset="-122"/>
                <a:cs typeface="Arial" pitchFamily="34" charset="-120"/>
              </a:rPr>
              <a:t>Two networks: IT vs OT</a:t>
            </a:r>
            <a:endParaRPr lang="en-US" sz="3600" dirty="0"/>
          </a:p>
        </p:txBody>
      </p:sp>
      <p:sp>
        <p:nvSpPr>
          <p:cNvPr id="5" name="Text 3"/>
          <p:cNvSpPr txBox="1"/>
          <p:nvPr/>
        </p:nvSpPr>
        <p:spPr>
          <a:xfrm>
            <a:off x="685800" y="1737360"/>
            <a:ext cx="10789920" cy="548640"/>
          </a:xfrm>
          <a:prstGeom prst="rect">
            <a:avLst/>
          </a:prstGeom>
          <a:noFill/>
          <a:ln/>
        </p:spPr>
        <p:txBody>
          <a:bodyPr wrap="square" lIns="0" tIns="0" rIns="0" bIns="0" rtlCol="0" anchor="ctr"/>
          <a:lstStyle/>
          <a:p>
            <a:pPr indent="0" marL="0">
              <a:buNone/>
            </a:pPr>
            <a:r>
              <a:rPr lang="en-US" sz="1450" dirty="0">
                <a:solidFill>
                  <a:srgbClr val="EAF4FB"/>
                </a:solidFill>
                <a:latin typeface="Arial" pitchFamily="34" charset="0"/>
                <a:ea typeface="Arial" pitchFamily="34" charset="-122"/>
                <a:cs typeface="Arial" pitchFamily="34" charset="-120"/>
              </a:rPr>
              <a:t>A power utility runs two very different networks. The attack reached corporate IT — but, by the company's account, not the operational technology that runs the grid.</a:t>
            </a:r>
            <a:endParaRPr lang="en-US" sz="1450" dirty="0"/>
          </a:p>
        </p:txBody>
      </p:sp>
      <p:sp>
        <p:nvSpPr>
          <p:cNvPr id="6" name="Shape 4"/>
          <p:cNvSpPr/>
          <p:nvPr/>
        </p:nvSpPr>
        <p:spPr>
          <a:xfrm>
            <a:off x="685800" y="2514600"/>
            <a:ext cx="5257800" cy="3246120"/>
          </a:xfrm>
          <a:prstGeom prst="roundRect">
            <a:avLst>
              <a:gd name="adj" fmla="val 2817"/>
            </a:avLst>
          </a:prstGeom>
          <a:solidFill>
            <a:srgbClr val="EAF4FB"/>
          </a:solidFill>
          <a:ln/>
          <a:effectLst>
            <a:outerShdw sx="100000" sy="100000" kx="0" ky="0" algn="bl" rotWithShape="0" blurRad="127000" dist="38100" dir="5400000">
              <a:srgbClr val="000000">
                <a:alpha val="35000"/>
              </a:srgbClr>
            </a:outerShdw>
          </a:effectLst>
        </p:spPr>
      </p:sp>
      <p:sp>
        <p:nvSpPr>
          <p:cNvPr id="7" name="Shape 5"/>
          <p:cNvSpPr/>
          <p:nvPr/>
        </p:nvSpPr>
        <p:spPr>
          <a:xfrm>
            <a:off x="960120" y="2788920"/>
            <a:ext cx="731520" cy="731520"/>
          </a:xfrm>
          <a:prstGeom prst="ellipse">
            <a:avLst/>
          </a:prstGeom>
          <a:solidFill>
            <a:srgbClr val="0B2A45"/>
          </a:solidFill>
          <a:ln/>
        </p:spPr>
      </p:sp>
      <p:pic>
        <p:nvPicPr>
          <p:cNvPr id="8" name="Image 0" descr="assets/icons/server.png">    </p:cNvPr>
          <p:cNvPicPr>
            <a:picLocks noChangeAspect="1"/>
          </p:cNvPicPr>
          <p:nvPr/>
        </p:nvPicPr>
        <p:blipFill>
          <a:blip r:embed="rId2"/>
          <a:stretch>
            <a:fillRect/>
          </a:stretch>
        </p:blipFill>
        <p:spPr>
          <a:xfrm>
            <a:off x="1164946" y="2993746"/>
            <a:ext cx="321869" cy="321869"/>
          </a:xfrm>
          <a:prstGeom prst="rect">
            <a:avLst/>
          </a:prstGeom>
        </p:spPr>
      </p:pic>
      <p:sp>
        <p:nvSpPr>
          <p:cNvPr id="9" name="Text 6"/>
          <p:cNvSpPr txBox="1"/>
          <p:nvPr/>
        </p:nvSpPr>
        <p:spPr>
          <a:xfrm>
            <a:off x="1828800" y="2852928"/>
            <a:ext cx="3931920" cy="594360"/>
          </a:xfrm>
          <a:prstGeom prst="rect">
            <a:avLst/>
          </a:prstGeom>
          <a:noFill/>
          <a:ln/>
        </p:spPr>
        <p:txBody>
          <a:bodyPr wrap="square" lIns="0" tIns="0" rIns="0" bIns="0" rtlCol="0" anchor="ctr"/>
          <a:lstStyle/>
          <a:p>
            <a:pPr indent="0" marL="0">
              <a:buNone/>
            </a:pPr>
            <a:r>
              <a:rPr lang="en-US" sz="1600" b="1" dirty="0">
                <a:solidFill>
                  <a:srgbClr val="0B2A45"/>
                </a:solidFill>
                <a:latin typeface="Arial" pitchFamily="34" charset="0"/>
                <a:ea typeface="Arial" pitchFamily="34" charset="-122"/>
                <a:cs typeface="Arial" pitchFamily="34" charset="-120"/>
              </a:rPr>
              <a:t>IT  —  Information Technology</a:t>
            </a:r>
            <a:endParaRPr lang="en-US" sz="1600" dirty="0"/>
          </a:p>
        </p:txBody>
      </p:sp>
      <p:sp>
        <p:nvSpPr>
          <p:cNvPr id="10" name="Text 7"/>
          <p:cNvSpPr txBox="1"/>
          <p:nvPr/>
        </p:nvSpPr>
        <p:spPr>
          <a:xfrm>
            <a:off x="960120" y="3749040"/>
            <a:ext cx="4754880" cy="1828800"/>
          </a:xfrm>
          <a:prstGeom prst="rect">
            <a:avLst/>
          </a:prstGeom>
          <a:noFill/>
          <a:ln/>
        </p:spPr>
        <p:txBody>
          <a:bodyPr wrap="square" lIns="0" tIns="0" rIns="0" bIns="0" rtlCol="0" anchor="ctr"/>
          <a:lstStyle/>
          <a:p>
            <a:pPr indent="0" marL="0">
              <a:lnSpc>
                <a:spcPct val="110000"/>
              </a:lnSpc>
              <a:buNone/>
            </a:pPr>
            <a:r>
              <a:rPr lang="en-US" sz="1350" dirty="0">
                <a:solidFill>
                  <a:srgbClr val="0B2A45"/>
                </a:solidFill>
                <a:latin typeface="Arial" pitchFamily="34" charset="0"/>
                <a:ea typeface="Arial" pitchFamily="34" charset="-122"/>
                <a:cs typeface="Arial" pitchFamily="34" charset="-120"/>
              </a:rPr>
              <a:t>Email, HR &amp; payroll, finance, billing and customer portals.
</a:t>
            </a:r>
            <a:endParaRPr lang="en-US" sz="1350" dirty="0"/>
          </a:p>
          <a:p>
            <a:pPr indent="0" marL="0">
              <a:lnSpc>
                <a:spcPct val="110000"/>
              </a:lnSpc>
              <a:buNone/>
            </a:pPr>
            <a:r>
              <a:rPr lang="en-US" sz="1350" dirty="0">
                <a:solidFill>
                  <a:srgbClr val="0B2A45"/>
                </a:solidFill>
                <a:latin typeface="Arial" pitchFamily="34" charset="0"/>
                <a:ea typeface="Arial" pitchFamily="34" charset="-122"/>
                <a:cs typeface="Arial" pitchFamily="34" charset="-120"/>
              </a:rPr>
              <a:t>This is what Hive encrypted </a:t>
            </a:r>
            <a:pPr indent="0" marL="0">
              <a:lnSpc>
                <a:spcPct val="110000"/>
              </a:lnSpc>
              <a:buNone/>
            </a:pPr>
            <a:r>
              <a:rPr lang="en-US" sz="1350" b="1" dirty="0">
                <a:solidFill>
                  <a:srgbClr val="0B2A45"/>
                </a:solidFill>
                <a:latin typeface="Arial" pitchFamily="34" charset="0"/>
                <a:ea typeface="Arial" pitchFamily="34" charset="-122"/>
                <a:cs typeface="Arial" pitchFamily="34" charset="-120"/>
              </a:rPr>
              <a:t>— and where sensitive files (identity records, contracts, drawings) were reachable.</a:t>
            </a:r>
            <a:endParaRPr lang="en-US" sz="1350" dirty="0"/>
          </a:p>
        </p:txBody>
      </p:sp>
      <p:sp>
        <p:nvSpPr>
          <p:cNvPr id="11" name="Shape 8"/>
          <p:cNvSpPr/>
          <p:nvPr/>
        </p:nvSpPr>
        <p:spPr>
          <a:xfrm>
            <a:off x="960120" y="5230368"/>
            <a:ext cx="2103120" cy="384048"/>
          </a:xfrm>
          <a:prstGeom prst="roundRect">
            <a:avLst>
              <a:gd name="adj" fmla="val 14286"/>
            </a:avLst>
          </a:prstGeom>
          <a:solidFill>
            <a:srgbClr val="EF4444"/>
          </a:solidFill>
          <a:ln/>
        </p:spPr>
      </p:sp>
      <p:sp>
        <p:nvSpPr>
          <p:cNvPr id="12" name="Text 9"/>
          <p:cNvSpPr txBox="1"/>
          <p:nvPr/>
        </p:nvSpPr>
        <p:spPr>
          <a:xfrm>
            <a:off x="960120" y="5230368"/>
            <a:ext cx="2103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BREACHED</a:t>
            </a:r>
            <a:endParaRPr lang="en-US" sz="1200" dirty="0"/>
          </a:p>
        </p:txBody>
      </p:sp>
      <p:sp>
        <p:nvSpPr>
          <p:cNvPr id="13" name="Shape 10"/>
          <p:cNvSpPr/>
          <p:nvPr/>
        </p:nvSpPr>
        <p:spPr>
          <a:xfrm>
            <a:off x="6263640" y="2514600"/>
            <a:ext cx="5239512" cy="3246120"/>
          </a:xfrm>
          <a:prstGeom prst="roundRect">
            <a:avLst>
              <a:gd name="adj" fmla="val 2817"/>
            </a:avLst>
          </a:prstGeom>
          <a:solidFill>
            <a:srgbClr val="0B2A45"/>
          </a:solidFill>
          <a:ln/>
          <a:effectLst>
            <a:outerShdw sx="100000" sy="100000" kx="0" ky="0" algn="bl" rotWithShape="0" blurRad="127000" dist="38100" dir="5400000">
              <a:srgbClr val="000000">
                <a:alpha val="35000"/>
              </a:srgbClr>
            </a:outerShdw>
          </a:effectLst>
        </p:spPr>
      </p:sp>
      <p:sp>
        <p:nvSpPr>
          <p:cNvPr id="14" name="Shape 11"/>
          <p:cNvSpPr/>
          <p:nvPr/>
        </p:nvSpPr>
        <p:spPr>
          <a:xfrm>
            <a:off x="6537960" y="2788920"/>
            <a:ext cx="731520" cy="731520"/>
          </a:xfrm>
          <a:prstGeom prst="ellipse">
            <a:avLst/>
          </a:prstGeom>
          <a:solidFill>
            <a:srgbClr val="22D3EE"/>
          </a:solidFill>
          <a:ln/>
        </p:spPr>
      </p:sp>
      <p:pic>
        <p:nvPicPr>
          <p:cNvPr id="15" name="Image 1" descr="assets/icons/zap.png">    </p:cNvPr>
          <p:cNvPicPr>
            <a:picLocks noChangeAspect="1"/>
          </p:cNvPicPr>
          <p:nvPr/>
        </p:nvPicPr>
        <p:blipFill>
          <a:blip r:embed="rId3"/>
          <a:stretch>
            <a:fillRect/>
          </a:stretch>
        </p:blipFill>
        <p:spPr>
          <a:xfrm>
            <a:off x="6742786" y="2993746"/>
            <a:ext cx="321869" cy="321869"/>
          </a:xfrm>
          <a:prstGeom prst="rect">
            <a:avLst/>
          </a:prstGeom>
        </p:spPr>
      </p:pic>
      <p:sp>
        <p:nvSpPr>
          <p:cNvPr id="16" name="Text 12"/>
          <p:cNvSpPr txBox="1"/>
          <p:nvPr/>
        </p:nvSpPr>
        <p:spPr>
          <a:xfrm>
            <a:off x="7406640" y="2852928"/>
            <a:ext cx="3931920" cy="5943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OT  —  Operational Technology</a:t>
            </a:r>
            <a:endParaRPr lang="en-US" sz="1600" dirty="0"/>
          </a:p>
        </p:txBody>
      </p:sp>
      <p:sp>
        <p:nvSpPr>
          <p:cNvPr id="17" name="Text 13"/>
          <p:cNvSpPr txBox="1"/>
          <p:nvPr/>
        </p:nvSpPr>
        <p:spPr>
          <a:xfrm>
            <a:off x="6537960" y="3749040"/>
            <a:ext cx="4754880" cy="1828800"/>
          </a:xfrm>
          <a:prstGeom prst="rect">
            <a:avLst/>
          </a:prstGeom>
          <a:noFill/>
          <a:ln/>
        </p:spPr>
        <p:txBody>
          <a:bodyPr wrap="square" lIns="0" tIns="0" rIns="0" bIns="0" rtlCol="0" anchor="ctr"/>
          <a:lstStyle/>
          <a:p>
            <a:pPr indent="0" marL="0">
              <a:lnSpc>
                <a:spcPct val="110000"/>
              </a:lnSpc>
              <a:buNone/>
            </a:pPr>
            <a:r>
              <a:rPr lang="en-US" sz="1350" dirty="0">
                <a:solidFill>
                  <a:srgbClr val="EAF4FB"/>
                </a:solidFill>
                <a:latin typeface="Arial" pitchFamily="34" charset="0"/>
                <a:ea typeface="Arial" pitchFamily="34" charset="-122"/>
                <a:cs typeface="Arial" pitchFamily="34" charset="-120"/>
              </a:rPr>
              <a:t>SCADA, energy management systems, PLCs, RTUs and protection relays that physically control generation and supply.
</a:t>
            </a:r>
            <a:endParaRPr lang="en-US" sz="1350" dirty="0"/>
          </a:p>
          <a:p>
            <a:pPr indent="0" marL="0">
              <a:lnSpc>
                <a:spcPct val="110000"/>
              </a:lnSpc>
              <a:buNone/>
            </a:pPr>
            <a:r>
              <a:rPr lang="en-US" sz="1350" b="1" dirty="0">
                <a:solidFill>
                  <a:srgbClr val="EAF4FB"/>
                </a:solidFill>
                <a:latin typeface="Arial" pitchFamily="34" charset="0"/>
                <a:ea typeface="Arial" pitchFamily="34" charset="-122"/>
                <a:cs typeface="Arial" pitchFamily="34" charset="-120"/>
              </a:rPr>
              <a:t>Tata Power stated its critical operational systems kept functioning.</a:t>
            </a:r>
            <a:endParaRPr lang="en-US" sz="1350" dirty="0"/>
          </a:p>
        </p:txBody>
      </p:sp>
      <p:sp>
        <p:nvSpPr>
          <p:cNvPr id="18" name="Shape 14"/>
          <p:cNvSpPr/>
          <p:nvPr/>
        </p:nvSpPr>
        <p:spPr>
          <a:xfrm>
            <a:off x="6537960" y="5230368"/>
            <a:ext cx="2377440" cy="384048"/>
          </a:xfrm>
          <a:prstGeom prst="roundRect">
            <a:avLst>
              <a:gd name="adj" fmla="val 14286"/>
            </a:avLst>
          </a:prstGeom>
          <a:solidFill>
            <a:srgbClr val="16A34A"/>
          </a:solidFill>
          <a:ln/>
        </p:spPr>
      </p:sp>
      <p:sp>
        <p:nvSpPr>
          <p:cNvPr id="19" name="Text 15"/>
          <p:cNvSpPr txBox="1"/>
          <p:nvPr/>
        </p:nvSpPr>
        <p:spPr>
          <a:xfrm>
            <a:off x="6537960" y="5230368"/>
            <a:ext cx="23774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KEPT RUNNING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5</a:t>
            </a:r>
            <a:endParaRPr lang="en-US" sz="1100" dirty="0"/>
          </a:p>
        </p:txBody>
      </p:sp>
      <p:sp>
        <p:nvSpPr>
          <p:cNvPr id="3" name="Text 1"/>
          <p:cNvSpPr txBox="1"/>
          <p:nvPr/>
        </p:nvSpPr>
        <p:spPr>
          <a:xfrm>
            <a:off x="612648" y="41148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TECHNICAL WORKING</a:t>
            </a:r>
            <a:endParaRPr lang="en-US" sz="1250" dirty="0"/>
          </a:p>
        </p:txBody>
      </p:sp>
      <p:sp>
        <p:nvSpPr>
          <p:cNvPr id="4" name="Text 2"/>
          <p:cNvSpPr txBox="1"/>
          <p:nvPr/>
        </p:nvSpPr>
        <p:spPr>
          <a:xfrm>
            <a:off x="612648" y="731520"/>
            <a:ext cx="10789920" cy="1097280"/>
          </a:xfrm>
          <a:prstGeom prst="rect">
            <a:avLst/>
          </a:prstGeom>
          <a:noFill/>
          <a:ln/>
        </p:spPr>
        <p:txBody>
          <a:bodyPr wrap="square" lIns="0" tIns="0" rIns="0" bIns="0" rtlCol="0" anchor="ctr"/>
          <a:lstStyle/>
          <a:p>
            <a:pPr indent="0" marL="0">
              <a:lnSpc>
                <a:spcPct val="98000"/>
              </a:lnSpc>
              <a:buNone/>
            </a:pPr>
            <a:r>
              <a:rPr lang="en-US" sz="3600" b="1" dirty="0">
                <a:solidFill>
                  <a:srgbClr val="FFFFFF"/>
                </a:solidFill>
                <a:latin typeface="Arial" pitchFamily="34" charset="0"/>
                <a:ea typeface="Arial" pitchFamily="34" charset="-122"/>
                <a:cs typeface="Arial" pitchFamily="34" charset="-120"/>
              </a:rPr>
              <a:t>How the Hive attack worked</a:t>
            </a:r>
            <a:endParaRPr lang="en-US" sz="3600" dirty="0"/>
          </a:p>
        </p:txBody>
      </p:sp>
      <p:sp>
        <p:nvSpPr>
          <p:cNvPr id="5" name="Text 3"/>
          <p:cNvSpPr txBox="1"/>
          <p:nvPr/>
        </p:nvSpPr>
        <p:spPr>
          <a:xfrm>
            <a:off x="612648" y="1627632"/>
            <a:ext cx="10881360" cy="457200"/>
          </a:xfrm>
          <a:prstGeom prst="rect">
            <a:avLst/>
          </a:prstGeom>
          <a:noFill/>
          <a:ln/>
        </p:spPr>
        <p:txBody>
          <a:bodyPr wrap="square" lIns="0" tIns="0" rIns="0" bIns="0" rtlCol="0" anchor="ctr"/>
          <a:lstStyle/>
          <a:p>
            <a:pPr indent="0" marL="0">
              <a:buNone/>
            </a:pPr>
            <a:r>
              <a:rPr lang="en-US" sz="1400" dirty="0">
                <a:solidFill>
                  <a:srgbClr val="EAF4FB"/>
                </a:solidFill>
                <a:latin typeface="Arial" pitchFamily="34" charset="0"/>
                <a:ea typeface="Arial" pitchFamily="34" charset="-122"/>
                <a:cs typeface="Arial" pitchFamily="34" charset="-120"/>
              </a:rPr>
              <a:t>A Hive intrusion ran as a chain of stages — and crucially, the attackers stole data well before they triggered encryption.</a:t>
            </a:r>
            <a:endParaRPr lang="en-US" sz="1400" dirty="0"/>
          </a:p>
        </p:txBody>
      </p:sp>
      <p:sp>
        <p:nvSpPr>
          <p:cNvPr id="6" name="Shape 4"/>
          <p:cNvSpPr/>
          <p:nvPr/>
        </p:nvSpPr>
        <p:spPr>
          <a:xfrm>
            <a:off x="612648" y="2240280"/>
            <a:ext cx="3456432" cy="1078992"/>
          </a:xfrm>
          <a:prstGeom prst="roundRect">
            <a:avLst>
              <a:gd name="adj" fmla="val 8475"/>
            </a:avLst>
          </a:prstGeom>
          <a:solidFill>
            <a:srgbClr val="EAF4FB"/>
          </a:solidFill>
          <a:ln/>
          <a:effectLst>
            <a:outerShdw sx="100000" sy="100000" kx="0" ky="0" algn="bl" rotWithShape="0" blurRad="127000" dist="38100" dir="5400000">
              <a:srgbClr val="000000">
                <a:alpha val="35000"/>
              </a:srgbClr>
            </a:outerShdw>
          </a:effectLst>
        </p:spPr>
      </p:sp>
      <p:sp>
        <p:nvSpPr>
          <p:cNvPr id="7" name="Shape 5"/>
          <p:cNvSpPr/>
          <p:nvPr/>
        </p:nvSpPr>
        <p:spPr>
          <a:xfrm>
            <a:off x="813816" y="2441448"/>
            <a:ext cx="384048" cy="384048"/>
          </a:xfrm>
          <a:prstGeom prst="ellipse">
            <a:avLst/>
          </a:prstGeom>
          <a:solidFill>
            <a:srgbClr val="22D3EE"/>
          </a:solidFill>
          <a:ln/>
        </p:spPr>
      </p:sp>
      <p:sp>
        <p:nvSpPr>
          <p:cNvPr id="8" name="Text 6"/>
          <p:cNvSpPr txBox="1"/>
          <p:nvPr/>
        </p:nvSpPr>
        <p:spPr>
          <a:xfrm>
            <a:off x="813816" y="2441448"/>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1</a:t>
            </a:r>
            <a:endParaRPr lang="en-US" sz="1400" dirty="0"/>
          </a:p>
        </p:txBody>
      </p:sp>
      <p:sp>
        <p:nvSpPr>
          <p:cNvPr id="9" name="Text 7"/>
          <p:cNvSpPr txBox="1"/>
          <p:nvPr/>
        </p:nvSpPr>
        <p:spPr>
          <a:xfrm>
            <a:off x="1325880" y="2395728"/>
            <a:ext cx="2587752" cy="36576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Reconnaissance</a:t>
            </a:r>
            <a:endParaRPr lang="en-US" sz="1350" dirty="0"/>
          </a:p>
        </p:txBody>
      </p:sp>
      <p:sp>
        <p:nvSpPr>
          <p:cNvPr id="10" name="Text 8"/>
          <p:cNvSpPr txBox="1"/>
          <p:nvPr/>
        </p:nvSpPr>
        <p:spPr>
          <a:xfrm>
            <a:off x="1325880" y="2788920"/>
            <a:ext cx="2587752" cy="457200"/>
          </a:xfrm>
          <a:prstGeom prst="rect">
            <a:avLst/>
          </a:prstGeom>
          <a:noFill/>
          <a:ln/>
        </p:spPr>
        <p:txBody>
          <a:bodyPr wrap="square" lIns="0" tIns="0" rIns="0" bIns="0" rtlCol="0" anchor="ctr"/>
          <a:lstStyle/>
          <a:p>
            <a:pPr indent="0" marL="0">
              <a:lnSpc>
                <a:spcPct val="95000"/>
              </a:lnSpc>
              <a:buNone/>
            </a:pPr>
            <a:r>
              <a:rPr lang="en-US" sz="1050" dirty="0">
                <a:solidFill>
                  <a:srgbClr val="475569"/>
                </a:solidFill>
                <a:latin typeface="Arial" pitchFamily="34" charset="0"/>
                <a:ea typeface="Arial" pitchFamily="34" charset="-122"/>
                <a:cs typeface="Arial" pitchFamily="34" charset="-120"/>
              </a:rPr>
              <a:t>Scan internet-facing VPN, RDP, mail and IoT.</a:t>
            </a:r>
            <a:endParaRPr lang="en-US" sz="1050" dirty="0"/>
          </a:p>
        </p:txBody>
      </p:sp>
      <p:sp>
        <p:nvSpPr>
          <p:cNvPr id="11" name="Shape 9"/>
          <p:cNvSpPr/>
          <p:nvPr/>
        </p:nvSpPr>
        <p:spPr>
          <a:xfrm>
            <a:off x="4398264" y="2240280"/>
            <a:ext cx="3456432" cy="1078992"/>
          </a:xfrm>
          <a:prstGeom prst="roundRect">
            <a:avLst>
              <a:gd name="adj" fmla="val 8475"/>
            </a:avLst>
          </a:prstGeom>
          <a:solidFill>
            <a:srgbClr val="EAF4FB"/>
          </a:solidFill>
          <a:ln/>
          <a:effectLst>
            <a:outerShdw sx="100000" sy="100000" kx="0" ky="0" algn="bl" rotWithShape="0" blurRad="127000" dist="38100" dir="5400000">
              <a:srgbClr val="000000">
                <a:alpha val="35000"/>
              </a:srgbClr>
            </a:outerShdw>
          </a:effectLst>
        </p:spPr>
      </p:sp>
      <p:sp>
        <p:nvSpPr>
          <p:cNvPr id="12" name="Shape 10"/>
          <p:cNvSpPr/>
          <p:nvPr/>
        </p:nvSpPr>
        <p:spPr>
          <a:xfrm>
            <a:off x="4599432" y="2441448"/>
            <a:ext cx="384048" cy="384048"/>
          </a:xfrm>
          <a:prstGeom prst="ellipse">
            <a:avLst/>
          </a:prstGeom>
          <a:solidFill>
            <a:srgbClr val="22D3EE"/>
          </a:solidFill>
          <a:ln/>
        </p:spPr>
      </p:sp>
      <p:sp>
        <p:nvSpPr>
          <p:cNvPr id="13" name="Text 11"/>
          <p:cNvSpPr txBox="1"/>
          <p:nvPr/>
        </p:nvSpPr>
        <p:spPr>
          <a:xfrm>
            <a:off x="4599432" y="2441448"/>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2</a:t>
            </a:r>
            <a:endParaRPr lang="en-US" sz="1400" dirty="0"/>
          </a:p>
        </p:txBody>
      </p:sp>
      <p:sp>
        <p:nvSpPr>
          <p:cNvPr id="14" name="Text 12"/>
          <p:cNvSpPr txBox="1"/>
          <p:nvPr/>
        </p:nvSpPr>
        <p:spPr>
          <a:xfrm>
            <a:off x="5111496" y="2395728"/>
            <a:ext cx="2587752" cy="36576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Initial access</a:t>
            </a:r>
            <a:endParaRPr lang="en-US" sz="1350" dirty="0"/>
          </a:p>
        </p:txBody>
      </p:sp>
      <p:sp>
        <p:nvSpPr>
          <p:cNvPr id="15" name="Text 13"/>
          <p:cNvSpPr txBox="1"/>
          <p:nvPr/>
        </p:nvSpPr>
        <p:spPr>
          <a:xfrm>
            <a:off x="5111496" y="2788920"/>
            <a:ext cx="2587752" cy="457200"/>
          </a:xfrm>
          <a:prstGeom prst="rect">
            <a:avLst/>
          </a:prstGeom>
          <a:noFill/>
          <a:ln/>
        </p:spPr>
        <p:txBody>
          <a:bodyPr wrap="square" lIns="0" tIns="0" rIns="0" bIns="0" rtlCol="0" anchor="ctr"/>
          <a:lstStyle/>
          <a:p>
            <a:pPr indent="0" marL="0">
              <a:lnSpc>
                <a:spcPct val="95000"/>
              </a:lnSpc>
              <a:buNone/>
            </a:pPr>
            <a:r>
              <a:rPr lang="en-US" sz="1050" dirty="0">
                <a:solidFill>
                  <a:srgbClr val="475569"/>
                </a:solidFill>
                <a:latin typeface="Arial" pitchFamily="34" charset="0"/>
                <a:ea typeface="Arial" pitchFamily="34" charset="-122"/>
                <a:cs typeface="Arial" pitchFamily="34" charset="-120"/>
              </a:rPr>
              <a:t>Stolen credentials, unpatched service or phishing.</a:t>
            </a:r>
            <a:endParaRPr lang="en-US" sz="1050" dirty="0"/>
          </a:p>
        </p:txBody>
      </p:sp>
      <p:sp>
        <p:nvSpPr>
          <p:cNvPr id="16" name="Shape 14"/>
          <p:cNvSpPr/>
          <p:nvPr/>
        </p:nvSpPr>
        <p:spPr>
          <a:xfrm>
            <a:off x="8183880" y="2240280"/>
            <a:ext cx="3456432" cy="1078992"/>
          </a:xfrm>
          <a:prstGeom prst="roundRect">
            <a:avLst>
              <a:gd name="adj" fmla="val 8475"/>
            </a:avLst>
          </a:prstGeom>
          <a:solidFill>
            <a:srgbClr val="EAF4FB"/>
          </a:solidFill>
          <a:ln/>
          <a:effectLst>
            <a:outerShdw sx="100000" sy="100000" kx="0" ky="0" algn="bl" rotWithShape="0" blurRad="127000" dist="38100" dir="5400000">
              <a:srgbClr val="000000">
                <a:alpha val="35000"/>
              </a:srgbClr>
            </a:outerShdw>
          </a:effectLst>
        </p:spPr>
      </p:sp>
      <p:sp>
        <p:nvSpPr>
          <p:cNvPr id="17" name="Shape 15"/>
          <p:cNvSpPr/>
          <p:nvPr/>
        </p:nvSpPr>
        <p:spPr>
          <a:xfrm>
            <a:off x="8385048" y="2441448"/>
            <a:ext cx="384048" cy="384048"/>
          </a:xfrm>
          <a:prstGeom prst="ellipse">
            <a:avLst/>
          </a:prstGeom>
          <a:solidFill>
            <a:srgbClr val="22D3EE"/>
          </a:solidFill>
          <a:ln/>
        </p:spPr>
      </p:sp>
      <p:sp>
        <p:nvSpPr>
          <p:cNvPr id="18" name="Text 16"/>
          <p:cNvSpPr txBox="1"/>
          <p:nvPr/>
        </p:nvSpPr>
        <p:spPr>
          <a:xfrm>
            <a:off x="8385048" y="2441448"/>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3</a:t>
            </a:r>
            <a:endParaRPr lang="en-US" sz="1400" dirty="0"/>
          </a:p>
        </p:txBody>
      </p:sp>
      <p:sp>
        <p:nvSpPr>
          <p:cNvPr id="19" name="Text 17"/>
          <p:cNvSpPr txBox="1"/>
          <p:nvPr/>
        </p:nvSpPr>
        <p:spPr>
          <a:xfrm>
            <a:off x="8897112" y="2395728"/>
            <a:ext cx="2587752" cy="36576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Execution</a:t>
            </a:r>
            <a:endParaRPr lang="en-US" sz="1350" dirty="0"/>
          </a:p>
        </p:txBody>
      </p:sp>
      <p:sp>
        <p:nvSpPr>
          <p:cNvPr id="20" name="Text 18"/>
          <p:cNvSpPr txBox="1"/>
          <p:nvPr/>
        </p:nvSpPr>
        <p:spPr>
          <a:xfrm>
            <a:off x="8897112" y="2788920"/>
            <a:ext cx="2587752" cy="457200"/>
          </a:xfrm>
          <a:prstGeom prst="rect">
            <a:avLst/>
          </a:prstGeom>
          <a:noFill/>
          <a:ln/>
        </p:spPr>
        <p:txBody>
          <a:bodyPr wrap="square" lIns="0" tIns="0" rIns="0" bIns="0" rtlCol="0" anchor="ctr"/>
          <a:lstStyle/>
          <a:p>
            <a:pPr indent="0" marL="0">
              <a:lnSpc>
                <a:spcPct val="95000"/>
              </a:lnSpc>
              <a:buNone/>
            </a:pPr>
            <a:r>
              <a:rPr lang="en-US" sz="1050" dirty="0">
                <a:solidFill>
                  <a:srgbClr val="475569"/>
                </a:solidFill>
                <a:latin typeface="Arial" pitchFamily="34" charset="0"/>
                <a:ea typeface="Arial" pitchFamily="34" charset="-122"/>
                <a:cs typeface="Arial" pitchFamily="34" charset="-120"/>
              </a:rPr>
              <a:t>Run scripts and remote-access tools on the foothold.</a:t>
            </a:r>
            <a:endParaRPr lang="en-US" sz="1050" dirty="0"/>
          </a:p>
        </p:txBody>
      </p:sp>
      <p:sp>
        <p:nvSpPr>
          <p:cNvPr id="21" name="Shape 19"/>
          <p:cNvSpPr/>
          <p:nvPr/>
        </p:nvSpPr>
        <p:spPr>
          <a:xfrm>
            <a:off x="612648" y="3465576"/>
            <a:ext cx="3456432" cy="1078992"/>
          </a:xfrm>
          <a:prstGeom prst="roundRect">
            <a:avLst>
              <a:gd name="adj" fmla="val 8475"/>
            </a:avLst>
          </a:prstGeom>
          <a:solidFill>
            <a:srgbClr val="EAF4FB"/>
          </a:solidFill>
          <a:ln/>
          <a:effectLst>
            <a:outerShdw sx="100000" sy="100000" kx="0" ky="0" algn="bl" rotWithShape="0" blurRad="127000" dist="38100" dir="5400000">
              <a:srgbClr val="000000">
                <a:alpha val="35000"/>
              </a:srgbClr>
            </a:outerShdw>
          </a:effectLst>
        </p:spPr>
      </p:sp>
      <p:sp>
        <p:nvSpPr>
          <p:cNvPr id="22" name="Shape 20"/>
          <p:cNvSpPr/>
          <p:nvPr/>
        </p:nvSpPr>
        <p:spPr>
          <a:xfrm>
            <a:off x="813816" y="3666744"/>
            <a:ext cx="384048" cy="384048"/>
          </a:xfrm>
          <a:prstGeom prst="ellipse">
            <a:avLst/>
          </a:prstGeom>
          <a:solidFill>
            <a:srgbClr val="22D3EE"/>
          </a:solidFill>
          <a:ln/>
        </p:spPr>
      </p:sp>
      <p:sp>
        <p:nvSpPr>
          <p:cNvPr id="23" name="Text 21"/>
          <p:cNvSpPr txBox="1"/>
          <p:nvPr/>
        </p:nvSpPr>
        <p:spPr>
          <a:xfrm>
            <a:off x="813816" y="3666744"/>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4</a:t>
            </a:r>
            <a:endParaRPr lang="en-US" sz="1400" dirty="0"/>
          </a:p>
        </p:txBody>
      </p:sp>
      <p:sp>
        <p:nvSpPr>
          <p:cNvPr id="24" name="Text 22"/>
          <p:cNvSpPr txBox="1"/>
          <p:nvPr/>
        </p:nvSpPr>
        <p:spPr>
          <a:xfrm>
            <a:off x="1325880" y="3621024"/>
            <a:ext cx="2587752" cy="36576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Persistence</a:t>
            </a:r>
            <a:endParaRPr lang="en-US" sz="1350" dirty="0"/>
          </a:p>
        </p:txBody>
      </p:sp>
      <p:sp>
        <p:nvSpPr>
          <p:cNvPr id="25" name="Text 23"/>
          <p:cNvSpPr txBox="1"/>
          <p:nvPr/>
        </p:nvSpPr>
        <p:spPr>
          <a:xfrm>
            <a:off x="1325880" y="4014216"/>
            <a:ext cx="2587752" cy="457200"/>
          </a:xfrm>
          <a:prstGeom prst="rect">
            <a:avLst/>
          </a:prstGeom>
          <a:noFill/>
          <a:ln/>
        </p:spPr>
        <p:txBody>
          <a:bodyPr wrap="square" lIns="0" tIns="0" rIns="0" bIns="0" rtlCol="0" anchor="ctr"/>
          <a:lstStyle/>
          <a:p>
            <a:pPr indent="0" marL="0">
              <a:lnSpc>
                <a:spcPct val="95000"/>
              </a:lnSpc>
              <a:buNone/>
            </a:pPr>
            <a:r>
              <a:rPr lang="en-US" sz="1050" dirty="0">
                <a:solidFill>
                  <a:srgbClr val="475569"/>
                </a:solidFill>
                <a:latin typeface="Arial" pitchFamily="34" charset="0"/>
                <a:ea typeface="Arial" pitchFamily="34" charset="-122"/>
                <a:cs typeface="Arial" pitchFamily="34" charset="-120"/>
              </a:rPr>
              <a:t>Create accounts / scheduled tasks to keep access.</a:t>
            </a:r>
            <a:endParaRPr lang="en-US" sz="1050" dirty="0"/>
          </a:p>
        </p:txBody>
      </p:sp>
      <p:sp>
        <p:nvSpPr>
          <p:cNvPr id="26" name="Shape 24"/>
          <p:cNvSpPr/>
          <p:nvPr/>
        </p:nvSpPr>
        <p:spPr>
          <a:xfrm>
            <a:off x="4398264" y="3465576"/>
            <a:ext cx="3456432" cy="1078992"/>
          </a:xfrm>
          <a:prstGeom prst="roundRect">
            <a:avLst>
              <a:gd name="adj" fmla="val 8475"/>
            </a:avLst>
          </a:prstGeom>
          <a:solidFill>
            <a:srgbClr val="EAF4FB"/>
          </a:solidFill>
          <a:ln/>
          <a:effectLst>
            <a:outerShdw sx="100000" sy="100000" kx="0" ky="0" algn="bl" rotWithShape="0" blurRad="127000" dist="38100" dir="5400000">
              <a:srgbClr val="000000">
                <a:alpha val="35000"/>
              </a:srgbClr>
            </a:outerShdw>
          </a:effectLst>
        </p:spPr>
      </p:sp>
      <p:sp>
        <p:nvSpPr>
          <p:cNvPr id="27" name="Shape 25"/>
          <p:cNvSpPr/>
          <p:nvPr/>
        </p:nvSpPr>
        <p:spPr>
          <a:xfrm>
            <a:off x="4599432" y="3666744"/>
            <a:ext cx="384048" cy="384048"/>
          </a:xfrm>
          <a:prstGeom prst="ellipse">
            <a:avLst/>
          </a:prstGeom>
          <a:solidFill>
            <a:srgbClr val="22D3EE"/>
          </a:solidFill>
          <a:ln/>
        </p:spPr>
      </p:sp>
      <p:sp>
        <p:nvSpPr>
          <p:cNvPr id="28" name="Text 26"/>
          <p:cNvSpPr txBox="1"/>
          <p:nvPr/>
        </p:nvSpPr>
        <p:spPr>
          <a:xfrm>
            <a:off x="4599432" y="3666744"/>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5</a:t>
            </a:r>
            <a:endParaRPr lang="en-US" sz="1400" dirty="0"/>
          </a:p>
        </p:txBody>
      </p:sp>
      <p:sp>
        <p:nvSpPr>
          <p:cNvPr id="29" name="Text 27"/>
          <p:cNvSpPr txBox="1"/>
          <p:nvPr/>
        </p:nvSpPr>
        <p:spPr>
          <a:xfrm>
            <a:off x="5111496" y="3621024"/>
            <a:ext cx="2587752" cy="36576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Credential theft</a:t>
            </a:r>
            <a:endParaRPr lang="en-US" sz="1350" dirty="0"/>
          </a:p>
        </p:txBody>
      </p:sp>
      <p:sp>
        <p:nvSpPr>
          <p:cNvPr id="30" name="Text 28"/>
          <p:cNvSpPr txBox="1"/>
          <p:nvPr/>
        </p:nvSpPr>
        <p:spPr>
          <a:xfrm>
            <a:off x="5111496" y="4014216"/>
            <a:ext cx="2587752" cy="457200"/>
          </a:xfrm>
          <a:prstGeom prst="rect">
            <a:avLst/>
          </a:prstGeom>
          <a:noFill/>
          <a:ln/>
        </p:spPr>
        <p:txBody>
          <a:bodyPr wrap="square" lIns="0" tIns="0" rIns="0" bIns="0" rtlCol="0" anchor="ctr"/>
          <a:lstStyle/>
          <a:p>
            <a:pPr indent="0" marL="0">
              <a:lnSpc>
                <a:spcPct val="95000"/>
              </a:lnSpc>
              <a:buNone/>
            </a:pPr>
            <a:r>
              <a:rPr lang="en-US" sz="1050" dirty="0">
                <a:solidFill>
                  <a:srgbClr val="475569"/>
                </a:solidFill>
                <a:latin typeface="Arial" pitchFamily="34" charset="0"/>
                <a:ea typeface="Arial" pitchFamily="34" charset="-122"/>
                <a:cs typeface="Arial" pitchFamily="34" charset="-120"/>
              </a:rPr>
              <a:t>Harvest admin passwords to widen control.</a:t>
            </a:r>
            <a:endParaRPr lang="en-US" sz="1050" dirty="0"/>
          </a:p>
        </p:txBody>
      </p:sp>
      <p:sp>
        <p:nvSpPr>
          <p:cNvPr id="31" name="Shape 29"/>
          <p:cNvSpPr/>
          <p:nvPr/>
        </p:nvSpPr>
        <p:spPr>
          <a:xfrm>
            <a:off x="8183880" y="3465576"/>
            <a:ext cx="3456432" cy="1078992"/>
          </a:xfrm>
          <a:prstGeom prst="roundRect">
            <a:avLst>
              <a:gd name="adj" fmla="val 8475"/>
            </a:avLst>
          </a:prstGeom>
          <a:solidFill>
            <a:srgbClr val="EAF4FB"/>
          </a:solidFill>
          <a:ln/>
          <a:effectLst>
            <a:outerShdw sx="100000" sy="100000" kx="0" ky="0" algn="bl" rotWithShape="0" blurRad="127000" dist="38100" dir="5400000">
              <a:srgbClr val="000000">
                <a:alpha val="35000"/>
              </a:srgbClr>
            </a:outerShdw>
          </a:effectLst>
        </p:spPr>
      </p:sp>
      <p:sp>
        <p:nvSpPr>
          <p:cNvPr id="32" name="Shape 30"/>
          <p:cNvSpPr/>
          <p:nvPr/>
        </p:nvSpPr>
        <p:spPr>
          <a:xfrm>
            <a:off x="8385048" y="3666744"/>
            <a:ext cx="384048" cy="384048"/>
          </a:xfrm>
          <a:prstGeom prst="ellipse">
            <a:avLst/>
          </a:prstGeom>
          <a:solidFill>
            <a:srgbClr val="22D3EE"/>
          </a:solidFill>
          <a:ln/>
        </p:spPr>
      </p:sp>
      <p:sp>
        <p:nvSpPr>
          <p:cNvPr id="33" name="Text 31"/>
          <p:cNvSpPr txBox="1"/>
          <p:nvPr/>
        </p:nvSpPr>
        <p:spPr>
          <a:xfrm>
            <a:off x="8385048" y="3666744"/>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6</a:t>
            </a:r>
            <a:endParaRPr lang="en-US" sz="1400" dirty="0"/>
          </a:p>
        </p:txBody>
      </p:sp>
      <p:sp>
        <p:nvSpPr>
          <p:cNvPr id="34" name="Text 32"/>
          <p:cNvSpPr txBox="1"/>
          <p:nvPr/>
        </p:nvSpPr>
        <p:spPr>
          <a:xfrm>
            <a:off x="8897112" y="3621024"/>
            <a:ext cx="2587752" cy="36576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Lateral movement</a:t>
            </a:r>
            <a:endParaRPr lang="en-US" sz="1350" dirty="0"/>
          </a:p>
        </p:txBody>
      </p:sp>
      <p:sp>
        <p:nvSpPr>
          <p:cNvPr id="35" name="Text 33"/>
          <p:cNvSpPr txBox="1"/>
          <p:nvPr/>
        </p:nvSpPr>
        <p:spPr>
          <a:xfrm>
            <a:off x="8897112" y="4014216"/>
            <a:ext cx="2587752" cy="457200"/>
          </a:xfrm>
          <a:prstGeom prst="rect">
            <a:avLst/>
          </a:prstGeom>
          <a:noFill/>
          <a:ln/>
        </p:spPr>
        <p:txBody>
          <a:bodyPr wrap="square" lIns="0" tIns="0" rIns="0" bIns="0" rtlCol="0" anchor="ctr"/>
          <a:lstStyle/>
          <a:p>
            <a:pPr indent="0" marL="0">
              <a:lnSpc>
                <a:spcPct val="95000"/>
              </a:lnSpc>
              <a:buNone/>
            </a:pPr>
            <a:r>
              <a:rPr lang="en-US" sz="1050" dirty="0">
                <a:solidFill>
                  <a:srgbClr val="475569"/>
                </a:solidFill>
                <a:latin typeface="Arial" pitchFamily="34" charset="0"/>
                <a:ea typeface="Arial" pitchFamily="34" charset="-122"/>
                <a:cs typeface="Arial" pitchFamily="34" charset="-120"/>
              </a:rPr>
              <a:t>Move server to server across corporate IT.</a:t>
            </a:r>
            <a:endParaRPr lang="en-US" sz="1050" dirty="0"/>
          </a:p>
        </p:txBody>
      </p:sp>
      <p:sp>
        <p:nvSpPr>
          <p:cNvPr id="36" name="Shape 34"/>
          <p:cNvSpPr/>
          <p:nvPr/>
        </p:nvSpPr>
        <p:spPr>
          <a:xfrm>
            <a:off x="612648" y="4690872"/>
            <a:ext cx="3456432" cy="1078992"/>
          </a:xfrm>
          <a:prstGeom prst="roundRect">
            <a:avLst>
              <a:gd name="adj" fmla="val 8475"/>
            </a:avLst>
          </a:prstGeom>
          <a:solidFill>
            <a:srgbClr val="EAF4FB"/>
          </a:solidFill>
          <a:ln/>
          <a:effectLst>
            <a:outerShdw sx="100000" sy="100000" kx="0" ky="0" algn="bl" rotWithShape="0" blurRad="127000" dist="38100" dir="5400000">
              <a:srgbClr val="000000">
                <a:alpha val="35000"/>
              </a:srgbClr>
            </a:outerShdw>
          </a:effectLst>
        </p:spPr>
      </p:sp>
      <p:sp>
        <p:nvSpPr>
          <p:cNvPr id="37" name="Shape 35"/>
          <p:cNvSpPr/>
          <p:nvPr/>
        </p:nvSpPr>
        <p:spPr>
          <a:xfrm>
            <a:off x="813816" y="4892040"/>
            <a:ext cx="384048" cy="384048"/>
          </a:xfrm>
          <a:prstGeom prst="ellipse">
            <a:avLst/>
          </a:prstGeom>
          <a:solidFill>
            <a:srgbClr val="22D3EE"/>
          </a:solidFill>
          <a:ln/>
        </p:spPr>
      </p:sp>
      <p:sp>
        <p:nvSpPr>
          <p:cNvPr id="38" name="Text 36"/>
          <p:cNvSpPr txBox="1"/>
          <p:nvPr/>
        </p:nvSpPr>
        <p:spPr>
          <a:xfrm>
            <a:off x="813816" y="4892040"/>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7</a:t>
            </a:r>
            <a:endParaRPr lang="en-US" sz="1400" dirty="0"/>
          </a:p>
        </p:txBody>
      </p:sp>
      <p:sp>
        <p:nvSpPr>
          <p:cNvPr id="39" name="Text 37"/>
          <p:cNvSpPr txBox="1"/>
          <p:nvPr/>
        </p:nvSpPr>
        <p:spPr>
          <a:xfrm>
            <a:off x="1325880" y="4846320"/>
            <a:ext cx="2587752" cy="36576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Exfiltration</a:t>
            </a:r>
            <a:endParaRPr lang="en-US" sz="1350" dirty="0"/>
          </a:p>
        </p:txBody>
      </p:sp>
      <p:sp>
        <p:nvSpPr>
          <p:cNvPr id="40" name="Text 38"/>
          <p:cNvSpPr txBox="1"/>
          <p:nvPr/>
        </p:nvSpPr>
        <p:spPr>
          <a:xfrm>
            <a:off x="1325880" y="5239512"/>
            <a:ext cx="2587752" cy="457200"/>
          </a:xfrm>
          <a:prstGeom prst="rect">
            <a:avLst/>
          </a:prstGeom>
          <a:noFill/>
          <a:ln/>
        </p:spPr>
        <p:txBody>
          <a:bodyPr wrap="square" lIns="0" tIns="0" rIns="0" bIns="0" rtlCol="0" anchor="ctr"/>
          <a:lstStyle/>
          <a:p>
            <a:pPr indent="0" marL="0">
              <a:lnSpc>
                <a:spcPct val="95000"/>
              </a:lnSpc>
              <a:buNone/>
            </a:pPr>
            <a:r>
              <a:rPr lang="en-US" sz="1050" dirty="0">
                <a:solidFill>
                  <a:srgbClr val="475569"/>
                </a:solidFill>
                <a:latin typeface="Arial" pitchFamily="34" charset="0"/>
                <a:ea typeface="Arial" pitchFamily="34" charset="-122"/>
                <a:cs typeface="Arial" pitchFamily="34" charset="-120"/>
              </a:rPr>
              <a:t>Copy sensitive files out before any alarm.</a:t>
            </a:r>
            <a:endParaRPr lang="en-US" sz="1050" dirty="0"/>
          </a:p>
        </p:txBody>
      </p:sp>
      <p:sp>
        <p:nvSpPr>
          <p:cNvPr id="41" name="Shape 39"/>
          <p:cNvSpPr/>
          <p:nvPr/>
        </p:nvSpPr>
        <p:spPr>
          <a:xfrm>
            <a:off x="4398264" y="4690872"/>
            <a:ext cx="3456432" cy="1078992"/>
          </a:xfrm>
          <a:prstGeom prst="roundRect">
            <a:avLst>
              <a:gd name="adj" fmla="val 8475"/>
            </a:avLst>
          </a:prstGeom>
          <a:solidFill>
            <a:srgbClr val="EAF4FB"/>
          </a:solidFill>
          <a:ln/>
          <a:effectLst>
            <a:outerShdw sx="100000" sy="100000" kx="0" ky="0" algn="bl" rotWithShape="0" blurRad="127000" dist="38100" dir="5400000">
              <a:srgbClr val="000000">
                <a:alpha val="35000"/>
              </a:srgbClr>
            </a:outerShdw>
          </a:effectLst>
        </p:spPr>
      </p:sp>
      <p:sp>
        <p:nvSpPr>
          <p:cNvPr id="42" name="Shape 40"/>
          <p:cNvSpPr/>
          <p:nvPr/>
        </p:nvSpPr>
        <p:spPr>
          <a:xfrm>
            <a:off x="4599432" y="4892040"/>
            <a:ext cx="384048" cy="384048"/>
          </a:xfrm>
          <a:prstGeom prst="ellipse">
            <a:avLst/>
          </a:prstGeom>
          <a:solidFill>
            <a:srgbClr val="22D3EE"/>
          </a:solidFill>
          <a:ln/>
        </p:spPr>
      </p:sp>
      <p:sp>
        <p:nvSpPr>
          <p:cNvPr id="43" name="Text 41"/>
          <p:cNvSpPr txBox="1"/>
          <p:nvPr/>
        </p:nvSpPr>
        <p:spPr>
          <a:xfrm>
            <a:off x="4599432" y="4892040"/>
            <a:ext cx="384048" cy="384048"/>
          </a:xfrm>
          <a:prstGeom prst="rect">
            <a:avLst/>
          </a:prstGeom>
          <a:noFill/>
          <a:ln/>
        </p:spPr>
        <p:txBody>
          <a:bodyPr wrap="square" lIns="0" tIns="0" rIns="0" bIns="0" rtlCol="0" anchor="ctr"/>
          <a:lstStyle/>
          <a:p>
            <a:pPr algn="ctr" indent="0" marL="0">
              <a:buNone/>
            </a:pPr>
            <a:r>
              <a:rPr lang="en-US" sz="1400" b="1" dirty="0">
                <a:solidFill>
                  <a:srgbClr val="06121F"/>
                </a:solidFill>
                <a:latin typeface="Courier New" pitchFamily="34" charset="0"/>
                <a:ea typeface="Courier New" pitchFamily="34" charset="-122"/>
                <a:cs typeface="Courier New" pitchFamily="34" charset="-120"/>
              </a:rPr>
              <a:t>8</a:t>
            </a:r>
            <a:endParaRPr lang="en-US" sz="1400" dirty="0"/>
          </a:p>
        </p:txBody>
      </p:sp>
      <p:sp>
        <p:nvSpPr>
          <p:cNvPr id="44" name="Text 42"/>
          <p:cNvSpPr txBox="1"/>
          <p:nvPr/>
        </p:nvSpPr>
        <p:spPr>
          <a:xfrm>
            <a:off x="5111496" y="4846320"/>
            <a:ext cx="2587752" cy="36576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Inhibit recovery</a:t>
            </a:r>
            <a:endParaRPr lang="en-US" sz="1350" dirty="0"/>
          </a:p>
        </p:txBody>
      </p:sp>
      <p:sp>
        <p:nvSpPr>
          <p:cNvPr id="45" name="Text 43"/>
          <p:cNvSpPr txBox="1"/>
          <p:nvPr/>
        </p:nvSpPr>
        <p:spPr>
          <a:xfrm>
            <a:off x="5111496" y="5239512"/>
            <a:ext cx="2587752" cy="457200"/>
          </a:xfrm>
          <a:prstGeom prst="rect">
            <a:avLst/>
          </a:prstGeom>
          <a:noFill/>
          <a:ln/>
        </p:spPr>
        <p:txBody>
          <a:bodyPr wrap="square" lIns="0" tIns="0" rIns="0" bIns="0" rtlCol="0" anchor="ctr"/>
          <a:lstStyle/>
          <a:p>
            <a:pPr indent="0" marL="0">
              <a:lnSpc>
                <a:spcPct val="95000"/>
              </a:lnSpc>
              <a:buNone/>
            </a:pPr>
            <a:r>
              <a:rPr lang="en-US" sz="1050" dirty="0">
                <a:solidFill>
                  <a:srgbClr val="475569"/>
                </a:solidFill>
                <a:latin typeface="Arial" pitchFamily="34" charset="0"/>
                <a:ea typeface="Arial" pitchFamily="34" charset="-122"/>
                <a:cs typeface="Arial" pitchFamily="34" charset="-120"/>
              </a:rPr>
              <a:t>Disable tools; delete shadow copies &amp; backups.</a:t>
            </a:r>
            <a:endParaRPr lang="en-US" sz="1050" dirty="0"/>
          </a:p>
        </p:txBody>
      </p:sp>
      <p:sp>
        <p:nvSpPr>
          <p:cNvPr id="46" name="Shape 44"/>
          <p:cNvSpPr/>
          <p:nvPr/>
        </p:nvSpPr>
        <p:spPr>
          <a:xfrm>
            <a:off x="8183880" y="4690872"/>
            <a:ext cx="3456432" cy="1078992"/>
          </a:xfrm>
          <a:prstGeom prst="roundRect">
            <a:avLst>
              <a:gd name="adj" fmla="val 8475"/>
            </a:avLst>
          </a:prstGeom>
          <a:solidFill>
            <a:srgbClr val="0B2A45"/>
          </a:solidFill>
          <a:ln/>
          <a:effectLst>
            <a:outerShdw sx="100000" sy="100000" kx="0" ky="0" algn="bl" rotWithShape="0" blurRad="127000" dist="38100" dir="5400000">
              <a:srgbClr val="000000">
                <a:alpha val="35000"/>
              </a:srgbClr>
            </a:outerShdw>
          </a:effectLst>
        </p:spPr>
      </p:sp>
      <p:sp>
        <p:nvSpPr>
          <p:cNvPr id="47" name="Shape 45"/>
          <p:cNvSpPr/>
          <p:nvPr/>
        </p:nvSpPr>
        <p:spPr>
          <a:xfrm>
            <a:off x="8385048" y="4892040"/>
            <a:ext cx="384048" cy="384048"/>
          </a:xfrm>
          <a:prstGeom prst="ellipse">
            <a:avLst/>
          </a:prstGeom>
          <a:solidFill>
            <a:srgbClr val="EF4444"/>
          </a:solidFill>
          <a:ln/>
        </p:spPr>
      </p:sp>
      <p:sp>
        <p:nvSpPr>
          <p:cNvPr id="48" name="Text 46"/>
          <p:cNvSpPr txBox="1"/>
          <p:nvPr/>
        </p:nvSpPr>
        <p:spPr>
          <a:xfrm>
            <a:off x="8385048" y="4892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9</a:t>
            </a:r>
            <a:endParaRPr lang="en-US" sz="1400" dirty="0"/>
          </a:p>
        </p:txBody>
      </p:sp>
      <p:sp>
        <p:nvSpPr>
          <p:cNvPr id="49" name="Text 47"/>
          <p:cNvSpPr txBox="1"/>
          <p:nvPr/>
        </p:nvSpPr>
        <p:spPr>
          <a:xfrm>
            <a:off x="8897112" y="4846320"/>
            <a:ext cx="2587752" cy="36576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Encrypt &amp; extort</a:t>
            </a:r>
            <a:endParaRPr lang="en-US" sz="1350" dirty="0"/>
          </a:p>
        </p:txBody>
      </p:sp>
      <p:sp>
        <p:nvSpPr>
          <p:cNvPr id="50" name="Text 48"/>
          <p:cNvSpPr txBox="1"/>
          <p:nvPr/>
        </p:nvSpPr>
        <p:spPr>
          <a:xfrm>
            <a:off x="8897112" y="5239512"/>
            <a:ext cx="2587752" cy="457200"/>
          </a:xfrm>
          <a:prstGeom prst="rect">
            <a:avLst/>
          </a:prstGeom>
          <a:noFill/>
          <a:ln/>
        </p:spPr>
        <p:txBody>
          <a:bodyPr wrap="square" lIns="0" tIns="0" rIns="0" bIns="0" rtlCol="0" anchor="ctr"/>
          <a:lstStyle/>
          <a:p>
            <a:pPr indent="0" marL="0">
              <a:lnSpc>
                <a:spcPct val="95000"/>
              </a:lnSpc>
              <a:buNone/>
            </a:pPr>
            <a:r>
              <a:rPr lang="en-US" sz="1050" dirty="0">
                <a:solidFill>
                  <a:srgbClr val="EAF4FB"/>
                </a:solidFill>
                <a:latin typeface="Arial" pitchFamily="34" charset="0"/>
                <a:ea typeface="Arial" pitchFamily="34" charset="-122"/>
                <a:cs typeface="Arial" pitchFamily="34" charset="-120"/>
              </a:rPr>
              <a:t>Encrypt IT (~3 Oct 2022) and demand ransom.</a:t>
            </a:r>
            <a:endParaRPr lang="en-US" sz="1050" dirty="0"/>
          </a:p>
        </p:txBody>
      </p:sp>
      <p:sp>
        <p:nvSpPr>
          <p:cNvPr id="51" name="Text 49"/>
          <p:cNvSpPr txBox="1"/>
          <p:nvPr/>
        </p:nvSpPr>
        <p:spPr>
          <a:xfrm>
            <a:off x="612648" y="6172200"/>
            <a:ext cx="10881360" cy="320040"/>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Reconstructed from Hive's documented TTPs (CISA AA22-321A). Tata Power published no forensic report, so pre-encryption stages are inferred.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6</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EXTORTION MODEL</a:t>
            </a:r>
            <a:endParaRPr lang="en-US" sz="1250" dirty="0"/>
          </a:p>
        </p:txBody>
      </p:sp>
      <p:sp>
        <p:nvSpPr>
          <p:cNvPr id="4" name="Text 2"/>
          <p:cNvSpPr txBox="1"/>
          <p:nvPr/>
        </p:nvSpPr>
        <p:spPr>
          <a:xfrm>
            <a:off x="685800" y="822960"/>
            <a:ext cx="10972800" cy="1097280"/>
          </a:xfrm>
          <a:prstGeom prst="rect">
            <a:avLst/>
          </a:prstGeom>
          <a:noFill/>
          <a:ln/>
        </p:spPr>
        <p:txBody>
          <a:bodyPr wrap="square" lIns="0" tIns="0" rIns="0" bIns="0" rtlCol="0" anchor="ctr"/>
          <a:lstStyle/>
          <a:p>
            <a:pPr indent="0" marL="0">
              <a:lnSpc>
                <a:spcPct val="98000"/>
              </a:lnSpc>
              <a:buNone/>
            </a:pPr>
            <a:r>
              <a:rPr lang="en-US" sz="3200" b="1" dirty="0">
                <a:solidFill>
                  <a:srgbClr val="FFFFFF"/>
                </a:solidFill>
                <a:latin typeface="Arial" pitchFamily="34" charset="0"/>
                <a:ea typeface="Arial" pitchFamily="34" charset="-122"/>
                <a:cs typeface="Arial" pitchFamily="34" charset="-120"/>
              </a:rPr>
              <a:t>Ransomware-as-a-Service &amp; double extortion</a:t>
            </a:r>
            <a:endParaRPr lang="en-US" sz="3200" dirty="0"/>
          </a:p>
        </p:txBody>
      </p:sp>
      <p:sp>
        <p:nvSpPr>
          <p:cNvPr id="5" name="Text 3"/>
          <p:cNvSpPr txBox="1"/>
          <p:nvPr/>
        </p:nvSpPr>
        <p:spPr>
          <a:xfrm>
            <a:off x="685800" y="1691640"/>
            <a:ext cx="10789920" cy="502920"/>
          </a:xfrm>
          <a:prstGeom prst="rect">
            <a:avLst/>
          </a:prstGeom>
          <a:noFill/>
          <a:ln/>
        </p:spPr>
        <p:txBody>
          <a:bodyPr wrap="square" lIns="0" tIns="0" rIns="0" bIns="0" rtlCol="0" anchor="ctr"/>
          <a:lstStyle/>
          <a:p>
            <a:pPr indent="0" marL="0">
              <a:buNone/>
            </a:pPr>
            <a:r>
              <a:rPr lang="en-US" sz="1400" dirty="0">
                <a:solidFill>
                  <a:srgbClr val="EAF4FB"/>
                </a:solidFill>
                <a:latin typeface="Arial" pitchFamily="34" charset="0"/>
                <a:ea typeface="Arial" pitchFamily="34" charset="-122"/>
                <a:cs typeface="Arial" pitchFamily="34" charset="-120"/>
              </a:rPr>
              <a:t>Hive was not a lone hacker but a criminal business. Its most damaging effect on Tata Power came from the theft and publication of data, not encryption alone.</a:t>
            </a:r>
            <a:endParaRPr lang="en-US" sz="1400" dirty="0"/>
          </a:p>
        </p:txBody>
      </p:sp>
      <p:sp>
        <p:nvSpPr>
          <p:cNvPr id="6" name="Shape 4"/>
          <p:cNvSpPr/>
          <p:nvPr/>
        </p:nvSpPr>
        <p:spPr>
          <a:xfrm>
            <a:off x="685800" y="2331720"/>
            <a:ext cx="5257800" cy="2011680"/>
          </a:xfrm>
          <a:prstGeom prst="roundRect">
            <a:avLst>
              <a:gd name="adj" fmla="val 4545"/>
            </a:avLst>
          </a:prstGeom>
          <a:solidFill>
            <a:srgbClr val="EAF4FB"/>
          </a:solidFill>
          <a:ln/>
          <a:effectLst>
            <a:outerShdw sx="100000" sy="100000" kx="0" ky="0" algn="bl" rotWithShape="0" blurRad="127000" dist="38100" dir="5400000">
              <a:srgbClr val="000000">
                <a:alpha val="35000"/>
              </a:srgbClr>
            </a:outerShdw>
          </a:effectLst>
        </p:spPr>
      </p:sp>
      <p:sp>
        <p:nvSpPr>
          <p:cNvPr id="7" name="Text 5"/>
          <p:cNvSpPr txBox="1"/>
          <p:nvPr/>
        </p:nvSpPr>
        <p:spPr>
          <a:xfrm>
            <a:off x="914400" y="2514600"/>
            <a:ext cx="4846320" cy="365760"/>
          </a:xfrm>
          <a:prstGeom prst="rect">
            <a:avLst/>
          </a:prstGeom>
          <a:noFill/>
          <a:ln/>
        </p:spPr>
        <p:txBody>
          <a:bodyPr wrap="square" lIns="0" tIns="0" rIns="0" bIns="0" rtlCol="0" anchor="ctr"/>
          <a:lstStyle/>
          <a:p>
            <a:pPr indent="0" marL="0">
              <a:buNone/>
            </a:pPr>
            <a:r>
              <a:rPr lang="en-US" sz="1500" b="1" dirty="0">
                <a:solidFill>
                  <a:srgbClr val="0E7A8C"/>
                </a:solidFill>
                <a:latin typeface="Arial" pitchFamily="34" charset="0"/>
                <a:ea typeface="Arial" pitchFamily="34" charset="-122"/>
                <a:cs typeface="Arial" pitchFamily="34" charset="-120"/>
              </a:rPr>
              <a:t>Part A · Ransomware-as-a-Service</a:t>
            </a:r>
            <a:endParaRPr lang="en-US" sz="1500" dirty="0"/>
          </a:p>
        </p:txBody>
      </p:sp>
      <p:sp>
        <p:nvSpPr>
          <p:cNvPr id="8" name="Text 6"/>
          <p:cNvSpPr txBox="1"/>
          <p:nvPr/>
        </p:nvSpPr>
        <p:spPr>
          <a:xfrm>
            <a:off x="914400" y="2926080"/>
            <a:ext cx="4800600" cy="1325880"/>
          </a:xfrm>
          <a:prstGeom prst="rect">
            <a:avLst/>
          </a:prstGeom>
          <a:noFill/>
          <a:ln/>
        </p:spPr>
        <p:txBody>
          <a:bodyPr wrap="square" lIns="0" tIns="0" rIns="0" bIns="0" rtlCol="0" anchor="ctr"/>
          <a:lstStyle/>
          <a:p>
            <a:pPr indent="0" marL="0">
              <a:lnSpc>
                <a:spcPct val="108000"/>
              </a:lnSpc>
              <a:buNone/>
            </a:pPr>
            <a:r>
              <a:rPr lang="en-US" sz="1300" dirty="0">
                <a:solidFill>
                  <a:srgbClr val="0B2A45"/>
                </a:solidFill>
                <a:latin typeface="Arial" pitchFamily="34" charset="0"/>
                <a:ea typeface="Arial" pitchFamily="34" charset="-122"/>
                <a:cs typeface="Arial" pitchFamily="34" charset="-120"/>
              </a:rPr>
              <a:t>A core Hive team built the ransomware, negotiation portal and leak site; affiliates ran the intrusions and kept ~80% of each ransom. This division of labour let many criminals attack at once.</a:t>
            </a:r>
            <a:endParaRPr lang="en-US" sz="1300" dirty="0"/>
          </a:p>
        </p:txBody>
      </p:sp>
      <p:sp>
        <p:nvSpPr>
          <p:cNvPr id="9" name="Shape 7"/>
          <p:cNvSpPr/>
          <p:nvPr/>
        </p:nvSpPr>
        <p:spPr>
          <a:xfrm>
            <a:off x="6263640" y="2331720"/>
            <a:ext cx="5239512" cy="2011680"/>
          </a:xfrm>
          <a:prstGeom prst="roundRect">
            <a:avLst>
              <a:gd name="adj" fmla="val 4545"/>
            </a:avLst>
          </a:prstGeom>
          <a:solidFill>
            <a:srgbClr val="EAF4FB"/>
          </a:solidFill>
          <a:ln/>
          <a:effectLst>
            <a:outerShdw sx="100000" sy="100000" kx="0" ky="0" algn="bl" rotWithShape="0" blurRad="127000" dist="38100" dir="5400000">
              <a:srgbClr val="000000">
                <a:alpha val="35000"/>
              </a:srgbClr>
            </a:outerShdw>
          </a:effectLst>
        </p:spPr>
      </p:sp>
      <p:sp>
        <p:nvSpPr>
          <p:cNvPr id="10" name="Text 8"/>
          <p:cNvSpPr txBox="1"/>
          <p:nvPr/>
        </p:nvSpPr>
        <p:spPr>
          <a:xfrm>
            <a:off x="6492240" y="2514600"/>
            <a:ext cx="4846320" cy="365760"/>
          </a:xfrm>
          <a:prstGeom prst="rect">
            <a:avLst/>
          </a:prstGeom>
          <a:noFill/>
          <a:ln/>
        </p:spPr>
        <p:txBody>
          <a:bodyPr wrap="square" lIns="0" tIns="0" rIns="0" bIns="0" rtlCol="0" anchor="ctr"/>
          <a:lstStyle/>
          <a:p>
            <a:pPr indent="0" marL="0">
              <a:buNone/>
            </a:pPr>
            <a:r>
              <a:rPr lang="en-US" sz="1500" b="1" dirty="0">
                <a:solidFill>
                  <a:srgbClr val="0E7A8C"/>
                </a:solidFill>
                <a:latin typeface="Arial" pitchFamily="34" charset="0"/>
                <a:ea typeface="Arial" pitchFamily="34" charset="-122"/>
                <a:cs typeface="Arial" pitchFamily="34" charset="-120"/>
              </a:rPr>
              <a:t>Part B · Double extortion &amp; the leak</a:t>
            </a:r>
            <a:endParaRPr lang="en-US" sz="1500" dirty="0"/>
          </a:p>
        </p:txBody>
      </p:sp>
      <p:sp>
        <p:nvSpPr>
          <p:cNvPr id="11" name="Text 9"/>
          <p:cNvSpPr txBox="1"/>
          <p:nvPr/>
        </p:nvSpPr>
        <p:spPr>
          <a:xfrm>
            <a:off x="6492240" y="2926080"/>
            <a:ext cx="4800600" cy="1325880"/>
          </a:xfrm>
          <a:prstGeom prst="rect">
            <a:avLst/>
          </a:prstGeom>
          <a:noFill/>
          <a:ln/>
        </p:spPr>
        <p:txBody>
          <a:bodyPr wrap="square" lIns="0" tIns="0" rIns="0" bIns="0" rtlCol="0" anchor="ctr"/>
          <a:lstStyle/>
          <a:p>
            <a:pPr indent="0" marL="0">
              <a:lnSpc>
                <a:spcPct val="108000"/>
              </a:lnSpc>
              <a:buNone/>
            </a:pPr>
            <a:r>
              <a:rPr lang="en-US" sz="1300" dirty="0">
                <a:solidFill>
                  <a:srgbClr val="0B2A45"/>
                </a:solidFill>
                <a:latin typeface="Arial" pitchFamily="34" charset="0"/>
                <a:ea typeface="Arial" pitchFamily="34" charset="-122"/>
                <a:cs typeface="Arial" pitchFamily="34" charset="-120"/>
              </a:rPr>
              <a:t>Before encrypting, attackers copied data out. When Tata Power declined to pay, Hive published emails, contracts, NDAs, drawings and employees' Aadhaar, PAN and salary details.</a:t>
            </a:r>
            <a:endParaRPr lang="en-US" sz="1300" dirty="0"/>
          </a:p>
        </p:txBody>
      </p:sp>
      <p:sp>
        <p:nvSpPr>
          <p:cNvPr id="12" name="Shape 10"/>
          <p:cNvSpPr/>
          <p:nvPr/>
        </p:nvSpPr>
        <p:spPr>
          <a:xfrm>
            <a:off x="822960" y="4480560"/>
            <a:ext cx="2148840" cy="777240"/>
          </a:xfrm>
          <a:prstGeom prst="roundRect">
            <a:avLst>
              <a:gd name="adj" fmla="val 9412"/>
            </a:avLst>
          </a:prstGeom>
          <a:solidFill>
            <a:srgbClr val="0B2A45"/>
          </a:solidFill>
          <a:ln/>
        </p:spPr>
      </p:sp>
      <p:sp>
        <p:nvSpPr>
          <p:cNvPr id="13" name="Text 11"/>
          <p:cNvSpPr txBox="1"/>
          <p:nvPr/>
        </p:nvSpPr>
        <p:spPr>
          <a:xfrm>
            <a:off x="822960" y="4480560"/>
            <a:ext cx="2148840" cy="777240"/>
          </a:xfrm>
          <a:prstGeom prst="rect">
            <a:avLst/>
          </a:prstGeom>
          <a:noFill/>
          <a:ln/>
        </p:spPr>
        <p:txBody>
          <a:bodyPr wrap="square" lIns="0" tIns="0" rIns="0" bIns="0" rtlCol="0" anchor="ctr"/>
          <a:lstStyle/>
          <a:p>
            <a:pPr algn="ctr" indent="0" marL="0">
              <a:buNone/>
            </a:pPr>
            <a:r>
              <a:rPr lang="en-US" sz="1250" b="1" dirty="0">
                <a:solidFill>
                  <a:srgbClr val="EAF4FB"/>
                </a:solidFill>
                <a:latin typeface="Arial" pitchFamily="34" charset="0"/>
                <a:ea typeface="Arial" pitchFamily="34" charset="-122"/>
                <a:cs typeface="Arial" pitchFamily="34" charset="-120"/>
              </a:rPr>
              <a:t>Affiliate breaks in</a:t>
            </a:r>
            <a:endParaRPr lang="en-US" sz="1250" dirty="0"/>
          </a:p>
        </p:txBody>
      </p:sp>
      <p:sp>
        <p:nvSpPr>
          <p:cNvPr id="14" name="Text 12"/>
          <p:cNvSpPr txBox="1"/>
          <p:nvPr/>
        </p:nvSpPr>
        <p:spPr>
          <a:xfrm>
            <a:off x="2958084" y="4681728"/>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3355848" y="4480560"/>
            <a:ext cx="2148840" cy="777240"/>
          </a:xfrm>
          <a:prstGeom prst="roundRect">
            <a:avLst>
              <a:gd name="adj" fmla="val 9412"/>
            </a:avLst>
          </a:prstGeom>
          <a:solidFill>
            <a:srgbClr val="0B2A45"/>
          </a:solidFill>
          <a:ln/>
        </p:spPr>
      </p:sp>
      <p:sp>
        <p:nvSpPr>
          <p:cNvPr id="16" name="Text 14"/>
          <p:cNvSpPr txBox="1"/>
          <p:nvPr/>
        </p:nvSpPr>
        <p:spPr>
          <a:xfrm>
            <a:off x="3355848" y="4480560"/>
            <a:ext cx="2148840" cy="777240"/>
          </a:xfrm>
          <a:prstGeom prst="rect">
            <a:avLst/>
          </a:prstGeom>
          <a:noFill/>
          <a:ln/>
        </p:spPr>
        <p:txBody>
          <a:bodyPr wrap="square" lIns="0" tIns="0" rIns="0" bIns="0" rtlCol="0" anchor="ctr"/>
          <a:lstStyle/>
          <a:p>
            <a:pPr algn="ctr" indent="0" marL="0">
              <a:buNone/>
            </a:pPr>
            <a:r>
              <a:rPr lang="en-US" sz="1250" b="1" dirty="0">
                <a:solidFill>
                  <a:srgbClr val="EAF4FB"/>
                </a:solidFill>
                <a:latin typeface="Arial" pitchFamily="34" charset="0"/>
                <a:ea typeface="Arial" pitchFamily="34" charset="-122"/>
                <a:cs typeface="Arial" pitchFamily="34" charset="-120"/>
              </a:rPr>
              <a:t>Steal data</a:t>
            </a:r>
            <a:endParaRPr lang="en-US" sz="1250" dirty="0"/>
          </a:p>
        </p:txBody>
      </p:sp>
      <p:sp>
        <p:nvSpPr>
          <p:cNvPr id="17" name="Text 15"/>
          <p:cNvSpPr txBox="1"/>
          <p:nvPr/>
        </p:nvSpPr>
        <p:spPr>
          <a:xfrm>
            <a:off x="5490972" y="4681728"/>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5888736" y="4480560"/>
            <a:ext cx="2148840" cy="777240"/>
          </a:xfrm>
          <a:prstGeom prst="roundRect">
            <a:avLst>
              <a:gd name="adj" fmla="val 9412"/>
            </a:avLst>
          </a:prstGeom>
          <a:solidFill>
            <a:srgbClr val="0B2A45"/>
          </a:solidFill>
          <a:ln/>
        </p:spPr>
      </p:sp>
      <p:sp>
        <p:nvSpPr>
          <p:cNvPr id="19" name="Text 17"/>
          <p:cNvSpPr txBox="1"/>
          <p:nvPr/>
        </p:nvSpPr>
        <p:spPr>
          <a:xfrm>
            <a:off x="5888736" y="4480560"/>
            <a:ext cx="2148840" cy="777240"/>
          </a:xfrm>
          <a:prstGeom prst="rect">
            <a:avLst/>
          </a:prstGeom>
          <a:noFill/>
          <a:ln/>
        </p:spPr>
        <p:txBody>
          <a:bodyPr wrap="square" lIns="0" tIns="0" rIns="0" bIns="0" rtlCol="0" anchor="ctr"/>
          <a:lstStyle/>
          <a:p>
            <a:pPr algn="ctr" indent="0" marL="0">
              <a:buNone/>
            </a:pPr>
            <a:r>
              <a:rPr lang="en-US" sz="1250" b="1" dirty="0">
                <a:solidFill>
                  <a:srgbClr val="EAF4FB"/>
                </a:solidFill>
                <a:latin typeface="Arial" pitchFamily="34" charset="0"/>
                <a:ea typeface="Arial" pitchFamily="34" charset="-122"/>
                <a:cs typeface="Arial" pitchFamily="34" charset="-120"/>
              </a:rPr>
              <a:t>Encrypt systems</a:t>
            </a:r>
            <a:endParaRPr lang="en-US" sz="1250" dirty="0"/>
          </a:p>
        </p:txBody>
      </p:sp>
      <p:sp>
        <p:nvSpPr>
          <p:cNvPr id="20" name="Text 18"/>
          <p:cNvSpPr txBox="1"/>
          <p:nvPr/>
        </p:nvSpPr>
        <p:spPr>
          <a:xfrm>
            <a:off x="8023860" y="4681728"/>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21" name="Shape 19"/>
          <p:cNvSpPr/>
          <p:nvPr/>
        </p:nvSpPr>
        <p:spPr>
          <a:xfrm>
            <a:off x="8421624" y="4480560"/>
            <a:ext cx="2148840" cy="777240"/>
          </a:xfrm>
          <a:prstGeom prst="roundRect">
            <a:avLst>
              <a:gd name="adj" fmla="val 9412"/>
            </a:avLst>
          </a:prstGeom>
          <a:solidFill>
            <a:srgbClr val="0B2A45"/>
          </a:solidFill>
          <a:ln/>
        </p:spPr>
      </p:sp>
      <p:sp>
        <p:nvSpPr>
          <p:cNvPr id="22" name="Text 20"/>
          <p:cNvSpPr txBox="1"/>
          <p:nvPr/>
        </p:nvSpPr>
        <p:spPr>
          <a:xfrm>
            <a:off x="8421624" y="4480560"/>
            <a:ext cx="2148840" cy="777240"/>
          </a:xfrm>
          <a:prstGeom prst="rect">
            <a:avLst/>
          </a:prstGeom>
          <a:noFill/>
          <a:ln/>
        </p:spPr>
        <p:txBody>
          <a:bodyPr wrap="square" lIns="0" tIns="0" rIns="0" bIns="0" rtlCol="0" anchor="ctr"/>
          <a:lstStyle/>
          <a:p>
            <a:pPr algn="ctr" indent="0" marL="0">
              <a:buNone/>
            </a:pPr>
            <a:r>
              <a:rPr lang="en-US" sz="1250" b="1" dirty="0">
                <a:solidFill>
                  <a:srgbClr val="EAF4FB"/>
                </a:solidFill>
                <a:latin typeface="Arial" pitchFamily="34" charset="0"/>
                <a:ea typeface="Arial" pitchFamily="34" charset="-122"/>
                <a:cs typeface="Arial" pitchFamily="34" charset="-120"/>
              </a:rPr>
              <a:t>Ransom demand</a:t>
            </a:r>
            <a:endParaRPr lang="en-US" sz="1250" dirty="0"/>
          </a:p>
        </p:txBody>
      </p:sp>
      <p:sp>
        <p:nvSpPr>
          <p:cNvPr id="23" name="Text 21"/>
          <p:cNvSpPr txBox="1"/>
          <p:nvPr/>
        </p:nvSpPr>
        <p:spPr>
          <a:xfrm>
            <a:off x="8421624" y="5230368"/>
            <a:ext cx="2148840" cy="320040"/>
          </a:xfrm>
          <a:prstGeom prst="rect">
            <a:avLst/>
          </a:prstGeom>
          <a:noFill/>
          <a:ln/>
        </p:spPr>
        <p:txBody>
          <a:bodyPr wrap="square" lIns="0" tIns="0" rIns="0" bIns="0" rtlCol="0" anchor="ctr"/>
          <a:lstStyle/>
          <a:p>
            <a:pPr algn="ctr" indent="0" marL="0">
              <a:buNone/>
            </a:pPr>
            <a:r>
              <a:rPr lang="en-US" sz="1600" b="1" dirty="0">
                <a:solidFill>
                  <a:srgbClr val="EF4444"/>
                </a:solidFill>
                <a:latin typeface="Arial" pitchFamily="34" charset="0"/>
                <a:ea typeface="Arial" pitchFamily="34" charset="-122"/>
                <a:cs typeface="Arial" pitchFamily="34" charset="-120"/>
              </a:rPr>
              <a:t>↓</a:t>
            </a:r>
            <a:endParaRPr lang="en-US" sz="1600" dirty="0"/>
          </a:p>
        </p:txBody>
      </p:sp>
      <p:sp>
        <p:nvSpPr>
          <p:cNvPr id="24" name="Shape 22"/>
          <p:cNvSpPr/>
          <p:nvPr/>
        </p:nvSpPr>
        <p:spPr>
          <a:xfrm>
            <a:off x="8421624" y="5532120"/>
            <a:ext cx="2148840" cy="457200"/>
          </a:xfrm>
          <a:prstGeom prst="roundRect">
            <a:avLst>
              <a:gd name="adj" fmla="val 12000"/>
            </a:avLst>
          </a:prstGeom>
          <a:solidFill>
            <a:srgbClr val="EF4444"/>
          </a:solidFill>
          <a:ln/>
        </p:spPr>
      </p:sp>
      <p:sp>
        <p:nvSpPr>
          <p:cNvPr id="25" name="Text 23"/>
          <p:cNvSpPr txBox="1"/>
          <p:nvPr/>
        </p:nvSpPr>
        <p:spPr>
          <a:xfrm>
            <a:off x="8421624" y="5532120"/>
            <a:ext cx="21488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Leak if refused</a:t>
            </a:r>
            <a:endParaRPr lang="en-US" sz="1200" dirty="0"/>
          </a:p>
        </p:txBody>
      </p:sp>
      <p:sp>
        <p:nvSpPr>
          <p:cNvPr id="26" name="Text 24"/>
          <p:cNvSpPr txBox="1"/>
          <p:nvPr/>
        </p:nvSpPr>
        <p:spPr>
          <a:xfrm>
            <a:off x="685800" y="6236208"/>
            <a:ext cx="10332720" cy="320040"/>
          </a:xfrm>
          <a:prstGeom prst="rect">
            <a:avLst/>
          </a:prstGeom>
          <a:noFill/>
          <a:ln/>
        </p:spPr>
        <p:txBody>
          <a:bodyPr wrap="square" lIns="0" tIns="0" rIns="0" bIns="0" rtlCol="0" anchor="ctr"/>
          <a:lstStyle/>
          <a:p>
            <a:pPr indent="0" marL="0">
              <a:buNone/>
            </a:pPr>
            <a:r>
              <a:rPr lang="en-US" sz="1000" dirty="0">
                <a:solidFill>
                  <a:srgbClr val="FBBF24"/>
                </a:solidFill>
                <a:latin typeface="Courier New" pitchFamily="34" charset="0"/>
                <a:ea typeface="Courier New" pitchFamily="34" charset="-122"/>
                <a:cs typeface="Courier New" pitchFamily="34" charset="-120"/>
              </a:rPr>
              <a:t>Between June 2021 and Nov 2022, Hive hit 1,300+ organisations worldwide and took in about US$100 million in ransoms.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7</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INCIDENT DYNAMICS</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400" b="1" dirty="0">
                <a:solidFill>
                  <a:srgbClr val="FFFFFF"/>
                </a:solidFill>
                <a:latin typeface="Arial" pitchFamily="34" charset="0"/>
                <a:ea typeface="Arial" pitchFamily="34" charset="-122"/>
                <a:cs typeface="Arial" pitchFamily="34" charset="-120"/>
              </a:rPr>
              <a:t>Hive's claim and the attack timeline</a:t>
            </a:r>
            <a:endParaRPr lang="en-US" sz="3400" dirty="0"/>
          </a:p>
        </p:txBody>
      </p:sp>
      <p:sp>
        <p:nvSpPr>
          <p:cNvPr id="5" name="Text 3"/>
          <p:cNvSpPr txBox="1"/>
          <p:nvPr/>
        </p:nvSpPr>
        <p:spPr>
          <a:xfrm>
            <a:off x="685800" y="1664208"/>
            <a:ext cx="10789920" cy="365760"/>
          </a:xfrm>
          <a:prstGeom prst="rect">
            <a:avLst/>
          </a:prstGeom>
          <a:noFill/>
          <a:ln/>
        </p:spPr>
        <p:txBody>
          <a:bodyPr wrap="square" lIns="0" tIns="0" rIns="0" bIns="0" rtlCol="0" anchor="ctr"/>
          <a:lstStyle/>
          <a:p>
            <a:pPr indent="0" marL="0">
              <a:buNone/>
            </a:pPr>
            <a:r>
              <a:rPr lang="en-US" sz="1350" dirty="0">
                <a:solidFill>
                  <a:srgbClr val="EAF4FB"/>
                </a:solidFill>
                <a:latin typeface="Arial" pitchFamily="34" charset="0"/>
                <a:ea typeface="Arial" pitchFamily="34" charset="-122"/>
                <a:cs typeface="Arial" pitchFamily="34" charset="-120"/>
              </a:rPr>
              <a:t>An IT disruption became a national data-protection story within weeks — from encryption to Hive's takedown.</a:t>
            </a:r>
            <a:endParaRPr lang="en-US" sz="1350" dirty="0"/>
          </a:p>
        </p:txBody>
      </p:sp>
      <p:sp>
        <p:nvSpPr>
          <p:cNvPr id="6" name="Shape 4"/>
          <p:cNvSpPr/>
          <p:nvPr/>
        </p:nvSpPr>
        <p:spPr>
          <a:xfrm>
            <a:off x="1005840" y="3794760"/>
            <a:ext cx="10149840" cy="27432"/>
          </a:xfrm>
          <a:prstGeom prst="rect">
            <a:avLst/>
          </a:prstGeom>
          <a:solidFill>
            <a:srgbClr val="0B2A45"/>
          </a:solidFill>
          <a:ln/>
        </p:spPr>
      </p:sp>
      <p:sp>
        <p:nvSpPr>
          <p:cNvPr id="7" name="Shape 5"/>
          <p:cNvSpPr/>
          <p:nvPr/>
        </p:nvSpPr>
        <p:spPr>
          <a:xfrm>
            <a:off x="1883664" y="3726180"/>
            <a:ext cx="164592" cy="164592"/>
          </a:xfrm>
          <a:prstGeom prst="ellipse">
            <a:avLst/>
          </a:prstGeom>
          <a:solidFill>
            <a:srgbClr val="22D3EE"/>
          </a:solidFill>
          <a:ln w="19050">
            <a:solidFill>
              <a:srgbClr val="06121F"/>
            </a:solidFill>
            <a:prstDash val="solid"/>
          </a:ln>
        </p:spPr>
      </p:sp>
      <p:sp>
        <p:nvSpPr>
          <p:cNvPr id="8" name="Shape 6"/>
          <p:cNvSpPr/>
          <p:nvPr/>
        </p:nvSpPr>
        <p:spPr>
          <a:xfrm>
            <a:off x="1005840" y="2377440"/>
            <a:ext cx="1920240" cy="1234440"/>
          </a:xfrm>
          <a:prstGeom prst="roundRect">
            <a:avLst>
              <a:gd name="adj" fmla="val 7407"/>
            </a:avLst>
          </a:prstGeom>
          <a:solidFill>
            <a:srgbClr val="EAF4FB"/>
          </a:solidFill>
          <a:ln/>
          <a:effectLst>
            <a:outerShdw sx="100000" sy="100000" kx="0" ky="0" algn="bl" rotWithShape="0" blurRad="127000" dist="38100" dir="5400000">
              <a:srgbClr val="000000">
                <a:alpha val="35000"/>
              </a:srgbClr>
            </a:outerShdw>
          </a:effectLst>
        </p:spPr>
      </p:sp>
      <p:sp>
        <p:nvSpPr>
          <p:cNvPr id="9" name="Text 7"/>
          <p:cNvSpPr txBox="1"/>
          <p:nvPr/>
        </p:nvSpPr>
        <p:spPr>
          <a:xfrm>
            <a:off x="1143000" y="2496312"/>
            <a:ext cx="1645920" cy="320040"/>
          </a:xfrm>
          <a:prstGeom prst="rect">
            <a:avLst/>
          </a:prstGeom>
          <a:noFill/>
          <a:ln/>
        </p:spPr>
        <p:txBody>
          <a:bodyPr wrap="square" lIns="0" tIns="0" rIns="0" bIns="0" rtlCol="0" anchor="ctr"/>
          <a:lstStyle/>
          <a:p>
            <a:pPr indent="0" marL="0">
              <a:buNone/>
            </a:pPr>
            <a:r>
              <a:rPr lang="en-US" sz="1250" b="1" dirty="0">
                <a:solidFill>
                  <a:srgbClr val="0E7A8C"/>
                </a:solidFill>
                <a:latin typeface="Courier New" pitchFamily="34" charset="0"/>
                <a:ea typeface="Courier New" pitchFamily="34" charset="-122"/>
                <a:cs typeface="Courier New" pitchFamily="34" charset="-120"/>
              </a:rPr>
              <a:t>3 Oct 2022</a:t>
            </a:r>
            <a:endParaRPr lang="en-US" sz="1250" dirty="0"/>
          </a:p>
        </p:txBody>
      </p:sp>
      <p:sp>
        <p:nvSpPr>
          <p:cNvPr id="10" name="Text 8"/>
          <p:cNvSpPr txBox="1"/>
          <p:nvPr/>
        </p:nvSpPr>
        <p:spPr>
          <a:xfrm>
            <a:off x="1143000" y="2834640"/>
            <a:ext cx="1645920" cy="731520"/>
          </a:xfrm>
          <a:prstGeom prst="rect">
            <a:avLst/>
          </a:prstGeom>
          <a:noFill/>
          <a:ln/>
        </p:spPr>
        <p:txBody>
          <a:bodyPr wrap="square" lIns="0" tIns="0" rIns="0" bIns="0" rtlCol="0" anchor="ctr"/>
          <a:lstStyle/>
          <a:p>
            <a:pPr indent="0" marL="0">
              <a:lnSpc>
                <a:spcPct val="98000"/>
              </a:lnSpc>
              <a:buNone/>
            </a:pPr>
            <a:r>
              <a:rPr lang="en-US" sz="1050" dirty="0">
                <a:solidFill>
                  <a:srgbClr val="0B2A45"/>
                </a:solidFill>
                <a:latin typeface="Arial" pitchFamily="34" charset="0"/>
                <a:ea typeface="Arial" pitchFamily="34" charset="-122"/>
                <a:cs typeface="Arial" pitchFamily="34" charset="-120"/>
              </a:rPr>
              <a:t>Hive later claims to have encrypted Tata Power's IT systems.</a:t>
            </a:r>
            <a:endParaRPr lang="en-US" sz="1050" dirty="0"/>
          </a:p>
        </p:txBody>
      </p:sp>
      <p:sp>
        <p:nvSpPr>
          <p:cNvPr id="11" name="Shape 9"/>
          <p:cNvSpPr/>
          <p:nvPr/>
        </p:nvSpPr>
        <p:spPr>
          <a:xfrm>
            <a:off x="1956816" y="3611880"/>
            <a:ext cx="18288" cy="182880"/>
          </a:xfrm>
          <a:prstGeom prst="rect">
            <a:avLst/>
          </a:prstGeom>
          <a:solidFill>
            <a:srgbClr val="0B2A45"/>
          </a:solidFill>
          <a:ln/>
        </p:spPr>
      </p:sp>
      <p:sp>
        <p:nvSpPr>
          <p:cNvPr id="12" name="Shape 10"/>
          <p:cNvSpPr/>
          <p:nvPr/>
        </p:nvSpPr>
        <p:spPr>
          <a:xfrm>
            <a:off x="3941064" y="3726180"/>
            <a:ext cx="164592" cy="164592"/>
          </a:xfrm>
          <a:prstGeom prst="ellipse">
            <a:avLst/>
          </a:prstGeom>
          <a:solidFill>
            <a:srgbClr val="22D3EE"/>
          </a:solidFill>
          <a:ln w="19050">
            <a:solidFill>
              <a:srgbClr val="06121F"/>
            </a:solidFill>
            <a:prstDash val="solid"/>
          </a:ln>
        </p:spPr>
      </p:sp>
      <p:sp>
        <p:nvSpPr>
          <p:cNvPr id="13" name="Shape 11"/>
          <p:cNvSpPr/>
          <p:nvPr/>
        </p:nvSpPr>
        <p:spPr>
          <a:xfrm>
            <a:off x="3063240" y="4114800"/>
            <a:ext cx="1920240" cy="1234440"/>
          </a:xfrm>
          <a:prstGeom prst="roundRect">
            <a:avLst>
              <a:gd name="adj" fmla="val 7407"/>
            </a:avLst>
          </a:prstGeom>
          <a:solidFill>
            <a:srgbClr val="EAF4FB"/>
          </a:solidFill>
          <a:ln/>
          <a:effectLst>
            <a:outerShdw sx="100000" sy="100000" kx="0" ky="0" algn="bl" rotWithShape="0" blurRad="127000" dist="38100" dir="5400000">
              <a:srgbClr val="000000">
                <a:alpha val="35000"/>
              </a:srgbClr>
            </a:outerShdw>
          </a:effectLst>
        </p:spPr>
      </p:sp>
      <p:sp>
        <p:nvSpPr>
          <p:cNvPr id="14" name="Text 12"/>
          <p:cNvSpPr txBox="1"/>
          <p:nvPr/>
        </p:nvSpPr>
        <p:spPr>
          <a:xfrm>
            <a:off x="3200400" y="4233672"/>
            <a:ext cx="1645920" cy="320040"/>
          </a:xfrm>
          <a:prstGeom prst="rect">
            <a:avLst/>
          </a:prstGeom>
          <a:noFill/>
          <a:ln/>
        </p:spPr>
        <p:txBody>
          <a:bodyPr wrap="square" lIns="0" tIns="0" rIns="0" bIns="0" rtlCol="0" anchor="ctr"/>
          <a:lstStyle/>
          <a:p>
            <a:pPr indent="0" marL="0">
              <a:buNone/>
            </a:pPr>
            <a:r>
              <a:rPr lang="en-US" sz="1250" b="1" dirty="0">
                <a:solidFill>
                  <a:srgbClr val="0E7A8C"/>
                </a:solidFill>
                <a:latin typeface="Courier New" pitchFamily="34" charset="0"/>
                <a:ea typeface="Courier New" pitchFamily="34" charset="-122"/>
                <a:cs typeface="Courier New" pitchFamily="34" charset="-120"/>
              </a:rPr>
              <a:t>14 Oct 2022</a:t>
            </a:r>
            <a:endParaRPr lang="en-US" sz="1250" dirty="0"/>
          </a:p>
        </p:txBody>
      </p:sp>
      <p:sp>
        <p:nvSpPr>
          <p:cNvPr id="15" name="Text 13"/>
          <p:cNvSpPr txBox="1"/>
          <p:nvPr/>
        </p:nvSpPr>
        <p:spPr>
          <a:xfrm>
            <a:off x="3200400" y="4572000"/>
            <a:ext cx="1645920" cy="731520"/>
          </a:xfrm>
          <a:prstGeom prst="rect">
            <a:avLst/>
          </a:prstGeom>
          <a:noFill/>
          <a:ln/>
        </p:spPr>
        <p:txBody>
          <a:bodyPr wrap="square" lIns="0" tIns="0" rIns="0" bIns="0" rtlCol="0" anchor="ctr"/>
          <a:lstStyle/>
          <a:p>
            <a:pPr indent="0" marL="0">
              <a:lnSpc>
                <a:spcPct val="98000"/>
              </a:lnSpc>
              <a:buNone/>
            </a:pPr>
            <a:r>
              <a:rPr lang="en-US" sz="1050" dirty="0">
                <a:solidFill>
                  <a:srgbClr val="0B2A45"/>
                </a:solidFill>
                <a:latin typeface="Arial" pitchFamily="34" charset="0"/>
                <a:ea typeface="Arial" pitchFamily="34" charset="-122"/>
                <a:cs typeface="Arial" pitchFamily="34" charset="-120"/>
              </a:rPr>
              <a:t>Tata Power discloses the attack to the BSE and NSE; firewall audits begin.</a:t>
            </a:r>
            <a:endParaRPr lang="en-US" sz="1050" dirty="0"/>
          </a:p>
        </p:txBody>
      </p:sp>
      <p:sp>
        <p:nvSpPr>
          <p:cNvPr id="16" name="Shape 14"/>
          <p:cNvSpPr/>
          <p:nvPr/>
        </p:nvSpPr>
        <p:spPr>
          <a:xfrm>
            <a:off x="4014216" y="3794760"/>
            <a:ext cx="18288" cy="320040"/>
          </a:xfrm>
          <a:prstGeom prst="rect">
            <a:avLst/>
          </a:prstGeom>
          <a:solidFill>
            <a:srgbClr val="0B2A45"/>
          </a:solidFill>
          <a:ln/>
        </p:spPr>
      </p:sp>
      <p:sp>
        <p:nvSpPr>
          <p:cNvPr id="17" name="Shape 15"/>
          <p:cNvSpPr/>
          <p:nvPr/>
        </p:nvSpPr>
        <p:spPr>
          <a:xfrm>
            <a:off x="5998464" y="3726180"/>
            <a:ext cx="164592" cy="164592"/>
          </a:xfrm>
          <a:prstGeom prst="ellipse">
            <a:avLst/>
          </a:prstGeom>
          <a:solidFill>
            <a:srgbClr val="22D3EE"/>
          </a:solidFill>
          <a:ln w="19050">
            <a:solidFill>
              <a:srgbClr val="06121F"/>
            </a:solidFill>
            <a:prstDash val="solid"/>
          </a:ln>
        </p:spPr>
      </p:sp>
      <p:sp>
        <p:nvSpPr>
          <p:cNvPr id="18" name="Shape 16"/>
          <p:cNvSpPr/>
          <p:nvPr/>
        </p:nvSpPr>
        <p:spPr>
          <a:xfrm>
            <a:off x="5120640" y="2377440"/>
            <a:ext cx="1920240" cy="1234440"/>
          </a:xfrm>
          <a:prstGeom prst="roundRect">
            <a:avLst>
              <a:gd name="adj" fmla="val 7407"/>
            </a:avLst>
          </a:prstGeom>
          <a:solidFill>
            <a:srgbClr val="EAF4FB"/>
          </a:solidFill>
          <a:ln/>
          <a:effectLst>
            <a:outerShdw sx="100000" sy="100000" kx="0" ky="0" algn="bl" rotWithShape="0" blurRad="127000" dist="38100" dir="5400000">
              <a:srgbClr val="000000">
                <a:alpha val="35000"/>
              </a:srgbClr>
            </a:outerShdw>
          </a:effectLst>
        </p:spPr>
      </p:sp>
      <p:sp>
        <p:nvSpPr>
          <p:cNvPr id="19" name="Text 17"/>
          <p:cNvSpPr txBox="1"/>
          <p:nvPr/>
        </p:nvSpPr>
        <p:spPr>
          <a:xfrm>
            <a:off x="5257800" y="2496312"/>
            <a:ext cx="1645920" cy="320040"/>
          </a:xfrm>
          <a:prstGeom prst="rect">
            <a:avLst/>
          </a:prstGeom>
          <a:noFill/>
          <a:ln/>
        </p:spPr>
        <p:txBody>
          <a:bodyPr wrap="square" lIns="0" tIns="0" rIns="0" bIns="0" rtlCol="0" anchor="ctr"/>
          <a:lstStyle/>
          <a:p>
            <a:pPr indent="0" marL="0">
              <a:buNone/>
            </a:pPr>
            <a:r>
              <a:rPr lang="en-US" sz="1250" b="1" dirty="0">
                <a:solidFill>
                  <a:srgbClr val="0E7A8C"/>
                </a:solidFill>
                <a:latin typeface="Courier New" pitchFamily="34" charset="0"/>
                <a:ea typeface="Courier New" pitchFamily="34" charset="-122"/>
                <a:cs typeface="Courier New" pitchFamily="34" charset="-120"/>
              </a:rPr>
              <a:t>24–25 Oct 2022</a:t>
            </a:r>
            <a:endParaRPr lang="en-US" sz="1250" dirty="0"/>
          </a:p>
        </p:txBody>
      </p:sp>
      <p:sp>
        <p:nvSpPr>
          <p:cNvPr id="20" name="Text 18"/>
          <p:cNvSpPr txBox="1"/>
          <p:nvPr/>
        </p:nvSpPr>
        <p:spPr>
          <a:xfrm>
            <a:off x="5257800" y="2834640"/>
            <a:ext cx="1645920" cy="731520"/>
          </a:xfrm>
          <a:prstGeom prst="rect">
            <a:avLst/>
          </a:prstGeom>
          <a:noFill/>
          <a:ln/>
        </p:spPr>
        <p:txBody>
          <a:bodyPr wrap="square" lIns="0" tIns="0" rIns="0" bIns="0" rtlCol="0" anchor="ctr"/>
          <a:lstStyle/>
          <a:p>
            <a:pPr indent="0" marL="0">
              <a:lnSpc>
                <a:spcPct val="98000"/>
              </a:lnSpc>
              <a:buNone/>
            </a:pPr>
            <a:r>
              <a:rPr lang="en-US" sz="1050" dirty="0">
                <a:solidFill>
                  <a:srgbClr val="0B2A45"/>
                </a:solidFill>
                <a:latin typeface="Arial" pitchFamily="34" charset="0"/>
                <a:ea typeface="Arial" pitchFamily="34" charset="-122"/>
                <a:cs typeface="Arial" pitchFamily="34" charset="-120"/>
              </a:rPr>
              <a:t>Hive lists Tata Power on its leak site and publishes Aadhaar, PAN, salary data and drawings.</a:t>
            </a:r>
            <a:endParaRPr lang="en-US" sz="1050" dirty="0"/>
          </a:p>
        </p:txBody>
      </p:sp>
      <p:sp>
        <p:nvSpPr>
          <p:cNvPr id="21" name="Shape 19"/>
          <p:cNvSpPr/>
          <p:nvPr/>
        </p:nvSpPr>
        <p:spPr>
          <a:xfrm>
            <a:off x="6071616" y="3611880"/>
            <a:ext cx="18288" cy="182880"/>
          </a:xfrm>
          <a:prstGeom prst="rect">
            <a:avLst/>
          </a:prstGeom>
          <a:solidFill>
            <a:srgbClr val="0B2A45"/>
          </a:solidFill>
          <a:ln/>
        </p:spPr>
      </p:sp>
      <p:sp>
        <p:nvSpPr>
          <p:cNvPr id="22" name="Shape 20"/>
          <p:cNvSpPr/>
          <p:nvPr/>
        </p:nvSpPr>
        <p:spPr>
          <a:xfrm>
            <a:off x="8055864" y="3726180"/>
            <a:ext cx="164592" cy="164592"/>
          </a:xfrm>
          <a:prstGeom prst="ellipse">
            <a:avLst/>
          </a:prstGeom>
          <a:solidFill>
            <a:srgbClr val="22D3EE"/>
          </a:solidFill>
          <a:ln w="19050">
            <a:solidFill>
              <a:srgbClr val="06121F"/>
            </a:solidFill>
            <a:prstDash val="solid"/>
          </a:ln>
        </p:spPr>
      </p:sp>
      <p:sp>
        <p:nvSpPr>
          <p:cNvPr id="23" name="Shape 21"/>
          <p:cNvSpPr/>
          <p:nvPr/>
        </p:nvSpPr>
        <p:spPr>
          <a:xfrm>
            <a:off x="7178040" y="4114800"/>
            <a:ext cx="1920240" cy="1234440"/>
          </a:xfrm>
          <a:prstGeom prst="roundRect">
            <a:avLst>
              <a:gd name="adj" fmla="val 7407"/>
            </a:avLst>
          </a:prstGeom>
          <a:solidFill>
            <a:srgbClr val="EAF4FB"/>
          </a:solidFill>
          <a:ln/>
          <a:effectLst>
            <a:outerShdw sx="100000" sy="100000" kx="0" ky="0" algn="bl" rotWithShape="0" blurRad="127000" dist="38100" dir="5400000">
              <a:srgbClr val="000000">
                <a:alpha val="35000"/>
              </a:srgbClr>
            </a:outerShdw>
          </a:effectLst>
        </p:spPr>
      </p:sp>
      <p:sp>
        <p:nvSpPr>
          <p:cNvPr id="24" name="Text 22"/>
          <p:cNvSpPr txBox="1"/>
          <p:nvPr/>
        </p:nvSpPr>
        <p:spPr>
          <a:xfrm>
            <a:off x="7315200" y="4233672"/>
            <a:ext cx="1645920" cy="320040"/>
          </a:xfrm>
          <a:prstGeom prst="rect">
            <a:avLst/>
          </a:prstGeom>
          <a:noFill/>
          <a:ln/>
        </p:spPr>
        <p:txBody>
          <a:bodyPr wrap="square" lIns="0" tIns="0" rIns="0" bIns="0" rtlCol="0" anchor="ctr"/>
          <a:lstStyle/>
          <a:p>
            <a:pPr indent="0" marL="0">
              <a:buNone/>
            </a:pPr>
            <a:r>
              <a:rPr lang="en-US" sz="1250" b="1" dirty="0">
                <a:solidFill>
                  <a:srgbClr val="0E7A8C"/>
                </a:solidFill>
                <a:latin typeface="Courier New" pitchFamily="34" charset="0"/>
                <a:ea typeface="Courier New" pitchFamily="34" charset="-122"/>
                <a:cs typeface="Courier New" pitchFamily="34" charset="-120"/>
              </a:rPr>
              <a:t>Nov 2022</a:t>
            </a:r>
            <a:endParaRPr lang="en-US" sz="1250" dirty="0"/>
          </a:p>
        </p:txBody>
      </p:sp>
      <p:sp>
        <p:nvSpPr>
          <p:cNvPr id="25" name="Text 23"/>
          <p:cNvSpPr txBox="1"/>
          <p:nvPr/>
        </p:nvSpPr>
        <p:spPr>
          <a:xfrm>
            <a:off x="7315200" y="4572000"/>
            <a:ext cx="1645920" cy="731520"/>
          </a:xfrm>
          <a:prstGeom prst="rect">
            <a:avLst/>
          </a:prstGeom>
          <a:noFill/>
          <a:ln/>
        </p:spPr>
        <p:txBody>
          <a:bodyPr wrap="square" lIns="0" tIns="0" rIns="0" bIns="0" rtlCol="0" anchor="ctr"/>
          <a:lstStyle/>
          <a:p>
            <a:pPr indent="0" marL="0">
              <a:lnSpc>
                <a:spcPct val="98000"/>
              </a:lnSpc>
              <a:buNone/>
            </a:pPr>
            <a:r>
              <a:rPr lang="en-US" sz="1050" dirty="0">
                <a:solidFill>
                  <a:srgbClr val="0B2A45"/>
                </a:solidFill>
                <a:latin typeface="Arial" pitchFamily="34" charset="0"/>
                <a:ea typeface="Arial" pitchFamily="34" charset="-122"/>
                <a:cs typeface="Arial" pitchFamily="34" charset="-120"/>
              </a:rPr>
              <a:t>Microsoft research cites the attack amid a trend of targeting Indian grid assets.</a:t>
            </a:r>
            <a:endParaRPr lang="en-US" sz="1050" dirty="0"/>
          </a:p>
        </p:txBody>
      </p:sp>
      <p:sp>
        <p:nvSpPr>
          <p:cNvPr id="26" name="Shape 24"/>
          <p:cNvSpPr/>
          <p:nvPr/>
        </p:nvSpPr>
        <p:spPr>
          <a:xfrm>
            <a:off x="8129016" y="3794760"/>
            <a:ext cx="18288" cy="320040"/>
          </a:xfrm>
          <a:prstGeom prst="rect">
            <a:avLst/>
          </a:prstGeom>
          <a:solidFill>
            <a:srgbClr val="0B2A45"/>
          </a:solidFill>
          <a:ln/>
        </p:spPr>
      </p:sp>
      <p:sp>
        <p:nvSpPr>
          <p:cNvPr id="27" name="Shape 25"/>
          <p:cNvSpPr/>
          <p:nvPr/>
        </p:nvSpPr>
        <p:spPr>
          <a:xfrm>
            <a:off x="10113264" y="3726180"/>
            <a:ext cx="164592" cy="164592"/>
          </a:xfrm>
          <a:prstGeom prst="ellipse">
            <a:avLst/>
          </a:prstGeom>
          <a:solidFill>
            <a:srgbClr val="16A34A"/>
          </a:solidFill>
          <a:ln w="19050">
            <a:solidFill>
              <a:srgbClr val="06121F"/>
            </a:solidFill>
            <a:prstDash val="solid"/>
          </a:ln>
        </p:spPr>
      </p:sp>
      <p:sp>
        <p:nvSpPr>
          <p:cNvPr id="28" name="Shape 26"/>
          <p:cNvSpPr/>
          <p:nvPr/>
        </p:nvSpPr>
        <p:spPr>
          <a:xfrm>
            <a:off x="9235440" y="2377440"/>
            <a:ext cx="1920240" cy="1234440"/>
          </a:xfrm>
          <a:prstGeom prst="roundRect">
            <a:avLst>
              <a:gd name="adj" fmla="val 7407"/>
            </a:avLst>
          </a:prstGeom>
          <a:solidFill>
            <a:srgbClr val="EAF4FB"/>
          </a:solidFill>
          <a:ln/>
          <a:effectLst>
            <a:outerShdw sx="100000" sy="100000" kx="0" ky="0" algn="bl" rotWithShape="0" blurRad="127000" dist="38100" dir="5400000">
              <a:srgbClr val="000000">
                <a:alpha val="35000"/>
              </a:srgbClr>
            </a:outerShdw>
          </a:effectLst>
        </p:spPr>
      </p:sp>
      <p:sp>
        <p:nvSpPr>
          <p:cNvPr id="29" name="Text 27"/>
          <p:cNvSpPr txBox="1"/>
          <p:nvPr/>
        </p:nvSpPr>
        <p:spPr>
          <a:xfrm>
            <a:off x="9372600" y="2496312"/>
            <a:ext cx="1645920" cy="320040"/>
          </a:xfrm>
          <a:prstGeom prst="rect">
            <a:avLst/>
          </a:prstGeom>
          <a:noFill/>
          <a:ln/>
        </p:spPr>
        <p:txBody>
          <a:bodyPr wrap="square" lIns="0" tIns="0" rIns="0" bIns="0" rtlCol="0" anchor="ctr"/>
          <a:lstStyle/>
          <a:p>
            <a:pPr indent="0" marL="0">
              <a:buNone/>
            </a:pPr>
            <a:r>
              <a:rPr lang="en-US" sz="1250" b="1" dirty="0">
                <a:solidFill>
                  <a:srgbClr val="0E7A8C"/>
                </a:solidFill>
                <a:latin typeface="Courier New" pitchFamily="34" charset="0"/>
                <a:ea typeface="Courier New" pitchFamily="34" charset="-122"/>
                <a:cs typeface="Courier New" pitchFamily="34" charset="-120"/>
              </a:rPr>
              <a:t>26 Jan 2023</a:t>
            </a:r>
            <a:endParaRPr lang="en-US" sz="1250" dirty="0"/>
          </a:p>
        </p:txBody>
      </p:sp>
      <p:sp>
        <p:nvSpPr>
          <p:cNvPr id="30" name="Text 28"/>
          <p:cNvSpPr txBox="1"/>
          <p:nvPr/>
        </p:nvSpPr>
        <p:spPr>
          <a:xfrm>
            <a:off x="9372600" y="2834640"/>
            <a:ext cx="1645920" cy="731520"/>
          </a:xfrm>
          <a:prstGeom prst="rect">
            <a:avLst/>
          </a:prstGeom>
          <a:noFill/>
          <a:ln/>
        </p:spPr>
        <p:txBody>
          <a:bodyPr wrap="square" lIns="0" tIns="0" rIns="0" bIns="0" rtlCol="0" anchor="ctr"/>
          <a:lstStyle/>
          <a:p>
            <a:pPr indent="0" marL="0">
              <a:lnSpc>
                <a:spcPct val="98000"/>
              </a:lnSpc>
              <a:buNone/>
            </a:pPr>
            <a:r>
              <a:rPr lang="en-US" sz="1050" dirty="0">
                <a:solidFill>
                  <a:srgbClr val="0B2A45"/>
                </a:solidFill>
                <a:latin typeface="Arial" pitchFamily="34" charset="0"/>
                <a:ea typeface="Arial" pitchFamily="34" charset="-122"/>
                <a:cs typeface="Arial" pitchFamily="34" charset="-120"/>
              </a:rPr>
              <a:t>The FBI, with German and Dutch partners, seizes Hive's infrastructure.</a:t>
            </a:r>
            <a:endParaRPr lang="en-US" sz="1050" dirty="0"/>
          </a:p>
        </p:txBody>
      </p:sp>
      <p:sp>
        <p:nvSpPr>
          <p:cNvPr id="31" name="Shape 29"/>
          <p:cNvSpPr/>
          <p:nvPr/>
        </p:nvSpPr>
        <p:spPr>
          <a:xfrm>
            <a:off x="10186416" y="3611880"/>
            <a:ext cx="18288" cy="182880"/>
          </a:xfrm>
          <a:prstGeom prst="rect">
            <a:avLst/>
          </a:prstGeom>
          <a:solidFill>
            <a:srgbClr val="0B2A45"/>
          </a:solidFill>
          <a:ln/>
        </p:spPr>
      </p:sp>
      <p:sp>
        <p:nvSpPr>
          <p:cNvPr id="32" name="Text 30"/>
          <p:cNvSpPr txBox="1"/>
          <p:nvPr/>
        </p:nvSpPr>
        <p:spPr>
          <a:xfrm>
            <a:off x="685800" y="6172200"/>
            <a:ext cx="10789920" cy="274320"/>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Sources: Tata Power BSE/NSE filing (2022); Security Affairs (2022); Microsoft (2022); U.S. DoJ / FBI (2023).</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8</a:t>
            </a:r>
            <a:endParaRPr lang="en-US" sz="1100" dirty="0"/>
          </a:p>
        </p:txBody>
      </p:sp>
      <p:sp>
        <p:nvSpPr>
          <p:cNvPr id="3" name="Text 1"/>
          <p:cNvSpPr txBox="1"/>
          <p:nvPr/>
        </p:nvSpPr>
        <p:spPr>
          <a:xfrm>
            <a:off x="685800" y="502920"/>
            <a:ext cx="64008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STAKEHOLDER CONSEQUENCES</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400" b="1" dirty="0">
                <a:solidFill>
                  <a:srgbClr val="FFFFFF"/>
                </a:solidFill>
                <a:latin typeface="Arial" pitchFamily="34" charset="0"/>
                <a:ea typeface="Arial" pitchFamily="34" charset="-122"/>
                <a:cs typeface="Arial" pitchFamily="34" charset="-120"/>
              </a:rPr>
              <a:t>Impact on Tata Power and stakeholders</a:t>
            </a:r>
            <a:endParaRPr lang="en-US" sz="3400" dirty="0"/>
          </a:p>
        </p:txBody>
      </p:sp>
      <p:sp>
        <p:nvSpPr>
          <p:cNvPr id="5" name="Text 3"/>
          <p:cNvSpPr txBox="1"/>
          <p:nvPr/>
        </p:nvSpPr>
        <p:spPr>
          <a:xfrm>
            <a:off x="685800" y="1737360"/>
            <a:ext cx="10789920" cy="457200"/>
          </a:xfrm>
          <a:prstGeom prst="rect">
            <a:avLst/>
          </a:prstGeom>
          <a:noFill/>
          <a:ln/>
        </p:spPr>
        <p:txBody>
          <a:bodyPr wrap="square" lIns="0" tIns="0" rIns="0" bIns="0" rtlCol="0" anchor="ctr"/>
          <a:lstStyle/>
          <a:p>
            <a:pPr indent="0" marL="0">
              <a:buNone/>
            </a:pPr>
            <a:r>
              <a:rPr lang="en-US" sz="1400" dirty="0">
                <a:solidFill>
                  <a:srgbClr val="EAF4FB"/>
                </a:solidFill>
                <a:latin typeface="Arial" pitchFamily="34" charset="0"/>
                <a:ea typeface="Arial" pitchFamily="34" charset="-122"/>
                <a:cs typeface="Arial" pitchFamily="34" charset="-120"/>
              </a:rPr>
              <a:t>The impact fell mainly on data and trust, not electricity. Over 12 million consumers kept power — but leaked identities cannot simply be reset.</a:t>
            </a:r>
            <a:endParaRPr lang="en-US" sz="1400" dirty="0"/>
          </a:p>
        </p:txBody>
      </p:sp>
      <p:sp>
        <p:nvSpPr>
          <p:cNvPr id="6" name="Shape 4"/>
          <p:cNvSpPr/>
          <p:nvPr/>
        </p:nvSpPr>
        <p:spPr>
          <a:xfrm>
            <a:off x="685800" y="2331720"/>
            <a:ext cx="2331720" cy="1371600"/>
          </a:xfrm>
          <a:prstGeom prst="roundRect">
            <a:avLst>
              <a:gd name="adj" fmla="val 6667"/>
            </a:avLst>
          </a:prstGeom>
          <a:solidFill>
            <a:srgbClr val="0B2A45"/>
          </a:solidFill>
          <a:ln/>
          <a:effectLst>
            <a:outerShdw sx="100000" sy="100000" kx="0" ky="0" algn="bl" rotWithShape="0" blurRad="127000" dist="38100" dir="5400000">
              <a:srgbClr val="000000">
                <a:alpha val="35000"/>
              </a:srgbClr>
            </a:outerShdw>
          </a:effectLst>
        </p:spPr>
      </p:sp>
      <p:sp>
        <p:nvSpPr>
          <p:cNvPr id="7" name="Text 5"/>
          <p:cNvSpPr txBox="1"/>
          <p:nvPr/>
        </p:nvSpPr>
        <p:spPr>
          <a:xfrm>
            <a:off x="795528" y="2487168"/>
            <a:ext cx="2103120" cy="640080"/>
          </a:xfrm>
          <a:prstGeom prst="rect">
            <a:avLst/>
          </a:prstGeom>
          <a:noFill/>
          <a:ln/>
        </p:spPr>
        <p:txBody>
          <a:bodyPr wrap="square" lIns="0" tIns="0" rIns="0" bIns="0" rtlCol="0" anchor="ctr"/>
          <a:lstStyle/>
          <a:p>
            <a:pPr algn="ctr" indent="0" marL="0">
              <a:buNone/>
            </a:pPr>
            <a:r>
              <a:rPr lang="en-US" sz="3400" b="1" dirty="0">
                <a:solidFill>
                  <a:srgbClr val="22D3EE"/>
                </a:solidFill>
                <a:latin typeface="Courier New" pitchFamily="34" charset="0"/>
                <a:ea typeface="Courier New" pitchFamily="34" charset="-122"/>
                <a:cs typeface="Courier New" pitchFamily="34" charset="-120"/>
              </a:rPr>
              <a:t>12M+</a:t>
            </a:r>
            <a:endParaRPr lang="en-US" sz="3400" dirty="0"/>
          </a:p>
        </p:txBody>
      </p:sp>
      <p:sp>
        <p:nvSpPr>
          <p:cNvPr id="8" name="Text 6"/>
          <p:cNvSpPr txBox="1"/>
          <p:nvPr/>
        </p:nvSpPr>
        <p:spPr>
          <a:xfrm>
            <a:off x="822960" y="3127248"/>
            <a:ext cx="2057400" cy="502920"/>
          </a:xfrm>
          <a:prstGeom prst="rect">
            <a:avLst/>
          </a:prstGeom>
          <a:noFill/>
          <a:ln/>
        </p:spPr>
        <p:txBody>
          <a:bodyPr wrap="square" lIns="0" tIns="0" rIns="0" bIns="0" rtlCol="0" anchor="ctr"/>
          <a:lstStyle/>
          <a:p>
            <a:pPr algn="ctr" indent="0" marL="0">
              <a:lnSpc>
                <a:spcPct val="95000"/>
              </a:lnSpc>
              <a:buNone/>
            </a:pPr>
            <a:r>
              <a:rPr lang="en-US" sz="1100" dirty="0">
                <a:solidFill>
                  <a:srgbClr val="EAF4FB"/>
                </a:solidFill>
                <a:latin typeface="Arial" pitchFamily="34" charset="0"/>
                <a:ea typeface="Arial" pitchFamily="34" charset="-122"/>
                <a:cs typeface="Arial" pitchFamily="34" charset="-120"/>
              </a:rPr>
              <a:t>consumers — none lost power</a:t>
            </a:r>
            <a:endParaRPr lang="en-US" sz="1100" dirty="0"/>
          </a:p>
        </p:txBody>
      </p:sp>
      <p:sp>
        <p:nvSpPr>
          <p:cNvPr id="9" name="Shape 7"/>
          <p:cNvSpPr/>
          <p:nvPr/>
        </p:nvSpPr>
        <p:spPr>
          <a:xfrm>
            <a:off x="3200400" y="2331720"/>
            <a:ext cx="2331720" cy="1371600"/>
          </a:xfrm>
          <a:prstGeom prst="roundRect">
            <a:avLst>
              <a:gd name="adj" fmla="val 6667"/>
            </a:avLst>
          </a:prstGeom>
          <a:solidFill>
            <a:srgbClr val="0B2A45"/>
          </a:solidFill>
          <a:ln/>
          <a:effectLst>
            <a:outerShdw sx="100000" sy="100000" kx="0" ky="0" algn="bl" rotWithShape="0" blurRad="127000" dist="38100" dir="5400000">
              <a:srgbClr val="000000">
                <a:alpha val="35000"/>
              </a:srgbClr>
            </a:outerShdw>
          </a:effectLst>
        </p:spPr>
      </p:sp>
      <p:sp>
        <p:nvSpPr>
          <p:cNvPr id="10" name="Text 8"/>
          <p:cNvSpPr txBox="1"/>
          <p:nvPr/>
        </p:nvSpPr>
        <p:spPr>
          <a:xfrm>
            <a:off x="3310128" y="2487168"/>
            <a:ext cx="2103120" cy="640080"/>
          </a:xfrm>
          <a:prstGeom prst="rect">
            <a:avLst/>
          </a:prstGeom>
          <a:noFill/>
          <a:ln/>
        </p:spPr>
        <p:txBody>
          <a:bodyPr wrap="square" lIns="0" tIns="0" rIns="0" bIns="0" rtlCol="0" anchor="ctr"/>
          <a:lstStyle/>
          <a:p>
            <a:pPr algn="ctr" indent="0" marL="0">
              <a:buNone/>
            </a:pPr>
            <a:r>
              <a:rPr lang="en-US" sz="3400" b="1" dirty="0">
                <a:solidFill>
                  <a:srgbClr val="22D3EE"/>
                </a:solidFill>
                <a:latin typeface="Courier New" pitchFamily="34" charset="0"/>
                <a:ea typeface="Courier New" pitchFamily="34" charset="-122"/>
                <a:cs typeface="Courier New" pitchFamily="34" charset="-120"/>
              </a:rPr>
              <a:t>0</a:t>
            </a:r>
            <a:endParaRPr lang="en-US" sz="3400" dirty="0"/>
          </a:p>
        </p:txBody>
      </p:sp>
      <p:sp>
        <p:nvSpPr>
          <p:cNvPr id="11" name="Text 9"/>
          <p:cNvSpPr txBox="1"/>
          <p:nvPr/>
        </p:nvSpPr>
        <p:spPr>
          <a:xfrm>
            <a:off x="3337560" y="3127248"/>
            <a:ext cx="2057400" cy="502920"/>
          </a:xfrm>
          <a:prstGeom prst="rect">
            <a:avLst/>
          </a:prstGeom>
          <a:noFill/>
          <a:ln/>
        </p:spPr>
        <p:txBody>
          <a:bodyPr wrap="square" lIns="0" tIns="0" rIns="0" bIns="0" rtlCol="0" anchor="ctr"/>
          <a:lstStyle/>
          <a:p>
            <a:pPr algn="ctr" indent="0" marL="0">
              <a:lnSpc>
                <a:spcPct val="95000"/>
              </a:lnSpc>
              <a:buNone/>
            </a:pPr>
            <a:r>
              <a:rPr lang="en-US" sz="1100" dirty="0">
                <a:solidFill>
                  <a:srgbClr val="EAF4FB"/>
                </a:solidFill>
                <a:latin typeface="Arial" pitchFamily="34" charset="0"/>
                <a:ea typeface="Arial" pitchFamily="34" charset="-122"/>
                <a:cs typeface="Arial" pitchFamily="34" charset="-120"/>
              </a:rPr>
              <a:t>interruption to electricity supply</a:t>
            </a:r>
            <a:endParaRPr lang="en-US" sz="1100" dirty="0"/>
          </a:p>
        </p:txBody>
      </p:sp>
      <p:sp>
        <p:nvSpPr>
          <p:cNvPr id="12" name="Shape 10"/>
          <p:cNvSpPr/>
          <p:nvPr/>
        </p:nvSpPr>
        <p:spPr>
          <a:xfrm>
            <a:off x="5852160" y="2331720"/>
            <a:ext cx="5650992" cy="1371600"/>
          </a:xfrm>
          <a:prstGeom prst="roundRect">
            <a:avLst>
              <a:gd name="adj" fmla="val 6667"/>
            </a:avLst>
          </a:prstGeom>
          <a:solidFill>
            <a:srgbClr val="EAF4FB"/>
          </a:solidFill>
          <a:ln/>
          <a:effectLst>
            <a:outerShdw sx="100000" sy="100000" kx="0" ky="0" algn="bl" rotWithShape="0" blurRad="127000" dist="38100" dir="5400000">
              <a:srgbClr val="000000">
                <a:alpha val="35000"/>
              </a:srgbClr>
            </a:outerShdw>
          </a:effectLst>
        </p:spPr>
      </p:sp>
      <p:sp>
        <p:nvSpPr>
          <p:cNvPr id="13" name="Text 11"/>
          <p:cNvSpPr txBox="1"/>
          <p:nvPr/>
        </p:nvSpPr>
        <p:spPr>
          <a:xfrm>
            <a:off x="6080760" y="2468880"/>
            <a:ext cx="5212080" cy="1143000"/>
          </a:xfrm>
          <a:prstGeom prst="rect">
            <a:avLst/>
          </a:prstGeom>
          <a:noFill/>
          <a:ln/>
        </p:spPr>
        <p:txBody>
          <a:bodyPr wrap="square" lIns="0" tIns="0" rIns="0" bIns="0" rtlCol="0" anchor="ctr"/>
          <a:lstStyle/>
          <a:p>
            <a:pPr indent="0" marL="0">
              <a:lnSpc>
                <a:spcPct val="105000"/>
              </a:lnSpc>
              <a:buNone/>
            </a:pPr>
            <a:r>
              <a:rPr lang="en-US" sz="1350" b="1" dirty="0">
                <a:solidFill>
                  <a:srgbClr val="EF4444"/>
                </a:solidFill>
                <a:latin typeface="Arial" pitchFamily="34" charset="0"/>
                <a:ea typeface="Arial" pitchFamily="34" charset="-122"/>
                <a:cs typeface="Arial" pitchFamily="34" charset="-120"/>
              </a:rPr>
              <a:t>But: </a:t>
            </a:r>
            <a:pPr indent="0" marL="0">
              <a:lnSpc>
                <a:spcPct val="105000"/>
              </a:lnSpc>
              <a:buNone/>
            </a:pPr>
            <a:r>
              <a:rPr lang="en-US" sz="1350" dirty="0">
                <a:solidFill>
                  <a:srgbClr val="0B2A45"/>
                </a:solidFill>
                <a:latin typeface="Arial" pitchFamily="34" charset="0"/>
                <a:ea typeface="Arial" pitchFamily="34" charset="-122"/>
                <a:cs typeface="Arial" pitchFamily="34" charset="-120"/>
              </a:rPr>
              <a:t>employees' Aadhaar, PAN, salary and contact data were leaked — identity numbers cannot be changed, so the harm lasts for years.</a:t>
            </a:r>
            <a:endParaRPr lang="en-US" sz="1350" dirty="0"/>
          </a:p>
        </p:txBody>
      </p:sp>
      <p:sp>
        <p:nvSpPr>
          <p:cNvPr id="14" name="Shape 12"/>
          <p:cNvSpPr/>
          <p:nvPr/>
        </p:nvSpPr>
        <p:spPr>
          <a:xfrm>
            <a:off x="685800" y="3977640"/>
            <a:ext cx="2468880" cy="457200"/>
          </a:xfrm>
          <a:prstGeom prst="rect">
            <a:avLst/>
          </a:prstGeom>
          <a:solidFill>
            <a:srgbClr val="0B2A45"/>
          </a:solidFill>
          <a:ln w="12700">
            <a:solidFill>
              <a:srgbClr val="06121F"/>
            </a:solidFill>
            <a:prstDash val="solid"/>
          </a:ln>
        </p:spPr>
      </p:sp>
      <p:sp>
        <p:nvSpPr>
          <p:cNvPr id="15" name="Text 13"/>
          <p:cNvSpPr txBox="1"/>
          <p:nvPr/>
        </p:nvSpPr>
        <p:spPr>
          <a:xfrm>
            <a:off x="850392" y="3977640"/>
            <a:ext cx="2194560"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Stakeholder</a:t>
            </a:r>
            <a:endParaRPr lang="en-US" sz="1200" dirty="0"/>
          </a:p>
        </p:txBody>
      </p:sp>
      <p:sp>
        <p:nvSpPr>
          <p:cNvPr id="16" name="Shape 14"/>
          <p:cNvSpPr/>
          <p:nvPr/>
        </p:nvSpPr>
        <p:spPr>
          <a:xfrm>
            <a:off x="3154680" y="3977640"/>
            <a:ext cx="4937760" cy="457200"/>
          </a:xfrm>
          <a:prstGeom prst="rect">
            <a:avLst/>
          </a:prstGeom>
          <a:solidFill>
            <a:srgbClr val="0B2A45"/>
          </a:solidFill>
          <a:ln w="12700">
            <a:solidFill>
              <a:srgbClr val="06121F"/>
            </a:solidFill>
            <a:prstDash val="solid"/>
          </a:ln>
        </p:spPr>
      </p:sp>
      <p:sp>
        <p:nvSpPr>
          <p:cNvPr id="17" name="Text 15"/>
          <p:cNvSpPr txBox="1"/>
          <p:nvPr/>
        </p:nvSpPr>
        <p:spPr>
          <a:xfrm>
            <a:off x="3319272" y="3977640"/>
            <a:ext cx="4663440" cy="457200"/>
          </a:xfrm>
          <a:prstGeom prst="rect">
            <a:avLst/>
          </a:prstGeom>
          <a:noFill/>
          <a:ln/>
        </p:spPr>
        <p:txBody>
          <a:bodyPr wrap="square" lIns="0" tIns="0" rIns="0" bIns="0" rtlCol="0" anchor="ctr"/>
          <a:lstStyle/>
          <a:p>
            <a:pPr indent="0" marL="0">
              <a:buNone/>
            </a:pPr>
            <a:r>
              <a:rPr lang="en-US" sz="1200" b="1" dirty="0">
                <a:solidFill>
                  <a:srgbClr val="22D3EE"/>
                </a:solidFill>
                <a:latin typeface="Arial" pitchFamily="34" charset="0"/>
                <a:ea typeface="Arial" pitchFamily="34" charset="-122"/>
                <a:cs typeface="Arial" pitchFamily="34" charset="-120"/>
              </a:rPr>
              <a:t>Observed consequence</a:t>
            </a:r>
            <a:endParaRPr lang="en-US" sz="1200" dirty="0"/>
          </a:p>
        </p:txBody>
      </p:sp>
      <p:sp>
        <p:nvSpPr>
          <p:cNvPr id="18" name="Shape 16"/>
          <p:cNvSpPr/>
          <p:nvPr/>
        </p:nvSpPr>
        <p:spPr>
          <a:xfrm>
            <a:off x="8092440" y="3977640"/>
            <a:ext cx="3410712" cy="457200"/>
          </a:xfrm>
          <a:prstGeom prst="rect">
            <a:avLst/>
          </a:prstGeom>
          <a:solidFill>
            <a:srgbClr val="0B2A45"/>
          </a:solidFill>
          <a:ln w="12700">
            <a:solidFill>
              <a:srgbClr val="06121F"/>
            </a:solidFill>
            <a:prstDash val="solid"/>
          </a:ln>
        </p:spPr>
      </p:sp>
      <p:sp>
        <p:nvSpPr>
          <p:cNvPr id="19" name="Text 17"/>
          <p:cNvSpPr txBox="1"/>
          <p:nvPr/>
        </p:nvSpPr>
        <p:spPr>
          <a:xfrm>
            <a:off x="8257032" y="3977640"/>
            <a:ext cx="3136392" cy="457200"/>
          </a:xfrm>
          <a:prstGeom prst="rect">
            <a:avLst/>
          </a:prstGeom>
          <a:noFill/>
          <a:ln/>
        </p:spPr>
        <p:txBody>
          <a:bodyPr wrap="square" lIns="0" tIns="0" rIns="0" bIns="0" rtlCol="0" anchor="ctr"/>
          <a:lstStyle/>
          <a:p>
            <a:pPr indent="0" marL="0">
              <a:buNone/>
            </a:pPr>
            <a:r>
              <a:rPr lang="en-US" sz="1200" b="1" dirty="0">
                <a:solidFill>
                  <a:srgbClr val="22D3EE"/>
                </a:solidFill>
                <a:latin typeface="Arial" pitchFamily="34" charset="0"/>
                <a:ea typeface="Arial" pitchFamily="34" charset="-122"/>
                <a:cs typeface="Arial" pitchFamily="34" charset="-120"/>
              </a:rPr>
              <a:t>Resilience lesson</a:t>
            </a:r>
            <a:endParaRPr lang="en-US" sz="1200" dirty="0"/>
          </a:p>
        </p:txBody>
      </p:sp>
      <p:sp>
        <p:nvSpPr>
          <p:cNvPr id="20" name="Shape 18"/>
          <p:cNvSpPr/>
          <p:nvPr/>
        </p:nvSpPr>
        <p:spPr>
          <a:xfrm>
            <a:off x="685800" y="4434840"/>
            <a:ext cx="2468880" cy="457200"/>
          </a:xfrm>
          <a:prstGeom prst="rect">
            <a:avLst/>
          </a:prstGeom>
          <a:solidFill>
            <a:srgbClr val="EAF4FB"/>
          </a:solidFill>
          <a:ln w="12700">
            <a:solidFill>
              <a:srgbClr val="06121F"/>
            </a:solidFill>
            <a:prstDash val="solid"/>
          </a:ln>
        </p:spPr>
      </p:sp>
      <p:sp>
        <p:nvSpPr>
          <p:cNvPr id="21" name="Text 19"/>
          <p:cNvSpPr txBox="1"/>
          <p:nvPr/>
        </p:nvSpPr>
        <p:spPr>
          <a:xfrm>
            <a:off x="850392" y="4434840"/>
            <a:ext cx="2194560" cy="457200"/>
          </a:xfrm>
          <a:prstGeom prst="rect">
            <a:avLst/>
          </a:prstGeom>
          <a:noFill/>
          <a:ln/>
        </p:spPr>
        <p:txBody>
          <a:bodyPr wrap="square" lIns="0" tIns="0" rIns="0" bIns="0" rtlCol="0" anchor="ctr"/>
          <a:lstStyle/>
          <a:p>
            <a:pPr indent="0" marL="0">
              <a:lnSpc>
                <a:spcPct val="90000"/>
              </a:lnSpc>
              <a:buNone/>
            </a:pPr>
            <a:r>
              <a:rPr lang="en-US" sz="1100" b="1" dirty="0">
                <a:solidFill>
                  <a:srgbClr val="0B2A45"/>
                </a:solidFill>
                <a:latin typeface="Arial" pitchFamily="34" charset="0"/>
                <a:ea typeface="Arial" pitchFamily="34" charset="-122"/>
                <a:cs typeface="Arial" pitchFamily="34" charset="-120"/>
              </a:rPr>
              <a:t>Employees</a:t>
            </a:r>
            <a:endParaRPr lang="en-US" sz="1100" dirty="0"/>
          </a:p>
        </p:txBody>
      </p:sp>
      <p:sp>
        <p:nvSpPr>
          <p:cNvPr id="22" name="Shape 20"/>
          <p:cNvSpPr/>
          <p:nvPr/>
        </p:nvSpPr>
        <p:spPr>
          <a:xfrm>
            <a:off x="3154680" y="4434840"/>
            <a:ext cx="4937760" cy="457200"/>
          </a:xfrm>
          <a:prstGeom prst="rect">
            <a:avLst/>
          </a:prstGeom>
          <a:solidFill>
            <a:srgbClr val="EAF4FB"/>
          </a:solidFill>
          <a:ln w="12700">
            <a:solidFill>
              <a:srgbClr val="06121F"/>
            </a:solidFill>
            <a:prstDash val="solid"/>
          </a:ln>
        </p:spPr>
      </p:sp>
      <p:sp>
        <p:nvSpPr>
          <p:cNvPr id="23" name="Text 21"/>
          <p:cNvSpPr txBox="1"/>
          <p:nvPr/>
        </p:nvSpPr>
        <p:spPr>
          <a:xfrm>
            <a:off x="3319272" y="4434840"/>
            <a:ext cx="4663440" cy="457200"/>
          </a:xfrm>
          <a:prstGeom prst="rect">
            <a:avLst/>
          </a:prstGeom>
          <a:noFill/>
          <a:ln/>
        </p:spPr>
        <p:txBody>
          <a:bodyPr wrap="square" lIns="0" tIns="0" rIns="0" bIns="0" rtlCol="0" anchor="ctr"/>
          <a:lstStyle/>
          <a:p>
            <a:pPr indent="0" marL="0">
              <a:lnSpc>
                <a:spcPct val="90000"/>
              </a:lnSpc>
              <a:buNone/>
            </a:pPr>
            <a:r>
              <a:rPr lang="en-US" sz="1100" dirty="0">
                <a:solidFill>
                  <a:srgbClr val="0B2A45"/>
                </a:solidFill>
                <a:latin typeface="Arial" pitchFamily="34" charset="0"/>
                <a:ea typeface="Arial" pitchFamily="34" charset="-122"/>
                <a:cs typeface="Arial" pitchFamily="34" charset="-120"/>
              </a:rPr>
              <a:t>Aadhaar, PAN, salary &amp; contact data leaked</a:t>
            </a:r>
            <a:endParaRPr lang="en-US" sz="1100" dirty="0"/>
          </a:p>
        </p:txBody>
      </p:sp>
      <p:sp>
        <p:nvSpPr>
          <p:cNvPr id="24" name="Shape 22"/>
          <p:cNvSpPr/>
          <p:nvPr/>
        </p:nvSpPr>
        <p:spPr>
          <a:xfrm>
            <a:off x="8092440" y="4434840"/>
            <a:ext cx="3410712" cy="457200"/>
          </a:xfrm>
          <a:prstGeom prst="rect">
            <a:avLst/>
          </a:prstGeom>
          <a:solidFill>
            <a:srgbClr val="EAF4FB"/>
          </a:solidFill>
          <a:ln w="12700">
            <a:solidFill>
              <a:srgbClr val="06121F"/>
            </a:solidFill>
            <a:prstDash val="solid"/>
          </a:ln>
        </p:spPr>
      </p:sp>
      <p:sp>
        <p:nvSpPr>
          <p:cNvPr id="25" name="Text 23"/>
          <p:cNvSpPr txBox="1"/>
          <p:nvPr/>
        </p:nvSpPr>
        <p:spPr>
          <a:xfrm>
            <a:off x="8257032" y="4434840"/>
            <a:ext cx="3136392" cy="457200"/>
          </a:xfrm>
          <a:prstGeom prst="rect">
            <a:avLst/>
          </a:prstGeom>
          <a:noFill/>
          <a:ln/>
        </p:spPr>
        <p:txBody>
          <a:bodyPr wrap="square" lIns="0" tIns="0" rIns="0" bIns="0" rtlCol="0" anchor="ctr"/>
          <a:lstStyle/>
          <a:p>
            <a:pPr indent="0" marL="0">
              <a:lnSpc>
                <a:spcPct val="90000"/>
              </a:lnSpc>
              <a:buNone/>
            </a:pPr>
            <a:r>
              <a:rPr lang="en-US" sz="1100" dirty="0">
                <a:solidFill>
                  <a:srgbClr val="0B2A45"/>
                </a:solidFill>
                <a:latin typeface="Arial" pitchFamily="34" charset="0"/>
                <a:ea typeface="Arial" pitchFamily="34" charset="-122"/>
                <a:cs typeface="Arial" pitchFamily="34" charset="-120"/>
              </a:rPr>
              <a:t>Minimise and mask personal data</a:t>
            </a:r>
            <a:endParaRPr lang="en-US" sz="1100" dirty="0"/>
          </a:p>
        </p:txBody>
      </p:sp>
      <p:sp>
        <p:nvSpPr>
          <p:cNvPr id="26" name="Shape 24"/>
          <p:cNvSpPr/>
          <p:nvPr/>
        </p:nvSpPr>
        <p:spPr>
          <a:xfrm>
            <a:off x="685800" y="4892040"/>
            <a:ext cx="2468880" cy="457200"/>
          </a:xfrm>
          <a:prstGeom prst="rect">
            <a:avLst/>
          </a:prstGeom>
          <a:solidFill>
            <a:srgbClr val="DCEBF7"/>
          </a:solidFill>
          <a:ln w="12700">
            <a:solidFill>
              <a:srgbClr val="06121F"/>
            </a:solidFill>
            <a:prstDash val="solid"/>
          </a:ln>
        </p:spPr>
      </p:sp>
      <p:sp>
        <p:nvSpPr>
          <p:cNvPr id="27" name="Text 25"/>
          <p:cNvSpPr txBox="1"/>
          <p:nvPr/>
        </p:nvSpPr>
        <p:spPr>
          <a:xfrm>
            <a:off x="850392" y="4892040"/>
            <a:ext cx="2194560" cy="457200"/>
          </a:xfrm>
          <a:prstGeom prst="rect">
            <a:avLst/>
          </a:prstGeom>
          <a:noFill/>
          <a:ln/>
        </p:spPr>
        <p:txBody>
          <a:bodyPr wrap="square" lIns="0" tIns="0" rIns="0" bIns="0" rtlCol="0" anchor="ctr"/>
          <a:lstStyle/>
          <a:p>
            <a:pPr indent="0" marL="0">
              <a:lnSpc>
                <a:spcPct val="90000"/>
              </a:lnSpc>
              <a:buNone/>
            </a:pPr>
            <a:r>
              <a:rPr lang="en-US" sz="1100" b="1" dirty="0">
                <a:solidFill>
                  <a:srgbClr val="0B2A45"/>
                </a:solidFill>
                <a:latin typeface="Arial" pitchFamily="34" charset="0"/>
                <a:ea typeface="Arial" pitchFamily="34" charset="-122"/>
                <a:cs typeface="Arial" pitchFamily="34" charset="-120"/>
              </a:rPr>
              <a:t>Customers</a:t>
            </a:r>
            <a:endParaRPr lang="en-US" sz="1100" dirty="0"/>
          </a:p>
        </p:txBody>
      </p:sp>
      <p:sp>
        <p:nvSpPr>
          <p:cNvPr id="28" name="Shape 26"/>
          <p:cNvSpPr/>
          <p:nvPr/>
        </p:nvSpPr>
        <p:spPr>
          <a:xfrm>
            <a:off x="3154680" y="4892040"/>
            <a:ext cx="4937760" cy="457200"/>
          </a:xfrm>
          <a:prstGeom prst="rect">
            <a:avLst/>
          </a:prstGeom>
          <a:solidFill>
            <a:srgbClr val="DCEBF7"/>
          </a:solidFill>
          <a:ln w="12700">
            <a:solidFill>
              <a:srgbClr val="06121F"/>
            </a:solidFill>
            <a:prstDash val="solid"/>
          </a:ln>
        </p:spPr>
      </p:sp>
      <p:sp>
        <p:nvSpPr>
          <p:cNvPr id="29" name="Text 27"/>
          <p:cNvSpPr txBox="1"/>
          <p:nvPr/>
        </p:nvSpPr>
        <p:spPr>
          <a:xfrm>
            <a:off x="3319272" y="4892040"/>
            <a:ext cx="4663440" cy="457200"/>
          </a:xfrm>
          <a:prstGeom prst="rect">
            <a:avLst/>
          </a:prstGeom>
          <a:noFill/>
          <a:ln/>
        </p:spPr>
        <p:txBody>
          <a:bodyPr wrap="square" lIns="0" tIns="0" rIns="0" bIns="0" rtlCol="0" anchor="ctr"/>
          <a:lstStyle/>
          <a:p>
            <a:pPr indent="0" marL="0">
              <a:lnSpc>
                <a:spcPct val="90000"/>
              </a:lnSpc>
              <a:buNone/>
            </a:pPr>
            <a:r>
              <a:rPr lang="en-US" sz="1100" dirty="0">
                <a:solidFill>
                  <a:srgbClr val="0B2A45"/>
                </a:solidFill>
                <a:latin typeface="Arial" pitchFamily="34" charset="0"/>
                <a:ea typeface="Arial" pitchFamily="34" charset="-122"/>
                <a:cs typeface="Arial" pitchFamily="34" charset="-120"/>
              </a:rPr>
              <a:t>Portals restricted; concern over billing data</a:t>
            </a:r>
            <a:endParaRPr lang="en-US" sz="1100" dirty="0"/>
          </a:p>
        </p:txBody>
      </p:sp>
      <p:sp>
        <p:nvSpPr>
          <p:cNvPr id="30" name="Shape 28"/>
          <p:cNvSpPr/>
          <p:nvPr/>
        </p:nvSpPr>
        <p:spPr>
          <a:xfrm>
            <a:off x="8092440" y="4892040"/>
            <a:ext cx="3410712" cy="457200"/>
          </a:xfrm>
          <a:prstGeom prst="rect">
            <a:avLst/>
          </a:prstGeom>
          <a:solidFill>
            <a:srgbClr val="DCEBF7"/>
          </a:solidFill>
          <a:ln w="12700">
            <a:solidFill>
              <a:srgbClr val="06121F"/>
            </a:solidFill>
            <a:prstDash val="solid"/>
          </a:ln>
        </p:spPr>
      </p:sp>
      <p:sp>
        <p:nvSpPr>
          <p:cNvPr id="31" name="Text 29"/>
          <p:cNvSpPr txBox="1"/>
          <p:nvPr/>
        </p:nvSpPr>
        <p:spPr>
          <a:xfrm>
            <a:off x="8257032" y="4892040"/>
            <a:ext cx="3136392" cy="457200"/>
          </a:xfrm>
          <a:prstGeom prst="rect">
            <a:avLst/>
          </a:prstGeom>
          <a:noFill/>
          <a:ln/>
        </p:spPr>
        <p:txBody>
          <a:bodyPr wrap="square" lIns="0" tIns="0" rIns="0" bIns="0" rtlCol="0" anchor="ctr"/>
          <a:lstStyle/>
          <a:p>
            <a:pPr indent="0" marL="0">
              <a:lnSpc>
                <a:spcPct val="90000"/>
              </a:lnSpc>
              <a:buNone/>
            </a:pPr>
            <a:r>
              <a:rPr lang="en-US" sz="1100" dirty="0">
                <a:solidFill>
                  <a:srgbClr val="0B2A45"/>
                </a:solidFill>
                <a:latin typeface="Arial" pitchFamily="34" charset="0"/>
                <a:ea typeface="Arial" pitchFamily="34" charset="-122"/>
                <a:cs typeface="Arial" pitchFamily="34" charset="-120"/>
              </a:rPr>
              <a:t>Communicate early and clearly</a:t>
            </a:r>
            <a:endParaRPr lang="en-US" sz="1100" dirty="0"/>
          </a:p>
        </p:txBody>
      </p:sp>
      <p:sp>
        <p:nvSpPr>
          <p:cNvPr id="32" name="Shape 30"/>
          <p:cNvSpPr/>
          <p:nvPr/>
        </p:nvSpPr>
        <p:spPr>
          <a:xfrm>
            <a:off x="685800" y="5349240"/>
            <a:ext cx="2468880" cy="457200"/>
          </a:xfrm>
          <a:prstGeom prst="rect">
            <a:avLst/>
          </a:prstGeom>
          <a:solidFill>
            <a:srgbClr val="EAF4FB"/>
          </a:solidFill>
          <a:ln w="12700">
            <a:solidFill>
              <a:srgbClr val="06121F"/>
            </a:solidFill>
            <a:prstDash val="solid"/>
          </a:ln>
        </p:spPr>
      </p:sp>
      <p:sp>
        <p:nvSpPr>
          <p:cNvPr id="33" name="Text 31"/>
          <p:cNvSpPr txBox="1"/>
          <p:nvPr/>
        </p:nvSpPr>
        <p:spPr>
          <a:xfrm>
            <a:off x="850392" y="5349240"/>
            <a:ext cx="2194560" cy="457200"/>
          </a:xfrm>
          <a:prstGeom prst="rect">
            <a:avLst/>
          </a:prstGeom>
          <a:noFill/>
          <a:ln/>
        </p:spPr>
        <p:txBody>
          <a:bodyPr wrap="square" lIns="0" tIns="0" rIns="0" bIns="0" rtlCol="0" anchor="ctr"/>
          <a:lstStyle/>
          <a:p>
            <a:pPr indent="0" marL="0">
              <a:lnSpc>
                <a:spcPct val="90000"/>
              </a:lnSpc>
              <a:buNone/>
            </a:pPr>
            <a:r>
              <a:rPr lang="en-US" sz="1100" b="1" dirty="0">
                <a:solidFill>
                  <a:srgbClr val="0B2A45"/>
                </a:solidFill>
                <a:latin typeface="Arial" pitchFamily="34" charset="0"/>
                <a:ea typeface="Arial" pitchFamily="34" charset="-122"/>
                <a:cs typeface="Arial" pitchFamily="34" charset="-120"/>
              </a:rPr>
              <a:t>Vendors / partners</a:t>
            </a:r>
            <a:endParaRPr lang="en-US" sz="1100" dirty="0"/>
          </a:p>
        </p:txBody>
      </p:sp>
      <p:sp>
        <p:nvSpPr>
          <p:cNvPr id="34" name="Shape 32"/>
          <p:cNvSpPr/>
          <p:nvPr/>
        </p:nvSpPr>
        <p:spPr>
          <a:xfrm>
            <a:off x="3154680" y="5349240"/>
            <a:ext cx="4937760" cy="457200"/>
          </a:xfrm>
          <a:prstGeom prst="rect">
            <a:avLst/>
          </a:prstGeom>
          <a:solidFill>
            <a:srgbClr val="EAF4FB"/>
          </a:solidFill>
          <a:ln w="12700">
            <a:solidFill>
              <a:srgbClr val="06121F"/>
            </a:solidFill>
            <a:prstDash val="solid"/>
          </a:ln>
        </p:spPr>
      </p:sp>
      <p:sp>
        <p:nvSpPr>
          <p:cNvPr id="35" name="Text 33"/>
          <p:cNvSpPr txBox="1"/>
          <p:nvPr/>
        </p:nvSpPr>
        <p:spPr>
          <a:xfrm>
            <a:off x="3319272" y="5349240"/>
            <a:ext cx="4663440" cy="457200"/>
          </a:xfrm>
          <a:prstGeom prst="rect">
            <a:avLst/>
          </a:prstGeom>
          <a:noFill/>
          <a:ln/>
        </p:spPr>
        <p:txBody>
          <a:bodyPr wrap="square" lIns="0" tIns="0" rIns="0" bIns="0" rtlCol="0" anchor="ctr"/>
          <a:lstStyle/>
          <a:p>
            <a:pPr indent="0" marL="0">
              <a:lnSpc>
                <a:spcPct val="90000"/>
              </a:lnSpc>
              <a:buNone/>
            </a:pPr>
            <a:r>
              <a:rPr lang="en-US" sz="1100" dirty="0">
                <a:solidFill>
                  <a:srgbClr val="0B2A45"/>
                </a:solidFill>
                <a:latin typeface="Arial" pitchFamily="34" charset="0"/>
                <a:ea typeface="Arial" pitchFamily="34" charset="-122"/>
                <a:cs typeface="Arial" pitchFamily="34" charset="-120"/>
              </a:rPr>
              <a:t>Contracts, NDAs and drawings exposed</a:t>
            </a:r>
            <a:endParaRPr lang="en-US" sz="1100" dirty="0"/>
          </a:p>
        </p:txBody>
      </p:sp>
      <p:sp>
        <p:nvSpPr>
          <p:cNvPr id="36" name="Shape 34"/>
          <p:cNvSpPr/>
          <p:nvPr/>
        </p:nvSpPr>
        <p:spPr>
          <a:xfrm>
            <a:off x="8092440" y="5349240"/>
            <a:ext cx="3410712" cy="457200"/>
          </a:xfrm>
          <a:prstGeom prst="rect">
            <a:avLst/>
          </a:prstGeom>
          <a:solidFill>
            <a:srgbClr val="EAF4FB"/>
          </a:solidFill>
          <a:ln w="12700">
            <a:solidFill>
              <a:srgbClr val="06121F"/>
            </a:solidFill>
            <a:prstDash val="solid"/>
          </a:ln>
        </p:spPr>
      </p:sp>
      <p:sp>
        <p:nvSpPr>
          <p:cNvPr id="37" name="Text 35"/>
          <p:cNvSpPr txBox="1"/>
          <p:nvPr/>
        </p:nvSpPr>
        <p:spPr>
          <a:xfrm>
            <a:off x="8257032" y="5349240"/>
            <a:ext cx="3136392" cy="457200"/>
          </a:xfrm>
          <a:prstGeom prst="rect">
            <a:avLst/>
          </a:prstGeom>
          <a:noFill/>
          <a:ln/>
        </p:spPr>
        <p:txBody>
          <a:bodyPr wrap="square" lIns="0" tIns="0" rIns="0" bIns="0" rtlCol="0" anchor="ctr"/>
          <a:lstStyle/>
          <a:p>
            <a:pPr indent="0" marL="0">
              <a:lnSpc>
                <a:spcPct val="90000"/>
              </a:lnSpc>
              <a:buNone/>
            </a:pPr>
            <a:r>
              <a:rPr lang="en-US" sz="1100" dirty="0">
                <a:solidFill>
                  <a:srgbClr val="0B2A45"/>
                </a:solidFill>
                <a:latin typeface="Arial" pitchFamily="34" charset="0"/>
                <a:ea typeface="Arial" pitchFamily="34" charset="-122"/>
                <a:cs typeface="Arial" pitchFamily="34" charset="-120"/>
              </a:rPr>
              <a:t>Classify and protect sensitive files</a:t>
            </a:r>
            <a:endParaRPr lang="en-US" sz="1100" dirty="0"/>
          </a:p>
        </p:txBody>
      </p:sp>
      <p:sp>
        <p:nvSpPr>
          <p:cNvPr id="38" name="Shape 36"/>
          <p:cNvSpPr/>
          <p:nvPr/>
        </p:nvSpPr>
        <p:spPr>
          <a:xfrm>
            <a:off x="685800" y="5806440"/>
            <a:ext cx="2468880" cy="457200"/>
          </a:xfrm>
          <a:prstGeom prst="rect">
            <a:avLst/>
          </a:prstGeom>
          <a:solidFill>
            <a:srgbClr val="DCEBF7"/>
          </a:solidFill>
          <a:ln w="12700">
            <a:solidFill>
              <a:srgbClr val="06121F"/>
            </a:solidFill>
            <a:prstDash val="solid"/>
          </a:ln>
        </p:spPr>
      </p:sp>
      <p:sp>
        <p:nvSpPr>
          <p:cNvPr id="39" name="Text 37"/>
          <p:cNvSpPr txBox="1"/>
          <p:nvPr/>
        </p:nvSpPr>
        <p:spPr>
          <a:xfrm>
            <a:off x="850392" y="5806440"/>
            <a:ext cx="2194560" cy="457200"/>
          </a:xfrm>
          <a:prstGeom prst="rect">
            <a:avLst/>
          </a:prstGeom>
          <a:noFill/>
          <a:ln/>
        </p:spPr>
        <p:txBody>
          <a:bodyPr wrap="square" lIns="0" tIns="0" rIns="0" bIns="0" rtlCol="0" anchor="ctr"/>
          <a:lstStyle/>
          <a:p>
            <a:pPr indent="0" marL="0">
              <a:lnSpc>
                <a:spcPct val="90000"/>
              </a:lnSpc>
              <a:buNone/>
            </a:pPr>
            <a:r>
              <a:rPr lang="en-US" sz="1100" b="1" dirty="0">
                <a:solidFill>
                  <a:srgbClr val="0B2A45"/>
                </a:solidFill>
                <a:latin typeface="Arial" pitchFamily="34" charset="0"/>
                <a:ea typeface="Arial" pitchFamily="34" charset="-122"/>
                <a:cs typeface="Arial" pitchFamily="34" charset="-120"/>
              </a:rPr>
              <a:t>Regulators / nation</a:t>
            </a:r>
            <a:endParaRPr lang="en-US" sz="1100" dirty="0"/>
          </a:p>
        </p:txBody>
      </p:sp>
      <p:sp>
        <p:nvSpPr>
          <p:cNvPr id="40" name="Shape 38"/>
          <p:cNvSpPr/>
          <p:nvPr/>
        </p:nvSpPr>
        <p:spPr>
          <a:xfrm>
            <a:off x="3154680" y="5806440"/>
            <a:ext cx="4937760" cy="457200"/>
          </a:xfrm>
          <a:prstGeom prst="rect">
            <a:avLst/>
          </a:prstGeom>
          <a:solidFill>
            <a:srgbClr val="DCEBF7"/>
          </a:solidFill>
          <a:ln w="12700">
            <a:solidFill>
              <a:srgbClr val="06121F"/>
            </a:solidFill>
            <a:prstDash val="solid"/>
          </a:ln>
        </p:spPr>
      </p:sp>
      <p:sp>
        <p:nvSpPr>
          <p:cNvPr id="41" name="Text 39"/>
          <p:cNvSpPr txBox="1"/>
          <p:nvPr/>
        </p:nvSpPr>
        <p:spPr>
          <a:xfrm>
            <a:off x="3319272" y="5806440"/>
            <a:ext cx="4663440" cy="457200"/>
          </a:xfrm>
          <a:prstGeom prst="rect">
            <a:avLst/>
          </a:prstGeom>
          <a:noFill/>
          <a:ln/>
        </p:spPr>
        <p:txBody>
          <a:bodyPr wrap="square" lIns="0" tIns="0" rIns="0" bIns="0" rtlCol="0" anchor="ctr"/>
          <a:lstStyle/>
          <a:p>
            <a:pPr indent="0" marL="0">
              <a:lnSpc>
                <a:spcPct val="90000"/>
              </a:lnSpc>
              <a:buNone/>
            </a:pPr>
            <a:r>
              <a:rPr lang="en-US" sz="1100" dirty="0">
                <a:solidFill>
                  <a:srgbClr val="0B2A45"/>
                </a:solidFill>
                <a:latin typeface="Arial" pitchFamily="34" charset="0"/>
                <a:ea typeface="Arial" pitchFamily="34" charset="-122"/>
                <a:cs typeface="Arial" pitchFamily="34" charset="-120"/>
              </a:rPr>
              <a:t>Security of critical infrastructure questioned</a:t>
            </a:r>
            <a:endParaRPr lang="en-US" sz="1100" dirty="0"/>
          </a:p>
        </p:txBody>
      </p:sp>
      <p:sp>
        <p:nvSpPr>
          <p:cNvPr id="42" name="Shape 40"/>
          <p:cNvSpPr/>
          <p:nvPr/>
        </p:nvSpPr>
        <p:spPr>
          <a:xfrm>
            <a:off x="8092440" y="5806440"/>
            <a:ext cx="3410712" cy="457200"/>
          </a:xfrm>
          <a:prstGeom prst="rect">
            <a:avLst/>
          </a:prstGeom>
          <a:solidFill>
            <a:srgbClr val="DCEBF7"/>
          </a:solidFill>
          <a:ln w="12700">
            <a:solidFill>
              <a:srgbClr val="06121F"/>
            </a:solidFill>
            <a:prstDash val="solid"/>
          </a:ln>
        </p:spPr>
      </p:sp>
      <p:sp>
        <p:nvSpPr>
          <p:cNvPr id="43" name="Text 41"/>
          <p:cNvSpPr txBox="1"/>
          <p:nvPr/>
        </p:nvSpPr>
        <p:spPr>
          <a:xfrm>
            <a:off x="8257032" y="5806440"/>
            <a:ext cx="3136392" cy="457200"/>
          </a:xfrm>
          <a:prstGeom prst="rect">
            <a:avLst/>
          </a:prstGeom>
          <a:noFill/>
          <a:ln/>
        </p:spPr>
        <p:txBody>
          <a:bodyPr wrap="square" lIns="0" tIns="0" rIns="0" bIns="0" rtlCol="0" anchor="ctr"/>
          <a:lstStyle/>
          <a:p>
            <a:pPr indent="0" marL="0">
              <a:lnSpc>
                <a:spcPct val="90000"/>
              </a:lnSpc>
              <a:buNone/>
            </a:pPr>
            <a:r>
              <a:rPr lang="en-US" sz="1100" dirty="0">
                <a:solidFill>
                  <a:srgbClr val="0B2A45"/>
                </a:solidFill>
                <a:latin typeface="Arial" pitchFamily="34" charset="0"/>
                <a:ea typeface="Arial" pitchFamily="34" charset="-122"/>
                <a:cs typeface="Arial" pitchFamily="34" charset="-120"/>
              </a:rPr>
              <a:t>Test the IT/OT boundary regularly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9</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LEGAL FRAMEWORK</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400" b="1" dirty="0">
                <a:solidFill>
                  <a:srgbClr val="FFFFFF"/>
                </a:solidFill>
                <a:latin typeface="Arial" pitchFamily="34" charset="0"/>
                <a:ea typeface="Arial" pitchFamily="34" charset="-122"/>
                <a:cs typeface="Arial" pitchFamily="34" charset="-120"/>
              </a:rPr>
              <a:t>Legal and regulatory framework (India)</a:t>
            </a:r>
            <a:endParaRPr lang="en-US" sz="3400" dirty="0"/>
          </a:p>
        </p:txBody>
      </p:sp>
      <p:sp>
        <p:nvSpPr>
          <p:cNvPr id="5" name="Text 3"/>
          <p:cNvSpPr txBox="1"/>
          <p:nvPr/>
        </p:nvSpPr>
        <p:spPr>
          <a:xfrm>
            <a:off x="685800" y="1737360"/>
            <a:ext cx="10789920" cy="457200"/>
          </a:xfrm>
          <a:prstGeom prst="rect">
            <a:avLst/>
          </a:prstGeom>
          <a:noFill/>
          <a:ln/>
        </p:spPr>
        <p:txBody>
          <a:bodyPr wrap="square" lIns="0" tIns="0" rIns="0" bIns="0" rtlCol="0" anchor="ctr"/>
          <a:lstStyle/>
          <a:p>
            <a:pPr indent="0" marL="0">
              <a:buNone/>
            </a:pPr>
            <a:r>
              <a:rPr lang="en-US" sz="1400" dirty="0">
                <a:solidFill>
                  <a:srgbClr val="EAF4FB"/>
                </a:solidFill>
                <a:latin typeface="Arial" pitchFamily="34" charset="0"/>
                <a:ea typeface="Arial" pitchFamily="34" charset="-122"/>
                <a:cs typeface="Arial" pitchFamily="34" charset="-120"/>
              </a:rPr>
              <a:t>One of the first high-profile attacks after India tightened its cyber-incident rules — it tested how those rules work for critical infrastructure.</a:t>
            </a:r>
            <a:endParaRPr lang="en-US" sz="1400" dirty="0"/>
          </a:p>
        </p:txBody>
      </p:sp>
      <p:sp>
        <p:nvSpPr>
          <p:cNvPr id="6" name="Shape 4"/>
          <p:cNvSpPr/>
          <p:nvPr/>
        </p:nvSpPr>
        <p:spPr>
          <a:xfrm>
            <a:off x="685800" y="2377440"/>
            <a:ext cx="3063240" cy="3383280"/>
          </a:xfrm>
          <a:prstGeom prst="roundRect">
            <a:avLst>
              <a:gd name="adj" fmla="val 2985"/>
            </a:avLst>
          </a:prstGeom>
          <a:solidFill>
            <a:srgbClr val="0B2A45"/>
          </a:solidFill>
          <a:ln/>
          <a:effectLst>
            <a:outerShdw sx="100000" sy="100000" kx="0" ky="0" algn="bl" rotWithShape="0" blurRad="127000" dist="38100" dir="5400000">
              <a:srgbClr val="000000">
                <a:alpha val="35000"/>
              </a:srgbClr>
            </a:outerShdw>
          </a:effectLst>
        </p:spPr>
      </p:sp>
      <p:sp>
        <p:nvSpPr>
          <p:cNvPr id="7" name="Shape 5"/>
          <p:cNvSpPr/>
          <p:nvPr/>
        </p:nvSpPr>
        <p:spPr>
          <a:xfrm>
            <a:off x="960120" y="2651760"/>
            <a:ext cx="640080" cy="640080"/>
          </a:xfrm>
          <a:prstGeom prst="ellipse">
            <a:avLst/>
          </a:prstGeom>
          <a:solidFill>
            <a:srgbClr val="22D3EE"/>
          </a:solidFill>
          <a:ln/>
        </p:spPr>
      </p:sp>
      <p:pic>
        <p:nvPicPr>
          <p:cNvPr id="8" name="Image 0" descr="assets/icons/clock.png">    </p:cNvPr>
          <p:cNvPicPr>
            <a:picLocks noChangeAspect="1"/>
          </p:cNvPicPr>
          <p:nvPr/>
        </p:nvPicPr>
        <p:blipFill>
          <a:blip r:embed="rId2"/>
          <a:stretch>
            <a:fillRect/>
          </a:stretch>
        </p:blipFill>
        <p:spPr>
          <a:xfrm>
            <a:off x="1139342" y="2830982"/>
            <a:ext cx="281635" cy="281635"/>
          </a:xfrm>
          <a:prstGeom prst="rect">
            <a:avLst/>
          </a:prstGeom>
        </p:spPr>
      </p:pic>
      <p:sp>
        <p:nvSpPr>
          <p:cNvPr id="9" name="Text 6"/>
          <p:cNvSpPr txBox="1"/>
          <p:nvPr/>
        </p:nvSpPr>
        <p:spPr>
          <a:xfrm>
            <a:off x="822960" y="3429000"/>
            <a:ext cx="2788920" cy="822960"/>
          </a:xfrm>
          <a:prstGeom prst="rect">
            <a:avLst/>
          </a:prstGeom>
          <a:noFill/>
          <a:ln/>
        </p:spPr>
        <p:txBody>
          <a:bodyPr wrap="square" lIns="0" tIns="0" rIns="0" bIns="0" rtlCol="0" anchor="ctr"/>
          <a:lstStyle/>
          <a:p>
            <a:pPr algn="ctr" indent="0" marL="0">
              <a:buNone/>
            </a:pPr>
            <a:r>
              <a:rPr lang="en-US" sz="4400" b="1" dirty="0">
                <a:solidFill>
                  <a:srgbClr val="22D3EE"/>
                </a:solidFill>
                <a:latin typeface="Courier New" pitchFamily="34" charset="0"/>
                <a:ea typeface="Courier New" pitchFamily="34" charset="-122"/>
                <a:cs typeface="Courier New" pitchFamily="34" charset="-120"/>
              </a:rPr>
              <a:t>6 hrs</a:t>
            </a:r>
            <a:endParaRPr lang="en-US" sz="4400" dirty="0"/>
          </a:p>
        </p:txBody>
      </p:sp>
      <p:sp>
        <p:nvSpPr>
          <p:cNvPr id="10" name="Text 7"/>
          <p:cNvSpPr txBox="1"/>
          <p:nvPr/>
        </p:nvSpPr>
        <p:spPr>
          <a:xfrm>
            <a:off x="868680" y="4297680"/>
            <a:ext cx="2697480" cy="822960"/>
          </a:xfrm>
          <a:prstGeom prst="rect">
            <a:avLst/>
          </a:prstGeom>
          <a:noFill/>
          <a:ln/>
        </p:spPr>
        <p:txBody>
          <a:bodyPr wrap="square" lIns="0" tIns="0" rIns="0" bIns="0" rtlCol="0" anchor="ctr"/>
          <a:lstStyle/>
          <a:p>
            <a:pPr algn="ctr" indent="0" marL="0">
              <a:lnSpc>
                <a:spcPct val="110000"/>
              </a:lnSpc>
              <a:buNone/>
            </a:pPr>
            <a:r>
              <a:rPr lang="en-US" sz="1050" spc="100" kern="0" dirty="0">
                <a:solidFill>
                  <a:srgbClr val="EAF4FB"/>
                </a:solidFill>
                <a:latin typeface="Courier New" pitchFamily="34" charset="0"/>
                <a:ea typeface="Courier New" pitchFamily="34" charset="-122"/>
                <a:cs typeface="Courier New" pitchFamily="34" charset="-120"/>
              </a:rPr>
              <a:t>CERT-In incident reporting window · Directions of 28 April 2022</a:t>
            </a:r>
            <a:endParaRPr lang="en-US" sz="1050" dirty="0"/>
          </a:p>
        </p:txBody>
      </p:sp>
      <p:sp>
        <p:nvSpPr>
          <p:cNvPr id="11" name="Text 8"/>
          <p:cNvSpPr txBox="1"/>
          <p:nvPr/>
        </p:nvSpPr>
        <p:spPr>
          <a:xfrm>
            <a:off x="868680" y="5074920"/>
            <a:ext cx="2697480" cy="594360"/>
          </a:xfrm>
          <a:prstGeom prst="rect">
            <a:avLst/>
          </a:prstGeom>
          <a:noFill/>
          <a:ln/>
        </p:spPr>
        <p:txBody>
          <a:bodyPr wrap="square" lIns="0" tIns="0" rIns="0" bIns="0" rtlCol="0" anchor="ctr"/>
          <a:lstStyle/>
          <a:p>
            <a:pPr algn="ctr" indent="0" marL="0">
              <a:lnSpc>
                <a:spcPct val="100000"/>
              </a:lnSpc>
              <a:buNone/>
            </a:pPr>
            <a:r>
              <a:rPr lang="en-US" sz="1000" dirty="0">
                <a:solidFill>
                  <a:srgbClr val="94A3B8"/>
                </a:solidFill>
                <a:latin typeface="Arial" pitchFamily="34" charset="0"/>
                <a:ea typeface="Arial" pitchFamily="34" charset="-122"/>
                <a:cs typeface="Arial" pitchFamily="34" charset="-120"/>
              </a:rPr>
              <a:t>Logs kept 180 days · clocks synced to national time; CEA: appoint a CISO, segregate IT/OT, audit.</a:t>
            </a:r>
            <a:endParaRPr lang="en-US" sz="1000" dirty="0"/>
          </a:p>
        </p:txBody>
      </p:sp>
      <p:sp>
        <p:nvSpPr>
          <p:cNvPr id="12" name="Shape 9"/>
          <p:cNvSpPr/>
          <p:nvPr/>
        </p:nvSpPr>
        <p:spPr>
          <a:xfrm>
            <a:off x="3977640" y="2377440"/>
            <a:ext cx="2286000" cy="457200"/>
          </a:xfrm>
          <a:prstGeom prst="rect">
            <a:avLst/>
          </a:prstGeom>
          <a:solidFill>
            <a:srgbClr val="0B2A45"/>
          </a:solidFill>
          <a:ln w="12700">
            <a:solidFill>
              <a:srgbClr val="06121F"/>
            </a:solidFill>
            <a:prstDash val="solid"/>
          </a:ln>
        </p:spPr>
      </p:sp>
      <p:sp>
        <p:nvSpPr>
          <p:cNvPr id="13" name="Text 10"/>
          <p:cNvSpPr txBox="1"/>
          <p:nvPr/>
        </p:nvSpPr>
        <p:spPr>
          <a:xfrm>
            <a:off x="4114800" y="2377440"/>
            <a:ext cx="2057400" cy="457200"/>
          </a:xfrm>
          <a:prstGeom prst="rect">
            <a:avLst/>
          </a:prstGeom>
          <a:noFill/>
          <a:ln/>
        </p:spPr>
        <p:txBody>
          <a:bodyPr wrap="square" lIns="0" tIns="0" rIns="0" bIns="0" rtlCol="0" anchor="ctr"/>
          <a:lstStyle/>
          <a:p>
            <a:pPr indent="0" marL="0">
              <a:buNone/>
            </a:pPr>
            <a:r>
              <a:rPr lang="en-US" sz="1150" b="1" dirty="0">
                <a:solidFill>
                  <a:srgbClr val="22D3EE"/>
                </a:solidFill>
                <a:latin typeface="Arial" pitchFamily="34" charset="0"/>
                <a:ea typeface="Arial" pitchFamily="34" charset="-122"/>
                <a:cs typeface="Arial" pitchFamily="34" charset="-120"/>
              </a:rPr>
              <a:t>Provision</a:t>
            </a:r>
            <a:endParaRPr lang="en-US" sz="1150" dirty="0"/>
          </a:p>
        </p:txBody>
      </p:sp>
      <p:sp>
        <p:nvSpPr>
          <p:cNvPr id="14" name="Shape 11"/>
          <p:cNvSpPr/>
          <p:nvPr/>
        </p:nvSpPr>
        <p:spPr>
          <a:xfrm>
            <a:off x="6263640" y="2377440"/>
            <a:ext cx="3291840" cy="457200"/>
          </a:xfrm>
          <a:prstGeom prst="rect">
            <a:avLst/>
          </a:prstGeom>
          <a:solidFill>
            <a:srgbClr val="0B2A45"/>
          </a:solidFill>
          <a:ln w="12700">
            <a:solidFill>
              <a:srgbClr val="06121F"/>
            </a:solidFill>
            <a:prstDash val="solid"/>
          </a:ln>
        </p:spPr>
      </p:sp>
      <p:sp>
        <p:nvSpPr>
          <p:cNvPr id="15" name="Text 12"/>
          <p:cNvSpPr txBox="1"/>
          <p:nvPr/>
        </p:nvSpPr>
        <p:spPr>
          <a:xfrm>
            <a:off x="6400800" y="2377440"/>
            <a:ext cx="3063240" cy="457200"/>
          </a:xfrm>
          <a:prstGeom prst="rect">
            <a:avLst/>
          </a:prstGeom>
          <a:noFill/>
          <a:ln/>
        </p:spPr>
        <p:txBody>
          <a:bodyPr wrap="square" lIns="0" tIns="0" rIns="0" bIns="0" rtlCol="0" anchor="ctr"/>
          <a:lstStyle/>
          <a:p>
            <a:pPr indent="0" marL="0">
              <a:buNone/>
            </a:pPr>
            <a:r>
              <a:rPr lang="en-US" sz="1150" b="1" dirty="0">
                <a:solidFill>
                  <a:srgbClr val="22D3EE"/>
                </a:solidFill>
                <a:latin typeface="Arial" pitchFamily="34" charset="0"/>
                <a:ea typeface="Arial" pitchFamily="34" charset="-122"/>
                <a:cs typeface="Arial" pitchFamily="34" charset="-120"/>
              </a:rPr>
              <a:t>What it covers</a:t>
            </a:r>
            <a:endParaRPr lang="en-US" sz="1150" dirty="0"/>
          </a:p>
        </p:txBody>
      </p:sp>
      <p:sp>
        <p:nvSpPr>
          <p:cNvPr id="16" name="Shape 13"/>
          <p:cNvSpPr/>
          <p:nvPr/>
        </p:nvSpPr>
        <p:spPr>
          <a:xfrm>
            <a:off x="9555480" y="2377440"/>
            <a:ext cx="1947672" cy="457200"/>
          </a:xfrm>
          <a:prstGeom prst="rect">
            <a:avLst/>
          </a:prstGeom>
          <a:solidFill>
            <a:srgbClr val="0B2A45"/>
          </a:solidFill>
          <a:ln w="12700">
            <a:solidFill>
              <a:srgbClr val="06121F"/>
            </a:solidFill>
            <a:prstDash val="solid"/>
          </a:ln>
        </p:spPr>
      </p:sp>
      <p:sp>
        <p:nvSpPr>
          <p:cNvPr id="17" name="Text 14"/>
          <p:cNvSpPr txBox="1"/>
          <p:nvPr/>
        </p:nvSpPr>
        <p:spPr>
          <a:xfrm>
            <a:off x="9692640" y="2377440"/>
            <a:ext cx="1719072" cy="457200"/>
          </a:xfrm>
          <a:prstGeom prst="rect">
            <a:avLst/>
          </a:prstGeom>
          <a:noFill/>
          <a:ln/>
        </p:spPr>
        <p:txBody>
          <a:bodyPr wrap="square" lIns="0" tIns="0" rIns="0" bIns="0" rtlCol="0" anchor="ctr"/>
          <a:lstStyle/>
          <a:p>
            <a:pPr indent="0" marL="0">
              <a:buNone/>
            </a:pPr>
            <a:r>
              <a:rPr lang="en-US" sz="1150" b="1" dirty="0">
                <a:solidFill>
                  <a:srgbClr val="22D3EE"/>
                </a:solidFill>
                <a:latin typeface="Arial" pitchFamily="34" charset="0"/>
                <a:ea typeface="Arial" pitchFamily="34" charset="-122"/>
                <a:cs typeface="Arial" pitchFamily="34" charset="-120"/>
              </a:rPr>
              <a:t>Lesson</a:t>
            </a:r>
            <a:endParaRPr lang="en-US" sz="1150" dirty="0"/>
          </a:p>
        </p:txBody>
      </p:sp>
      <p:sp>
        <p:nvSpPr>
          <p:cNvPr id="18" name="Shape 15"/>
          <p:cNvSpPr/>
          <p:nvPr/>
        </p:nvSpPr>
        <p:spPr>
          <a:xfrm>
            <a:off x="3977640" y="2834640"/>
            <a:ext cx="2286000" cy="822960"/>
          </a:xfrm>
          <a:prstGeom prst="rect">
            <a:avLst/>
          </a:prstGeom>
          <a:solidFill>
            <a:srgbClr val="EAF4FB"/>
          </a:solidFill>
          <a:ln w="12700">
            <a:solidFill>
              <a:srgbClr val="06121F"/>
            </a:solidFill>
            <a:prstDash val="solid"/>
          </a:ln>
        </p:spPr>
      </p:sp>
      <p:sp>
        <p:nvSpPr>
          <p:cNvPr id="19" name="Text 16"/>
          <p:cNvSpPr txBox="1"/>
          <p:nvPr/>
        </p:nvSpPr>
        <p:spPr>
          <a:xfrm>
            <a:off x="4114800" y="2834640"/>
            <a:ext cx="2057400" cy="822960"/>
          </a:xfrm>
          <a:prstGeom prst="rect">
            <a:avLst/>
          </a:prstGeom>
          <a:noFill/>
          <a:ln/>
        </p:spPr>
        <p:txBody>
          <a:bodyPr wrap="square" lIns="0" tIns="0" rIns="0" bIns="0" rtlCol="0" anchor="ctr"/>
          <a:lstStyle/>
          <a:p>
            <a:pPr indent="0" marL="0">
              <a:lnSpc>
                <a:spcPct val="95000"/>
              </a:lnSpc>
              <a:buNone/>
            </a:pPr>
            <a:r>
              <a:rPr lang="en-US" sz="1050" b="1" dirty="0">
                <a:solidFill>
                  <a:srgbClr val="0B2A45"/>
                </a:solidFill>
                <a:latin typeface="Arial" pitchFamily="34" charset="0"/>
                <a:ea typeface="Arial" pitchFamily="34" charset="-122"/>
                <a:cs typeface="Arial" pitchFamily="34" charset="-120"/>
              </a:rPr>
              <a:t>IT Act s.43 &amp; 66</a:t>
            </a:r>
            <a:endParaRPr lang="en-US" sz="1050" dirty="0"/>
          </a:p>
        </p:txBody>
      </p:sp>
      <p:sp>
        <p:nvSpPr>
          <p:cNvPr id="20" name="Shape 17"/>
          <p:cNvSpPr/>
          <p:nvPr/>
        </p:nvSpPr>
        <p:spPr>
          <a:xfrm>
            <a:off x="6263640" y="2834640"/>
            <a:ext cx="3291840" cy="822960"/>
          </a:xfrm>
          <a:prstGeom prst="rect">
            <a:avLst/>
          </a:prstGeom>
          <a:solidFill>
            <a:srgbClr val="EAF4FB"/>
          </a:solidFill>
          <a:ln w="12700">
            <a:solidFill>
              <a:srgbClr val="06121F"/>
            </a:solidFill>
            <a:prstDash val="solid"/>
          </a:ln>
        </p:spPr>
      </p:sp>
      <p:sp>
        <p:nvSpPr>
          <p:cNvPr id="21" name="Text 18"/>
          <p:cNvSpPr txBox="1"/>
          <p:nvPr/>
        </p:nvSpPr>
        <p:spPr>
          <a:xfrm>
            <a:off x="6400800" y="2834640"/>
            <a:ext cx="3063240" cy="822960"/>
          </a:xfrm>
          <a:prstGeom prst="rect">
            <a:avLst/>
          </a:prstGeom>
          <a:noFill/>
          <a:ln/>
        </p:spPr>
        <p:txBody>
          <a:bodyPr wrap="square" lIns="0" tIns="0" rIns="0" bIns="0" rtlCol="0" anchor="ctr"/>
          <a:lstStyle/>
          <a:p>
            <a:pPr indent="0" marL="0">
              <a:lnSpc>
                <a:spcPct val="95000"/>
              </a:lnSpc>
              <a:buNone/>
            </a:pPr>
            <a:r>
              <a:rPr lang="en-US" sz="1050" dirty="0">
                <a:solidFill>
                  <a:srgbClr val="0B2A45"/>
                </a:solidFill>
                <a:latin typeface="Arial" pitchFamily="34" charset="0"/>
                <a:ea typeface="Arial" pitchFamily="34" charset="-122"/>
                <a:cs typeface="Arial" pitchFamily="34" charset="-120"/>
              </a:rPr>
              <a:t>Unauthorised access, data theft, malware</a:t>
            </a:r>
            <a:endParaRPr lang="en-US" sz="1050" dirty="0"/>
          </a:p>
        </p:txBody>
      </p:sp>
      <p:sp>
        <p:nvSpPr>
          <p:cNvPr id="22" name="Shape 19"/>
          <p:cNvSpPr/>
          <p:nvPr/>
        </p:nvSpPr>
        <p:spPr>
          <a:xfrm>
            <a:off x="9555480" y="2834640"/>
            <a:ext cx="1947672" cy="822960"/>
          </a:xfrm>
          <a:prstGeom prst="rect">
            <a:avLst/>
          </a:prstGeom>
          <a:solidFill>
            <a:srgbClr val="EAF4FB"/>
          </a:solidFill>
          <a:ln w="12700">
            <a:solidFill>
              <a:srgbClr val="06121F"/>
            </a:solidFill>
            <a:prstDash val="solid"/>
          </a:ln>
        </p:spPr>
      </p:sp>
      <p:sp>
        <p:nvSpPr>
          <p:cNvPr id="23" name="Text 20"/>
          <p:cNvSpPr txBox="1"/>
          <p:nvPr/>
        </p:nvSpPr>
        <p:spPr>
          <a:xfrm>
            <a:off x="9692640" y="2834640"/>
            <a:ext cx="1719072" cy="822960"/>
          </a:xfrm>
          <a:prstGeom prst="rect">
            <a:avLst/>
          </a:prstGeom>
          <a:noFill/>
          <a:ln/>
        </p:spPr>
        <p:txBody>
          <a:bodyPr wrap="square" lIns="0" tIns="0" rIns="0" bIns="0" rtlCol="0" anchor="ctr"/>
          <a:lstStyle/>
          <a:p>
            <a:pPr indent="0" marL="0">
              <a:lnSpc>
                <a:spcPct val="95000"/>
              </a:lnSpc>
              <a:buNone/>
            </a:pPr>
            <a:r>
              <a:rPr lang="en-US" sz="1050" dirty="0">
                <a:solidFill>
                  <a:srgbClr val="0B2A45"/>
                </a:solidFill>
                <a:latin typeface="Arial" pitchFamily="34" charset="0"/>
                <a:ea typeface="Arial" pitchFamily="34" charset="-122"/>
                <a:cs typeface="Arial" pitchFamily="34" charset="-120"/>
              </a:rPr>
              <a:t>The attackers committed criminal offences</a:t>
            </a:r>
            <a:endParaRPr lang="en-US" sz="1050" dirty="0"/>
          </a:p>
        </p:txBody>
      </p:sp>
      <p:sp>
        <p:nvSpPr>
          <p:cNvPr id="24" name="Shape 21"/>
          <p:cNvSpPr/>
          <p:nvPr/>
        </p:nvSpPr>
        <p:spPr>
          <a:xfrm>
            <a:off x="3977640" y="3657600"/>
            <a:ext cx="2286000" cy="822960"/>
          </a:xfrm>
          <a:prstGeom prst="rect">
            <a:avLst/>
          </a:prstGeom>
          <a:solidFill>
            <a:srgbClr val="DCEBF7"/>
          </a:solidFill>
          <a:ln w="12700">
            <a:solidFill>
              <a:srgbClr val="06121F"/>
            </a:solidFill>
            <a:prstDash val="solid"/>
          </a:ln>
        </p:spPr>
      </p:sp>
      <p:sp>
        <p:nvSpPr>
          <p:cNvPr id="25" name="Text 22"/>
          <p:cNvSpPr txBox="1"/>
          <p:nvPr/>
        </p:nvSpPr>
        <p:spPr>
          <a:xfrm>
            <a:off x="4114800" y="3657600"/>
            <a:ext cx="2057400" cy="822960"/>
          </a:xfrm>
          <a:prstGeom prst="rect">
            <a:avLst/>
          </a:prstGeom>
          <a:noFill/>
          <a:ln/>
        </p:spPr>
        <p:txBody>
          <a:bodyPr wrap="square" lIns="0" tIns="0" rIns="0" bIns="0" rtlCol="0" anchor="ctr"/>
          <a:lstStyle/>
          <a:p>
            <a:pPr indent="0" marL="0">
              <a:lnSpc>
                <a:spcPct val="95000"/>
              </a:lnSpc>
              <a:buNone/>
            </a:pPr>
            <a:r>
              <a:rPr lang="en-US" sz="1050" b="1" dirty="0">
                <a:solidFill>
                  <a:srgbClr val="0B2A45"/>
                </a:solidFill>
                <a:latin typeface="Arial" pitchFamily="34" charset="0"/>
                <a:ea typeface="Arial" pitchFamily="34" charset="-122"/>
                <a:cs typeface="Arial" pitchFamily="34" charset="-120"/>
              </a:rPr>
              <a:t>IT Act s.43A</a:t>
            </a:r>
            <a:endParaRPr lang="en-US" sz="1050" dirty="0"/>
          </a:p>
        </p:txBody>
      </p:sp>
      <p:sp>
        <p:nvSpPr>
          <p:cNvPr id="26" name="Shape 23"/>
          <p:cNvSpPr/>
          <p:nvPr/>
        </p:nvSpPr>
        <p:spPr>
          <a:xfrm>
            <a:off x="6263640" y="3657600"/>
            <a:ext cx="3291840" cy="822960"/>
          </a:xfrm>
          <a:prstGeom prst="rect">
            <a:avLst/>
          </a:prstGeom>
          <a:solidFill>
            <a:srgbClr val="DCEBF7"/>
          </a:solidFill>
          <a:ln w="12700">
            <a:solidFill>
              <a:srgbClr val="06121F"/>
            </a:solidFill>
            <a:prstDash val="solid"/>
          </a:ln>
        </p:spPr>
      </p:sp>
      <p:sp>
        <p:nvSpPr>
          <p:cNvPr id="27" name="Text 24"/>
          <p:cNvSpPr txBox="1"/>
          <p:nvPr/>
        </p:nvSpPr>
        <p:spPr>
          <a:xfrm>
            <a:off x="6400800" y="3657600"/>
            <a:ext cx="3063240" cy="822960"/>
          </a:xfrm>
          <a:prstGeom prst="rect">
            <a:avLst/>
          </a:prstGeom>
          <a:noFill/>
          <a:ln/>
        </p:spPr>
        <p:txBody>
          <a:bodyPr wrap="square" lIns="0" tIns="0" rIns="0" bIns="0" rtlCol="0" anchor="ctr"/>
          <a:lstStyle/>
          <a:p>
            <a:pPr indent="0" marL="0">
              <a:lnSpc>
                <a:spcPct val="95000"/>
              </a:lnSpc>
              <a:buNone/>
            </a:pPr>
            <a:r>
              <a:rPr lang="en-US" sz="1050" dirty="0">
                <a:solidFill>
                  <a:srgbClr val="0B2A45"/>
                </a:solidFill>
                <a:latin typeface="Arial" pitchFamily="34" charset="0"/>
                <a:ea typeface="Arial" pitchFamily="34" charset="-122"/>
                <a:cs typeface="Arial" pitchFamily="34" charset="-120"/>
              </a:rPr>
              <a:t>Negligence protecting sensitive data</a:t>
            </a:r>
            <a:endParaRPr lang="en-US" sz="1050" dirty="0"/>
          </a:p>
        </p:txBody>
      </p:sp>
      <p:sp>
        <p:nvSpPr>
          <p:cNvPr id="28" name="Shape 25"/>
          <p:cNvSpPr/>
          <p:nvPr/>
        </p:nvSpPr>
        <p:spPr>
          <a:xfrm>
            <a:off x="9555480" y="3657600"/>
            <a:ext cx="1947672" cy="822960"/>
          </a:xfrm>
          <a:prstGeom prst="rect">
            <a:avLst/>
          </a:prstGeom>
          <a:solidFill>
            <a:srgbClr val="DCEBF7"/>
          </a:solidFill>
          <a:ln w="12700">
            <a:solidFill>
              <a:srgbClr val="06121F"/>
            </a:solidFill>
            <a:prstDash val="solid"/>
          </a:ln>
        </p:spPr>
      </p:sp>
      <p:sp>
        <p:nvSpPr>
          <p:cNvPr id="29" name="Text 26"/>
          <p:cNvSpPr txBox="1"/>
          <p:nvPr/>
        </p:nvSpPr>
        <p:spPr>
          <a:xfrm>
            <a:off x="9692640" y="3657600"/>
            <a:ext cx="1719072" cy="822960"/>
          </a:xfrm>
          <a:prstGeom prst="rect">
            <a:avLst/>
          </a:prstGeom>
          <a:noFill/>
          <a:ln/>
        </p:spPr>
        <p:txBody>
          <a:bodyPr wrap="square" lIns="0" tIns="0" rIns="0" bIns="0" rtlCol="0" anchor="ctr"/>
          <a:lstStyle/>
          <a:p>
            <a:pPr indent="0" marL="0">
              <a:lnSpc>
                <a:spcPct val="95000"/>
              </a:lnSpc>
              <a:buNone/>
            </a:pPr>
            <a:r>
              <a:rPr lang="en-US" sz="1050" dirty="0">
                <a:solidFill>
                  <a:srgbClr val="0B2A45"/>
                </a:solidFill>
                <a:latin typeface="Arial" pitchFamily="34" charset="0"/>
                <a:ea typeface="Arial" pitchFamily="34" charset="-122"/>
                <a:cs typeface="Arial" pitchFamily="34" charset="-120"/>
              </a:rPr>
              <a:t>Companies owe reasonable security</a:t>
            </a:r>
            <a:endParaRPr lang="en-US" sz="1050" dirty="0"/>
          </a:p>
        </p:txBody>
      </p:sp>
      <p:sp>
        <p:nvSpPr>
          <p:cNvPr id="30" name="Shape 27"/>
          <p:cNvSpPr/>
          <p:nvPr/>
        </p:nvSpPr>
        <p:spPr>
          <a:xfrm>
            <a:off x="3977640" y="4480560"/>
            <a:ext cx="2286000" cy="822960"/>
          </a:xfrm>
          <a:prstGeom prst="rect">
            <a:avLst/>
          </a:prstGeom>
          <a:solidFill>
            <a:srgbClr val="EAF4FB"/>
          </a:solidFill>
          <a:ln w="12700">
            <a:solidFill>
              <a:srgbClr val="06121F"/>
            </a:solidFill>
            <a:prstDash val="solid"/>
          </a:ln>
        </p:spPr>
      </p:sp>
      <p:sp>
        <p:nvSpPr>
          <p:cNvPr id="31" name="Text 28"/>
          <p:cNvSpPr txBox="1"/>
          <p:nvPr/>
        </p:nvSpPr>
        <p:spPr>
          <a:xfrm>
            <a:off x="4114800" y="4480560"/>
            <a:ext cx="2057400" cy="822960"/>
          </a:xfrm>
          <a:prstGeom prst="rect">
            <a:avLst/>
          </a:prstGeom>
          <a:noFill/>
          <a:ln/>
        </p:spPr>
        <p:txBody>
          <a:bodyPr wrap="square" lIns="0" tIns="0" rIns="0" bIns="0" rtlCol="0" anchor="ctr"/>
          <a:lstStyle/>
          <a:p>
            <a:pPr indent="0" marL="0">
              <a:lnSpc>
                <a:spcPct val="95000"/>
              </a:lnSpc>
              <a:buNone/>
            </a:pPr>
            <a:r>
              <a:rPr lang="en-US" sz="1050" b="1" dirty="0">
                <a:solidFill>
                  <a:srgbClr val="0B2A45"/>
                </a:solidFill>
                <a:latin typeface="Arial" pitchFamily="34" charset="0"/>
                <a:ea typeface="Arial" pitchFamily="34" charset="-122"/>
                <a:cs typeface="Arial" pitchFamily="34" charset="-120"/>
              </a:rPr>
              <a:t>IT Act s.66F &amp; 70</a:t>
            </a:r>
            <a:endParaRPr lang="en-US" sz="1050" dirty="0"/>
          </a:p>
        </p:txBody>
      </p:sp>
      <p:sp>
        <p:nvSpPr>
          <p:cNvPr id="32" name="Shape 29"/>
          <p:cNvSpPr/>
          <p:nvPr/>
        </p:nvSpPr>
        <p:spPr>
          <a:xfrm>
            <a:off x="6263640" y="4480560"/>
            <a:ext cx="3291840" cy="822960"/>
          </a:xfrm>
          <a:prstGeom prst="rect">
            <a:avLst/>
          </a:prstGeom>
          <a:solidFill>
            <a:srgbClr val="EAF4FB"/>
          </a:solidFill>
          <a:ln w="12700">
            <a:solidFill>
              <a:srgbClr val="06121F"/>
            </a:solidFill>
            <a:prstDash val="solid"/>
          </a:ln>
        </p:spPr>
      </p:sp>
      <p:sp>
        <p:nvSpPr>
          <p:cNvPr id="33" name="Text 30"/>
          <p:cNvSpPr txBox="1"/>
          <p:nvPr/>
        </p:nvSpPr>
        <p:spPr>
          <a:xfrm>
            <a:off x="6400800" y="4480560"/>
            <a:ext cx="3063240" cy="822960"/>
          </a:xfrm>
          <a:prstGeom prst="rect">
            <a:avLst/>
          </a:prstGeom>
          <a:noFill/>
          <a:ln/>
        </p:spPr>
        <p:txBody>
          <a:bodyPr wrap="square" lIns="0" tIns="0" rIns="0" bIns="0" rtlCol="0" anchor="ctr"/>
          <a:lstStyle/>
          <a:p>
            <a:pPr indent="0" marL="0">
              <a:lnSpc>
                <a:spcPct val="95000"/>
              </a:lnSpc>
              <a:buNone/>
            </a:pPr>
            <a:r>
              <a:rPr lang="en-US" sz="1050" dirty="0">
                <a:solidFill>
                  <a:srgbClr val="0B2A45"/>
                </a:solidFill>
                <a:latin typeface="Arial" pitchFamily="34" charset="0"/>
                <a:ea typeface="Arial" pitchFamily="34" charset="-122"/>
                <a:cs typeface="Arial" pitchFamily="34" charset="-120"/>
              </a:rPr>
              <a:t>Cyber terrorism; protected systems (CII)</a:t>
            </a:r>
            <a:endParaRPr lang="en-US" sz="1050" dirty="0"/>
          </a:p>
        </p:txBody>
      </p:sp>
      <p:sp>
        <p:nvSpPr>
          <p:cNvPr id="34" name="Shape 31"/>
          <p:cNvSpPr/>
          <p:nvPr/>
        </p:nvSpPr>
        <p:spPr>
          <a:xfrm>
            <a:off x="9555480" y="4480560"/>
            <a:ext cx="1947672" cy="822960"/>
          </a:xfrm>
          <a:prstGeom prst="rect">
            <a:avLst/>
          </a:prstGeom>
          <a:solidFill>
            <a:srgbClr val="EAF4FB"/>
          </a:solidFill>
          <a:ln w="12700">
            <a:solidFill>
              <a:srgbClr val="06121F"/>
            </a:solidFill>
            <a:prstDash val="solid"/>
          </a:ln>
        </p:spPr>
      </p:sp>
      <p:sp>
        <p:nvSpPr>
          <p:cNvPr id="35" name="Text 32"/>
          <p:cNvSpPr txBox="1"/>
          <p:nvPr/>
        </p:nvSpPr>
        <p:spPr>
          <a:xfrm>
            <a:off x="9692640" y="4480560"/>
            <a:ext cx="1719072" cy="822960"/>
          </a:xfrm>
          <a:prstGeom prst="rect">
            <a:avLst/>
          </a:prstGeom>
          <a:noFill/>
          <a:ln/>
        </p:spPr>
        <p:txBody>
          <a:bodyPr wrap="square" lIns="0" tIns="0" rIns="0" bIns="0" rtlCol="0" anchor="ctr"/>
          <a:lstStyle/>
          <a:p>
            <a:pPr indent="0" marL="0">
              <a:lnSpc>
                <a:spcPct val="95000"/>
              </a:lnSpc>
              <a:buNone/>
            </a:pPr>
            <a:r>
              <a:rPr lang="en-US" sz="1050" dirty="0">
                <a:solidFill>
                  <a:srgbClr val="0B2A45"/>
                </a:solidFill>
                <a:latin typeface="Arial" pitchFamily="34" charset="0"/>
                <a:ea typeface="Arial" pitchFamily="34" charset="-122"/>
                <a:cs typeface="Arial" pitchFamily="34" charset="-120"/>
              </a:rPr>
              <a:t>Grid attacks carry the gravest penalties</a:t>
            </a:r>
            <a:endParaRPr lang="en-US" sz="1050" dirty="0"/>
          </a:p>
        </p:txBody>
      </p:sp>
      <p:sp>
        <p:nvSpPr>
          <p:cNvPr id="36" name="Shape 33"/>
          <p:cNvSpPr/>
          <p:nvPr/>
        </p:nvSpPr>
        <p:spPr>
          <a:xfrm>
            <a:off x="3977640" y="5303520"/>
            <a:ext cx="2286000" cy="822960"/>
          </a:xfrm>
          <a:prstGeom prst="rect">
            <a:avLst/>
          </a:prstGeom>
          <a:solidFill>
            <a:srgbClr val="DCEBF7"/>
          </a:solidFill>
          <a:ln w="12700">
            <a:solidFill>
              <a:srgbClr val="06121F"/>
            </a:solidFill>
            <a:prstDash val="solid"/>
          </a:ln>
        </p:spPr>
      </p:sp>
      <p:sp>
        <p:nvSpPr>
          <p:cNvPr id="37" name="Text 34"/>
          <p:cNvSpPr txBox="1"/>
          <p:nvPr/>
        </p:nvSpPr>
        <p:spPr>
          <a:xfrm>
            <a:off x="4114800" y="5303520"/>
            <a:ext cx="2057400" cy="822960"/>
          </a:xfrm>
          <a:prstGeom prst="rect">
            <a:avLst/>
          </a:prstGeom>
          <a:noFill/>
          <a:ln/>
        </p:spPr>
        <p:txBody>
          <a:bodyPr wrap="square" lIns="0" tIns="0" rIns="0" bIns="0" rtlCol="0" anchor="ctr"/>
          <a:lstStyle/>
          <a:p>
            <a:pPr indent="0" marL="0">
              <a:lnSpc>
                <a:spcPct val="95000"/>
              </a:lnSpc>
              <a:buNone/>
            </a:pPr>
            <a:r>
              <a:rPr lang="en-US" sz="1050" b="1" dirty="0">
                <a:solidFill>
                  <a:srgbClr val="0B2A45"/>
                </a:solidFill>
                <a:latin typeface="Arial" pitchFamily="34" charset="0"/>
                <a:ea typeface="Arial" pitchFamily="34" charset="-122"/>
                <a:cs typeface="Arial" pitchFamily="34" charset="-120"/>
              </a:rPr>
              <a:t>DPDP Act 2023</a:t>
            </a:r>
            <a:endParaRPr lang="en-US" sz="1050" dirty="0"/>
          </a:p>
        </p:txBody>
      </p:sp>
      <p:sp>
        <p:nvSpPr>
          <p:cNvPr id="38" name="Shape 35"/>
          <p:cNvSpPr/>
          <p:nvPr/>
        </p:nvSpPr>
        <p:spPr>
          <a:xfrm>
            <a:off x="6263640" y="5303520"/>
            <a:ext cx="3291840" cy="822960"/>
          </a:xfrm>
          <a:prstGeom prst="rect">
            <a:avLst/>
          </a:prstGeom>
          <a:solidFill>
            <a:srgbClr val="DCEBF7"/>
          </a:solidFill>
          <a:ln w="12700">
            <a:solidFill>
              <a:srgbClr val="06121F"/>
            </a:solidFill>
            <a:prstDash val="solid"/>
          </a:ln>
        </p:spPr>
      </p:sp>
      <p:sp>
        <p:nvSpPr>
          <p:cNvPr id="39" name="Text 36"/>
          <p:cNvSpPr txBox="1"/>
          <p:nvPr/>
        </p:nvSpPr>
        <p:spPr>
          <a:xfrm>
            <a:off x="6400800" y="5303520"/>
            <a:ext cx="3063240" cy="822960"/>
          </a:xfrm>
          <a:prstGeom prst="rect">
            <a:avLst/>
          </a:prstGeom>
          <a:noFill/>
          <a:ln/>
        </p:spPr>
        <p:txBody>
          <a:bodyPr wrap="square" lIns="0" tIns="0" rIns="0" bIns="0" rtlCol="0" anchor="ctr"/>
          <a:lstStyle/>
          <a:p>
            <a:pPr indent="0" marL="0">
              <a:lnSpc>
                <a:spcPct val="95000"/>
              </a:lnSpc>
              <a:buNone/>
            </a:pPr>
            <a:r>
              <a:rPr lang="en-US" sz="1050" dirty="0">
                <a:solidFill>
                  <a:srgbClr val="0B2A45"/>
                </a:solidFill>
                <a:latin typeface="Arial" pitchFamily="34" charset="0"/>
                <a:ea typeface="Arial" pitchFamily="34" charset="-122"/>
                <a:cs typeface="Arial" pitchFamily="34" charset="-120"/>
              </a:rPr>
              <a:t>Breach notice; penalties up to Rs 250 cr</a:t>
            </a:r>
            <a:endParaRPr lang="en-US" sz="1050" dirty="0"/>
          </a:p>
        </p:txBody>
      </p:sp>
      <p:sp>
        <p:nvSpPr>
          <p:cNvPr id="40" name="Shape 37"/>
          <p:cNvSpPr/>
          <p:nvPr/>
        </p:nvSpPr>
        <p:spPr>
          <a:xfrm>
            <a:off x="9555480" y="5303520"/>
            <a:ext cx="1947672" cy="822960"/>
          </a:xfrm>
          <a:prstGeom prst="rect">
            <a:avLst/>
          </a:prstGeom>
          <a:solidFill>
            <a:srgbClr val="DCEBF7"/>
          </a:solidFill>
          <a:ln w="12700">
            <a:solidFill>
              <a:srgbClr val="06121F"/>
            </a:solidFill>
            <a:prstDash val="solid"/>
          </a:ln>
        </p:spPr>
      </p:sp>
      <p:sp>
        <p:nvSpPr>
          <p:cNvPr id="41" name="Text 38"/>
          <p:cNvSpPr txBox="1"/>
          <p:nvPr/>
        </p:nvSpPr>
        <p:spPr>
          <a:xfrm>
            <a:off x="9692640" y="5303520"/>
            <a:ext cx="1719072" cy="822960"/>
          </a:xfrm>
          <a:prstGeom prst="rect">
            <a:avLst/>
          </a:prstGeom>
          <a:noFill/>
          <a:ln/>
        </p:spPr>
        <p:txBody>
          <a:bodyPr wrap="square" lIns="0" tIns="0" rIns="0" bIns="0" rtlCol="0" anchor="ctr"/>
          <a:lstStyle/>
          <a:p>
            <a:pPr indent="0" marL="0">
              <a:lnSpc>
                <a:spcPct val="95000"/>
              </a:lnSpc>
              <a:buNone/>
            </a:pPr>
            <a:r>
              <a:rPr lang="en-US" sz="1050" dirty="0">
                <a:solidFill>
                  <a:srgbClr val="0B2A45"/>
                </a:solidFill>
                <a:latin typeface="Arial" pitchFamily="34" charset="0"/>
                <a:ea typeface="Arial" pitchFamily="34" charset="-122"/>
                <a:cs typeface="Arial" pitchFamily="34" charset="-120"/>
              </a:rPr>
              <a:t>The same leak today triggers duties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10</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DEFENSIVE PRACTICE</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400" b="1" dirty="0">
                <a:solidFill>
                  <a:srgbClr val="FFFFFF"/>
                </a:solidFill>
                <a:latin typeface="Arial" pitchFamily="34" charset="0"/>
                <a:ea typeface="Arial" pitchFamily="34" charset="-122"/>
                <a:cs typeface="Arial" pitchFamily="34" charset="-120"/>
              </a:rPr>
              <a:t>Detection, investigation and response</a:t>
            </a:r>
            <a:endParaRPr lang="en-US" sz="3400" dirty="0"/>
          </a:p>
        </p:txBody>
      </p:sp>
      <p:sp>
        <p:nvSpPr>
          <p:cNvPr id="5" name="Text 3"/>
          <p:cNvSpPr txBox="1"/>
          <p:nvPr/>
        </p:nvSpPr>
        <p:spPr>
          <a:xfrm>
            <a:off x="685800" y="1737360"/>
            <a:ext cx="10789920" cy="457200"/>
          </a:xfrm>
          <a:prstGeom prst="rect">
            <a:avLst/>
          </a:prstGeom>
          <a:noFill/>
          <a:ln/>
        </p:spPr>
        <p:txBody>
          <a:bodyPr wrap="square" lIns="0" tIns="0" rIns="0" bIns="0" rtlCol="0" anchor="ctr"/>
          <a:lstStyle/>
          <a:p>
            <a:pPr indent="0" marL="0">
              <a:buNone/>
            </a:pPr>
            <a:r>
              <a:rPr lang="en-US" sz="1400" dirty="0">
                <a:solidFill>
                  <a:srgbClr val="EAF4FB"/>
                </a:solidFill>
                <a:latin typeface="Arial" pitchFamily="34" charset="0"/>
                <a:ea typeface="Arial" pitchFamily="34" charset="-122"/>
                <a:cs typeface="Arial" pitchFamily="34" charset="-120"/>
              </a:rPr>
              <a:t>The response protected what mattered most — electricity supply — but detection came late, after data had already left the network.</a:t>
            </a:r>
            <a:endParaRPr lang="en-US" sz="1400" dirty="0"/>
          </a:p>
        </p:txBody>
      </p:sp>
      <p:sp>
        <p:nvSpPr>
          <p:cNvPr id="6" name="Shape 4"/>
          <p:cNvSpPr/>
          <p:nvPr/>
        </p:nvSpPr>
        <p:spPr>
          <a:xfrm>
            <a:off x="685800" y="2468880"/>
            <a:ext cx="3456432" cy="3246120"/>
          </a:xfrm>
          <a:prstGeom prst="roundRect">
            <a:avLst>
              <a:gd name="adj" fmla="val 2817"/>
            </a:avLst>
          </a:prstGeom>
          <a:solidFill>
            <a:srgbClr val="EAF4FB"/>
          </a:solidFill>
          <a:ln/>
          <a:effectLst>
            <a:outerShdw sx="100000" sy="100000" kx="0" ky="0" algn="bl" rotWithShape="0" blurRad="127000" dist="38100" dir="5400000">
              <a:srgbClr val="000000">
                <a:alpha val="35000"/>
              </a:srgbClr>
            </a:outerShdw>
          </a:effectLst>
        </p:spPr>
      </p:sp>
      <p:sp>
        <p:nvSpPr>
          <p:cNvPr id="7" name="Shape 5"/>
          <p:cNvSpPr/>
          <p:nvPr/>
        </p:nvSpPr>
        <p:spPr>
          <a:xfrm>
            <a:off x="960120" y="2743200"/>
            <a:ext cx="685800" cy="685800"/>
          </a:xfrm>
          <a:prstGeom prst="ellipse">
            <a:avLst/>
          </a:prstGeom>
          <a:solidFill>
            <a:srgbClr val="0B2A45"/>
          </a:solidFill>
          <a:ln/>
        </p:spPr>
      </p:sp>
      <p:pic>
        <p:nvPicPr>
          <p:cNvPr id="8" name="Image 0" descr="assets/icons/eye.png">    </p:cNvPr>
          <p:cNvPicPr>
            <a:picLocks noChangeAspect="1"/>
          </p:cNvPicPr>
          <p:nvPr/>
        </p:nvPicPr>
        <p:blipFill>
          <a:blip r:embed="rId2"/>
          <a:stretch>
            <a:fillRect/>
          </a:stretch>
        </p:blipFill>
        <p:spPr>
          <a:xfrm>
            <a:off x="1152144" y="2935224"/>
            <a:ext cx="301752" cy="301752"/>
          </a:xfrm>
          <a:prstGeom prst="rect">
            <a:avLst/>
          </a:prstGeom>
        </p:spPr>
      </p:pic>
      <p:sp>
        <p:nvSpPr>
          <p:cNvPr id="9" name="Text 6"/>
          <p:cNvSpPr txBox="1"/>
          <p:nvPr/>
        </p:nvSpPr>
        <p:spPr>
          <a:xfrm>
            <a:off x="1783080" y="2788920"/>
            <a:ext cx="2176272" cy="594360"/>
          </a:xfrm>
          <a:prstGeom prst="rect">
            <a:avLst/>
          </a:prstGeom>
          <a:noFill/>
          <a:ln/>
        </p:spPr>
        <p:txBody>
          <a:bodyPr wrap="square" lIns="0" tIns="0" rIns="0" bIns="0" rtlCol="0" anchor="ctr"/>
          <a:lstStyle/>
          <a:p>
            <a:pPr indent="0" marL="0">
              <a:buNone/>
            </a:pPr>
            <a:r>
              <a:rPr lang="en-US" sz="1700" b="1" dirty="0">
                <a:solidFill>
                  <a:srgbClr val="0B2A45"/>
                </a:solidFill>
                <a:latin typeface="Arial" pitchFamily="34" charset="0"/>
                <a:ea typeface="Arial" pitchFamily="34" charset="-122"/>
                <a:cs typeface="Arial" pitchFamily="34" charset="-120"/>
              </a:rPr>
              <a:t>Detect</a:t>
            </a:r>
            <a:endParaRPr lang="en-US" sz="1700" dirty="0"/>
          </a:p>
        </p:txBody>
      </p:sp>
      <p:sp>
        <p:nvSpPr>
          <p:cNvPr id="10" name="Text 7"/>
          <p:cNvSpPr txBox="1"/>
          <p:nvPr/>
        </p:nvSpPr>
        <p:spPr>
          <a:xfrm>
            <a:off x="960120" y="3611880"/>
            <a:ext cx="2907792" cy="1965960"/>
          </a:xfrm>
          <a:prstGeom prst="rect">
            <a:avLst/>
          </a:prstGeom>
          <a:noFill/>
          <a:ln/>
        </p:spPr>
        <p:txBody>
          <a:bodyPr wrap="square" lIns="0" tIns="0" rIns="0" bIns="0" rtlCol="0" anchor="ctr"/>
          <a:lstStyle/>
          <a:p>
            <a:pPr indent="0" marL="0">
              <a:lnSpc>
                <a:spcPct val="110000"/>
              </a:lnSpc>
              <a:buNone/>
            </a:pPr>
            <a:r>
              <a:rPr lang="en-US" sz="1250" dirty="0">
                <a:solidFill>
                  <a:srgbClr val="0B2A45"/>
                </a:solidFill>
                <a:latin typeface="Arial" pitchFamily="34" charset="0"/>
                <a:ea typeface="Arial" pitchFamily="34" charset="-122"/>
                <a:cs typeface="Arial" pitchFamily="34" charset="-120"/>
              </a:rPr>
              <a:t>The intrusion appears to have been noticed only when systems were encrypted (~3 Oct). By then contracts, HR records and engineering files were already stolen — a sign of monitoring and DLP gaps.</a:t>
            </a:r>
            <a:endParaRPr lang="en-US" sz="1250" dirty="0"/>
          </a:p>
        </p:txBody>
      </p:sp>
      <p:sp>
        <p:nvSpPr>
          <p:cNvPr id="11" name="Shape 8"/>
          <p:cNvSpPr/>
          <p:nvPr/>
        </p:nvSpPr>
        <p:spPr>
          <a:xfrm>
            <a:off x="4366260" y="2468880"/>
            <a:ext cx="3456432" cy="3246120"/>
          </a:xfrm>
          <a:prstGeom prst="roundRect">
            <a:avLst>
              <a:gd name="adj" fmla="val 2817"/>
            </a:avLst>
          </a:prstGeom>
          <a:solidFill>
            <a:srgbClr val="EAF4FB"/>
          </a:solidFill>
          <a:ln/>
          <a:effectLst>
            <a:outerShdw sx="100000" sy="100000" kx="0" ky="0" algn="bl" rotWithShape="0" blurRad="127000" dist="38100" dir="5400000">
              <a:srgbClr val="000000">
                <a:alpha val="35000"/>
              </a:srgbClr>
            </a:outerShdw>
          </a:effectLst>
        </p:spPr>
      </p:sp>
      <p:sp>
        <p:nvSpPr>
          <p:cNvPr id="12" name="Shape 9"/>
          <p:cNvSpPr/>
          <p:nvPr/>
        </p:nvSpPr>
        <p:spPr>
          <a:xfrm>
            <a:off x="4640580" y="2743200"/>
            <a:ext cx="685800" cy="685800"/>
          </a:xfrm>
          <a:prstGeom prst="ellipse">
            <a:avLst/>
          </a:prstGeom>
          <a:solidFill>
            <a:srgbClr val="0B2A45"/>
          </a:solidFill>
          <a:ln/>
        </p:spPr>
      </p:sp>
      <p:pic>
        <p:nvPicPr>
          <p:cNvPr id="13" name="Image 1" descr="assets/icons/search.png">    </p:cNvPr>
          <p:cNvPicPr>
            <a:picLocks noChangeAspect="1"/>
          </p:cNvPicPr>
          <p:nvPr/>
        </p:nvPicPr>
        <p:blipFill>
          <a:blip r:embed="rId3"/>
          <a:stretch>
            <a:fillRect/>
          </a:stretch>
        </p:blipFill>
        <p:spPr>
          <a:xfrm>
            <a:off x="4832604" y="2935224"/>
            <a:ext cx="301752" cy="301752"/>
          </a:xfrm>
          <a:prstGeom prst="rect">
            <a:avLst/>
          </a:prstGeom>
        </p:spPr>
      </p:pic>
      <p:sp>
        <p:nvSpPr>
          <p:cNvPr id="14" name="Text 10"/>
          <p:cNvSpPr txBox="1"/>
          <p:nvPr/>
        </p:nvSpPr>
        <p:spPr>
          <a:xfrm>
            <a:off x="5463540" y="2788920"/>
            <a:ext cx="2176272" cy="594360"/>
          </a:xfrm>
          <a:prstGeom prst="rect">
            <a:avLst/>
          </a:prstGeom>
          <a:noFill/>
          <a:ln/>
        </p:spPr>
        <p:txBody>
          <a:bodyPr wrap="square" lIns="0" tIns="0" rIns="0" bIns="0" rtlCol="0" anchor="ctr"/>
          <a:lstStyle/>
          <a:p>
            <a:pPr indent="0" marL="0">
              <a:buNone/>
            </a:pPr>
            <a:r>
              <a:rPr lang="en-US" sz="1700" b="1" dirty="0">
                <a:solidFill>
                  <a:srgbClr val="0B2A45"/>
                </a:solidFill>
                <a:latin typeface="Arial" pitchFamily="34" charset="0"/>
                <a:ea typeface="Arial" pitchFamily="34" charset="-122"/>
                <a:cs typeface="Arial" pitchFamily="34" charset="-120"/>
              </a:rPr>
              <a:t>Investigate</a:t>
            </a:r>
            <a:endParaRPr lang="en-US" sz="1700" dirty="0"/>
          </a:p>
        </p:txBody>
      </p:sp>
      <p:sp>
        <p:nvSpPr>
          <p:cNvPr id="15" name="Text 11"/>
          <p:cNvSpPr txBox="1"/>
          <p:nvPr/>
        </p:nvSpPr>
        <p:spPr>
          <a:xfrm>
            <a:off x="4640580" y="3611880"/>
            <a:ext cx="2907792" cy="1965960"/>
          </a:xfrm>
          <a:prstGeom prst="rect">
            <a:avLst/>
          </a:prstGeom>
          <a:noFill/>
          <a:ln/>
        </p:spPr>
        <p:txBody>
          <a:bodyPr wrap="square" lIns="0" tIns="0" rIns="0" bIns="0" rtlCol="0" anchor="ctr"/>
          <a:lstStyle/>
          <a:p>
            <a:pPr indent="0" marL="0">
              <a:lnSpc>
                <a:spcPct val="110000"/>
              </a:lnSpc>
              <a:buNone/>
            </a:pPr>
            <a:r>
              <a:rPr lang="en-US" sz="1250" dirty="0">
                <a:solidFill>
                  <a:srgbClr val="0B2A45"/>
                </a:solidFill>
                <a:latin typeface="Arial" pitchFamily="34" charset="0"/>
                <a:ea typeface="Arial" pitchFamily="34" charset="-122"/>
                <a:cs typeface="Arial" pitchFamily="34" charset="-120"/>
              </a:rPr>
              <a:t>The company scoped the attack as IT-only and confirmed critical operational systems were unaffected. Police and sector agencies began firewall audits.</a:t>
            </a:r>
            <a:endParaRPr lang="en-US" sz="1250" dirty="0"/>
          </a:p>
        </p:txBody>
      </p:sp>
      <p:sp>
        <p:nvSpPr>
          <p:cNvPr id="16" name="Shape 12"/>
          <p:cNvSpPr/>
          <p:nvPr/>
        </p:nvSpPr>
        <p:spPr>
          <a:xfrm>
            <a:off x="8046720" y="2468880"/>
            <a:ext cx="3456432" cy="3246120"/>
          </a:xfrm>
          <a:prstGeom prst="roundRect">
            <a:avLst>
              <a:gd name="adj" fmla="val 2817"/>
            </a:avLst>
          </a:prstGeom>
          <a:solidFill>
            <a:srgbClr val="EAF4FB"/>
          </a:solidFill>
          <a:ln/>
          <a:effectLst>
            <a:outerShdw sx="100000" sy="100000" kx="0" ky="0" algn="bl" rotWithShape="0" blurRad="127000" dist="38100" dir="5400000">
              <a:srgbClr val="000000">
                <a:alpha val="35000"/>
              </a:srgbClr>
            </a:outerShdw>
          </a:effectLst>
        </p:spPr>
      </p:sp>
      <p:sp>
        <p:nvSpPr>
          <p:cNvPr id="17" name="Shape 13"/>
          <p:cNvSpPr/>
          <p:nvPr/>
        </p:nvSpPr>
        <p:spPr>
          <a:xfrm>
            <a:off x="8321040" y="2743200"/>
            <a:ext cx="685800" cy="685800"/>
          </a:xfrm>
          <a:prstGeom prst="ellipse">
            <a:avLst/>
          </a:prstGeom>
          <a:solidFill>
            <a:srgbClr val="0B2A45"/>
          </a:solidFill>
          <a:ln/>
        </p:spPr>
      </p:sp>
      <p:pic>
        <p:nvPicPr>
          <p:cNvPr id="18" name="Image 2" descr="assets/icons/refresh.png">    </p:cNvPr>
          <p:cNvPicPr>
            <a:picLocks noChangeAspect="1"/>
          </p:cNvPicPr>
          <p:nvPr/>
        </p:nvPicPr>
        <p:blipFill>
          <a:blip r:embed="rId4"/>
          <a:stretch>
            <a:fillRect/>
          </a:stretch>
        </p:blipFill>
        <p:spPr>
          <a:xfrm>
            <a:off x="8513064" y="2935224"/>
            <a:ext cx="301752" cy="301752"/>
          </a:xfrm>
          <a:prstGeom prst="rect">
            <a:avLst/>
          </a:prstGeom>
        </p:spPr>
      </p:pic>
      <p:sp>
        <p:nvSpPr>
          <p:cNvPr id="19" name="Text 14"/>
          <p:cNvSpPr txBox="1"/>
          <p:nvPr/>
        </p:nvSpPr>
        <p:spPr>
          <a:xfrm>
            <a:off x="9144000" y="2788920"/>
            <a:ext cx="2176272" cy="594360"/>
          </a:xfrm>
          <a:prstGeom prst="rect">
            <a:avLst/>
          </a:prstGeom>
          <a:noFill/>
          <a:ln/>
        </p:spPr>
        <p:txBody>
          <a:bodyPr wrap="square" lIns="0" tIns="0" rIns="0" bIns="0" rtlCol="0" anchor="ctr"/>
          <a:lstStyle/>
          <a:p>
            <a:pPr indent="0" marL="0">
              <a:buNone/>
            </a:pPr>
            <a:r>
              <a:rPr lang="en-US" sz="1700" b="1" dirty="0">
                <a:solidFill>
                  <a:srgbClr val="0B2A45"/>
                </a:solidFill>
                <a:latin typeface="Arial" pitchFamily="34" charset="0"/>
                <a:ea typeface="Arial" pitchFamily="34" charset="-122"/>
                <a:cs typeface="Arial" pitchFamily="34" charset="-120"/>
              </a:rPr>
              <a:t>Respond</a:t>
            </a:r>
            <a:endParaRPr lang="en-US" sz="1700" dirty="0"/>
          </a:p>
        </p:txBody>
      </p:sp>
      <p:sp>
        <p:nvSpPr>
          <p:cNvPr id="20" name="Text 15"/>
          <p:cNvSpPr txBox="1"/>
          <p:nvPr/>
        </p:nvSpPr>
        <p:spPr>
          <a:xfrm>
            <a:off x="8321040" y="3611880"/>
            <a:ext cx="2907792" cy="1965960"/>
          </a:xfrm>
          <a:prstGeom prst="rect">
            <a:avLst/>
          </a:prstGeom>
          <a:noFill/>
          <a:ln/>
        </p:spPr>
        <p:txBody>
          <a:bodyPr wrap="square" lIns="0" tIns="0" rIns="0" bIns="0" rtlCol="0" anchor="ctr"/>
          <a:lstStyle/>
          <a:p>
            <a:pPr indent="0" marL="0">
              <a:lnSpc>
                <a:spcPct val="110000"/>
              </a:lnSpc>
              <a:buNone/>
            </a:pPr>
            <a:r>
              <a:rPr lang="en-US" sz="1250" dirty="0">
                <a:solidFill>
                  <a:srgbClr val="0B2A45"/>
                </a:solidFill>
                <a:latin typeface="Arial" pitchFamily="34" charset="0"/>
                <a:ea typeface="Arial" pitchFamily="34" charset="-122"/>
                <a:cs typeface="Arial" pitchFamily="34" charset="-120"/>
              </a:rPr>
              <a:t>Affected systems were restored, employee and customer portals were restricted as a precaution, the incident was disclosed to the exchanges — and the ransom was not paid.</a:t>
            </a:r>
            <a:endParaRPr lang="en-US" sz="1250" dirty="0"/>
          </a:p>
        </p:txBody>
      </p:sp>
      <p:sp>
        <p:nvSpPr>
          <p:cNvPr id="21" name="Shape 16"/>
          <p:cNvSpPr/>
          <p:nvPr/>
        </p:nvSpPr>
        <p:spPr>
          <a:xfrm>
            <a:off x="685800" y="5897880"/>
            <a:ext cx="10817352" cy="566928"/>
          </a:xfrm>
          <a:prstGeom prst="roundRect">
            <a:avLst>
              <a:gd name="adj" fmla="val 12903"/>
            </a:avLst>
          </a:prstGeom>
          <a:solidFill>
            <a:srgbClr val="0B2A45"/>
          </a:solidFill>
          <a:ln/>
        </p:spPr>
      </p:sp>
      <p:sp>
        <p:nvSpPr>
          <p:cNvPr id="22" name="Text 17"/>
          <p:cNvSpPr txBox="1"/>
          <p:nvPr/>
        </p:nvSpPr>
        <p:spPr>
          <a:xfrm>
            <a:off x="960120" y="5916168"/>
            <a:ext cx="10332720" cy="530352"/>
          </a:xfrm>
          <a:prstGeom prst="rect">
            <a:avLst/>
          </a:prstGeom>
          <a:noFill/>
          <a:ln/>
        </p:spPr>
        <p:txBody>
          <a:bodyPr wrap="square" lIns="0" tIns="0" rIns="0" bIns="0" rtlCol="0" anchor="ctr"/>
          <a:lstStyle/>
          <a:p>
            <a:pPr indent="0" marL="0">
              <a:buNone/>
            </a:pPr>
            <a:r>
              <a:rPr lang="en-US" sz="1200" b="1" dirty="0">
                <a:solidFill>
                  <a:srgbClr val="22D3EE"/>
                </a:solidFill>
                <a:latin typeface="Arial" pitchFamily="34" charset="0"/>
                <a:ea typeface="Arial" pitchFamily="34" charset="-122"/>
                <a:cs typeface="Arial" pitchFamily="34" charset="-120"/>
              </a:rPr>
              <a:t>Key gap:  </a:t>
            </a:r>
            <a:pPr indent="0" marL="0">
              <a:buNone/>
            </a:pPr>
            <a:r>
              <a:rPr lang="en-US" sz="1200" dirty="0">
                <a:solidFill>
                  <a:srgbClr val="EAF4FB"/>
                </a:solidFill>
                <a:latin typeface="Arial" pitchFamily="34" charset="0"/>
                <a:ea typeface="Arial" pitchFamily="34" charset="-122"/>
                <a:cs typeface="Arial" pitchFamily="34" charset="-120"/>
              </a:rPr>
              <a:t>containment was good, but late detection meant the data was gone before anyone knew — monitoring and exfiltration alerts were the missing control.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11</a:t>
            </a:r>
            <a:endParaRPr lang="en-US" sz="1100" dirty="0"/>
          </a:p>
        </p:txBody>
      </p:sp>
      <p:sp>
        <p:nvSpPr>
          <p:cNvPr id="3" name="Text 1"/>
          <p:cNvSpPr txBox="1"/>
          <p:nvPr/>
        </p:nvSpPr>
        <p:spPr>
          <a:xfrm>
            <a:off x="685800" y="41148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WHAT WE LEARNED</a:t>
            </a:r>
            <a:endParaRPr lang="en-US" sz="1250" dirty="0"/>
          </a:p>
        </p:txBody>
      </p:sp>
      <p:sp>
        <p:nvSpPr>
          <p:cNvPr id="4" name="Text 2"/>
          <p:cNvSpPr txBox="1"/>
          <p:nvPr/>
        </p:nvSpPr>
        <p:spPr>
          <a:xfrm>
            <a:off x="685800" y="731520"/>
            <a:ext cx="1078992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Arial" pitchFamily="34" charset="0"/>
                <a:ea typeface="Arial" pitchFamily="34" charset="-122"/>
                <a:cs typeface="Arial" pitchFamily="34" charset="-120"/>
              </a:rPr>
              <a:t>Security lessons</a:t>
            </a:r>
            <a:endParaRPr lang="en-US" sz="3800" dirty="0"/>
          </a:p>
        </p:txBody>
      </p:sp>
      <p:sp>
        <p:nvSpPr>
          <p:cNvPr id="5" name="Shape 3"/>
          <p:cNvSpPr/>
          <p:nvPr/>
        </p:nvSpPr>
        <p:spPr>
          <a:xfrm>
            <a:off x="685800" y="178308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6" name="Shape 4"/>
          <p:cNvSpPr/>
          <p:nvPr/>
        </p:nvSpPr>
        <p:spPr>
          <a:xfrm>
            <a:off x="923544" y="2020824"/>
            <a:ext cx="512064" cy="512064"/>
          </a:xfrm>
          <a:prstGeom prst="ellipse">
            <a:avLst/>
          </a:prstGeom>
          <a:solidFill>
            <a:srgbClr val="0B2A45"/>
          </a:solidFill>
          <a:ln/>
        </p:spPr>
      </p:sp>
      <p:pic>
        <p:nvPicPr>
          <p:cNvPr id="7" name="Image 0" descr="assets/icons/layers.png">    </p:cNvPr>
          <p:cNvPicPr>
            <a:picLocks noChangeAspect="1"/>
          </p:cNvPicPr>
          <p:nvPr/>
        </p:nvPicPr>
        <p:blipFill>
          <a:blip r:embed="rId2"/>
          <a:stretch>
            <a:fillRect/>
          </a:stretch>
        </p:blipFill>
        <p:spPr>
          <a:xfrm>
            <a:off x="1066922" y="2164202"/>
            <a:ext cx="225308" cy="225308"/>
          </a:xfrm>
          <a:prstGeom prst="rect">
            <a:avLst/>
          </a:prstGeom>
        </p:spPr>
      </p:pic>
      <p:sp>
        <p:nvSpPr>
          <p:cNvPr id="8" name="Text 5"/>
          <p:cNvSpPr txBox="1"/>
          <p:nvPr/>
        </p:nvSpPr>
        <p:spPr>
          <a:xfrm>
            <a:off x="1554480" y="198424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IT/OT segmentation</a:t>
            </a:r>
            <a:endParaRPr lang="en-US" sz="1350" dirty="0"/>
          </a:p>
        </p:txBody>
      </p:sp>
      <p:sp>
        <p:nvSpPr>
          <p:cNvPr id="9" name="Text 6"/>
          <p:cNvSpPr txBox="1"/>
          <p:nvPr/>
        </p:nvSpPr>
        <p:spPr>
          <a:xfrm>
            <a:off x="923544" y="256946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Separate and test the boundary (Purdue, IEC 62443).</a:t>
            </a:r>
            <a:endParaRPr lang="en-US" sz="1100" dirty="0"/>
          </a:p>
        </p:txBody>
      </p:sp>
      <p:sp>
        <p:nvSpPr>
          <p:cNvPr id="10" name="Shape 7"/>
          <p:cNvSpPr/>
          <p:nvPr/>
        </p:nvSpPr>
        <p:spPr>
          <a:xfrm>
            <a:off x="4471416" y="178308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11" name="Shape 8"/>
          <p:cNvSpPr/>
          <p:nvPr/>
        </p:nvSpPr>
        <p:spPr>
          <a:xfrm>
            <a:off x="4709160" y="2020824"/>
            <a:ext cx="512064" cy="512064"/>
          </a:xfrm>
          <a:prstGeom prst="ellipse">
            <a:avLst/>
          </a:prstGeom>
          <a:solidFill>
            <a:srgbClr val="0B2A45"/>
          </a:solidFill>
          <a:ln/>
        </p:spPr>
      </p:sp>
      <p:pic>
        <p:nvPicPr>
          <p:cNvPr id="12" name="Image 1" descr="assets/icons/key.png">    </p:cNvPr>
          <p:cNvPicPr>
            <a:picLocks noChangeAspect="1"/>
          </p:cNvPicPr>
          <p:nvPr/>
        </p:nvPicPr>
        <p:blipFill>
          <a:blip r:embed="rId3"/>
          <a:stretch>
            <a:fillRect/>
          </a:stretch>
        </p:blipFill>
        <p:spPr>
          <a:xfrm>
            <a:off x="4852538" y="2164202"/>
            <a:ext cx="225308" cy="225308"/>
          </a:xfrm>
          <a:prstGeom prst="rect">
            <a:avLst/>
          </a:prstGeom>
        </p:spPr>
      </p:pic>
      <p:sp>
        <p:nvSpPr>
          <p:cNvPr id="13" name="Text 9"/>
          <p:cNvSpPr txBox="1"/>
          <p:nvPr/>
        </p:nvSpPr>
        <p:spPr>
          <a:xfrm>
            <a:off x="5340096" y="198424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Phishing-resistant MFA</a:t>
            </a:r>
            <a:endParaRPr lang="en-US" sz="1350" dirty="0"/>
          </a:p>
        </p:txBody>
      </p:sp>
      <p:sp>
        <p:nvSpPr>
          <p:cNvPr id="14" name="Text 10"/>
          <p:cNvSpPr txBox="1"/>
          <p:nvPr/>
        </p:nvSpPr>
        <p:spPr>
          <a:xfrm>
            <a:off x="4709160" y="256946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Protect remote access and VPNs with strong MFA.</a:t>
            </a:r>
            <a:endParaRPr lang="en-US" sz="1100" dirty="0"/>
          </a:p>
        </p:txBody>
      </p:sp>
      <p:sp>
        <p:nvSpPr>
          <p:cNvPr id="15" name="Shape 11"/>
          <p:cNvSpPr/>
          <p:nvPr/>
        </p:nvSpPr>
        <p:spPr>
          <a:xfrm>
            <a:off x="8257032" y="178308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16" name="Shape 12"/>
          <p:cNvSpPr/>
          <p:nvPr/>
        </p:nvSpPr>
        <p:spPr>
          <a:xfrm>
            <a:off x="8494776" y="2020824"/>
            <a:ext cx="512064" cy="512064"/>
          </a:xfrm>
          <a:prstGeom prst="ellipse">
            <a:avLst/>
          </a:prstGeom>
          <a:solidFill>
            <a:srgbClr val="0B2A45"/>
          </a:solidFill>
          <a:ln/>
        </p:spPr>
      </p:sp>
      <p:pic>
        <p:nvPicPr>
          <p:cNvPr id="17" name="Image 2" descr="assets/icons/download.png">    </p:cNvPr>
          <p:cNvPicPr>
            <a:picLocks noChangeAspect="1"/>
          </p:cNvPicPr>
          <p:nvPr/>
        </p:nvPicPr>
        <p:blipFill>
          <a:blip r:embed="rId4"/>
          <a:stretch>
            <a:fillRect/>
          </a:stretch>
        </p:blipFill>
        <p:spPr>
          <a:xfrm>
            <a:off x="8638154" y="2164202"/>
            <a:ext cx="225308" cy="225308"/>
          </a:xfrm>
          <a:prstGeom prst="rect">
            <a:avLst/>
          </a:prstGeom>
        </p:spPr>
      </p:pic>
      <p:sp>
        <p:nvSpPr>
          <p:cNvPr id="18" name="Text 13"/>
          <p:cNvSpPr txBox="1"/>
          <p:nvPr/>
        </p:nvSpPr>
        <p:spPr>
          <a:xfrm>
            <a:off x="9125712" y="198424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Patch management</a:t>
            </a:r>
            <a:endParaRPr lang="en-US" sz="1350" dirty="0"/>
          </a:p>
        </p:txBody>
      </p:sp>
      <p:sp>
        <p:nvSpPr>
          <p:cNvPr id="19" name="Text 14"/>
          <p:cNvSpPr txBox="1"/>
          <p:nvPr/>
        </p:nvSpPr>
        <p:spPr>
          <a:xfrm>
            <a:off x="8494776" y="256946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Close internet-facing vulnerabilities quickly.</a:t>
            </a:r>
            <a:endParaRPr lang="en-US" sz="1100" dirty="0"/>
          </a:p>
        </p:txBody>
      </p:sp>
      <p:sp>
        <p:nvSpPr>
          <p:cNvPr id="20" name="Shape 15"/>
          <p:cNvSpPr/>
          <p:nvPr/>
        </p:nvSpPr>
        <p:spPr>
          <a:xfrm>
            <a:off x="685800" y="333756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21" name="Shape 16"/>
          <p:cNvSpPr/>
          <p:nvPr/>
        </p:nvSpPr>
        <p:spPr>
          <a:xfrm>
            <a:off x="923544" y="3575304"/>
            <a:ext cx="512064" cy="512064"/>
          </a:xfrm>
          <a:prstGeom prst="ellipse">
            <a:avLst/>
          </a:prstGeom>
          <a:solidFill>
            <a:srgbClr val="0B2A45"/>
          </a:solidFill>
          <a:ln/>
        </p:spPr>
      </p:sp>
      <p:pic>
        <p:nvPicPr>
          <p:cNvPr id="22" name="Image 3" descr="assets/icons/upload.png">    </p:cNvPr>
          <p:cNvPicPr>
            <a:picLocks noChangeAspect="1"/>
          </p:cNvPicPr>
          <p:nvPr/>
        </p:nvPicPr>
        <p:blipFill>
          <a:blip r:embed="rId5"/>
          <a:stretch>
            <a:fillRect/>
          </a:stretch>
        </p:blipFill>
        <p:spPr>
          <a:xfrm>
            <a:off x="1066922" y="3718682"/>
            <a:ext cx="225308" cy="225308"/>
          </a:xfrm>
          <a:prstGeom prst="rect">
            <a:avLst/>
          </a:prstGeom>
        </p:spPr>
      </p:pic>
      <p:sp>
        <p:nvSpPr>
          <p:cNvPr id="23" name="Text 17"/>
          <p:cNvSpPr txBox="1"/>
          <p:nvPr/>
        </p:nvSpPr>
        <p:spPr>
          <a:xfrm>
            <a:off x="1554480" y="353872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Exfiltration monitoring</a:t>
            </a:r>
            <a:endParaRPr lang="en-US" sz="1350" dirty="0"/>
          </a:p>
        </p:txBody>
      </p:sp>
      <p:sp>
        <p:nvSpPr>
          <p:cNvPr id="24" name="Text 18"/>
          <p:cNvSpPr txBox="1"/>
          <p:nvPr/>
        </p:nvSpPr>
        <p:spPr>
          <a:xfrm>
            <a:off x="923544" y="412394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Watch for data leaving via EDR / NDR / DLP.</a:t>
            </a:r>
            <a:endParaRPr lang="en-US" sz="1100" dirty="0"/>
          </a:p>
        </p:txBody>
      </p:sp>
      <p:sp>
        <p:nvSpPr>
          <p:cNvPr id="25" name="Shape 19"/>
          <p:cNvSpPr/>
          <p:nvPr/>
        </p:nvSpPr>
        <p:spPr>
          <a:xfrm>
            <a:off x="4471416" y="333756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26" name="Shape 20"/>
          <p:cNvSpPr/>
          <p:nvPr/>
        </p:nvSpPr>
        <p:spPr>
          <a:xfrm>
            <a:off x="4709160" y="3575304"/>
            <a:ext cx="512064" cy="512064"/>
          </a:xfrm>
          <a:prstGeom prst="ellipse">
            <a:avLst/>
          </a:prstGeom>
          <a:solidFill>
            <a:srgbClr val="0B2A45"/>
          </a:solidFill>
          <a:ln/>
        </p:spPr>
      </p:sp>
      <p:pic>
        <p:nvPicPr>
          <p:cNvPr id="27" name="Image 4" descr="assets/icons/userx.png">    </p:cNvPr>
          <p:cNvPicPr>
            <a:picLocks noChangeAspect="1"/>
          </p:cNvPicPr>
          <p:nvPr/>
        </p:nvPicPr>
        <p:blipFill>
          <a:blip r:embed="rId6"/>
          <a:stretch>
            <a:fillRect/>
          </a:stretch>
        </p:blipFill>
        <p:spPr>
          <a:xfrm>
            <a:off x="4852538" y="3718682"/>
            <a:ext cx="225308" cy="225308"/>
          </a:xfrm>
          <a:prstGeom prst="rect">
            <a:avLst/>
          </a:prstGeom>
        </p:spPr>
      </p:pic>
      <p:sp>
        <p:nvSpPr>
          <p:cNvPr id="28" name="Text 21"/>
          <p:cNvSpPr txBox="1"/>
          <p:nvPr/>
        </p:nvSpPr>
        <p:spPr>
          <a:xfrm>
            <a:off x="5340096" y="353872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Data minimisation</a:t>
            </a:r>
            <a:endParaRPr lang="en-US" sz="1350" dirty="0"/>
          </a:p>
        </p:txBody>
      </p:sp>
      <p:sp>
        <p:nvSpPr>
          <p:cNvPr id="29" name="Text 22"/>
          <p:cNvSpPr txBox="1"/>
          <p:nvPr/>
        </p:nvSpPr>
        <p:spPr>
          <a:xfrm>
            <a:off x="4709160" y="412394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Mask and limit stored Aadhaar / PAN / salary data.</a:t>
            </a:r>
            <a:endParaRPr lang="en-US" sz="1100" dirty="0"/>
          </a:p>
        </p:txBody>
      </p:sp>
      <p:sp>
        <p:nvSpPr>
          <p:cNvPr id="30" name="Shape 23"/>
          <p:cNvSpPr/>
          <p:nvPr/>
        </p:nvSpPr>
        <p:spPr>
          <a:xfrm>
            <a:off x="8257032" y="333756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31" name="Shape 24"/>
          <p:cNvSpPr/>
          <p:nvPr/>
        </p:nvSpPr>
        <p:spPr>
          <a:xfrm>
            <a:off x="8494776" y="3575304"/>
            <a:ext cx="512064" cy="512064"/>
          </a:xfrm>
          <a:prstGeom prst="ellipse">
            <a:avLst/>
          </a:prstGeom>
          <a:solidFill>
            <a:srgbClr val="0B2A45"/>
          </a:solidFill>
          <a:ln/>
        </p:spPr>
      </p:sp>
      <p:pic>
        <p:nvPicPr>
          <p:cNvPr id="32" name="Image 5" descr="assets/icons/database.png">    </p:cNvPr>
          <p:cNvPicPr>
            <a:picLocks noChangeAspect="1"/>
          </p:cNvPicPr>
          <p:nvPr/>
        </p:nvPicPr>
        <p:blipFill>
          <a:blip r:embed="rId7"/>
          <a:stretch>
            <a:fillRect/>
          </a:stretch>
        </p:blipFill>
        <p:spPr>
          <a:xfrm>
            <a:off x="8638154" y="3718682"/>
            <a:ext cx="225308" cy="225308"/>
          </a:xfrm>
          <a:prstGeom prst="rect">
            <a:avLst/>
          </a:prstGeom>
        </p:spPr>
      </p:pic>
      <p:sp>
        <p:nvSpPr>
          <p:cNvPr id="33" name="Text 25"/>
          <p:cNvSpPr txBox="1"/>
          <p:nvPr/>
        </p:nvSpPr>
        <p:spPr>
          <a:xfrm>
            <a:off x="9125712" y="353872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Tested backups</a:t>
            </a:r>
            <a:endParaRPr lang="en-US" sz="1350" dirty="0"/>
          </a:p>
        </p:txBody>
      </p:sp>
      <p:sp>
        <p:nvSpPr>
          <p:cNvPr id="34" name="Text 26"/>
          <p:cNvSpPr txBox="1"/>
          <p:nvPr/>
        </p:nvSpPr>
        <p:spPr>
          <a:xfrm>
            <a:off x="8494776" y="412394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Keep immutable, offline, restore-tested backups.</a:t>
            </a:r>
            <a:endParaRPr lang="en-US" sz="1100" dirty="0"/>
          </a:p>
        </p:txBody>
      </p:sp>
      <p:sp>
        <p:nvSpPr>
          <p:cNvPr id="35" name="Shape 27"/>
          <p:cNvSpPr/>
          <p:nvPr/>
        </p:nvSpPr>
        <p:spPr>
          <a:xfrm>
            <a:off x="685800" y="489204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36" name="Shape 28"/>
          <p:cNvSpPr/>
          <p:nvPr/>
        </p:nvSpPr>
        <p:spPr>
          <a:xfrm>
            <a:off x="923544" y="5129784"/>
            <a:ext cx="512064" cy="512064"/>
          </a:xfrm>
          <a:prstGeom prst="ellipse">
            <a:avLst/>
          </a:prstGeom>
          <a:solidFill>
            <a:srgbClr val="0B2A45"/>
          </a:solidFill>
          <a:ln/>
        </p:spPr>
      </p:sp>
      <p:pic>
        <p:nvPicPr>
          <p:cNvPr id="37" name="Image 6" descr="assets/icons/zap.png">    </p:cNvPr>
          <p:cNvPicPr>
            <a:picLocks noChangeAspect="1"/>
          </p:cNvPicPr>
          <p:nvPr/>
        </p:nvPicPr>
        <p:blipFill>
          <a:blip r:embed="rId8"/>
          <a:stretch>
            <a:fillRect/>
          </a:stretch>
        </p:blipFill>
        <p:spPr>
          <a:xfrm>
            <a:off x="1066922" y="5273162"/>
            <a:ext cx="225308" cy="225308"/>
          </a:xfrm>
          <a:prstGeom prst="rect">
            <a:avLst/>
          </a:prstGeom>
        </p:spPr>
      </p:pic>
      <p:sp>
        <p:nvSpPr>
          <p:cNvPr id="38" name="Text 29"/>
          <p:cNvSpPr txBox="1"/>
          <p:nvPr/>
        </p:nvSpPr>
        <p:spPr>
          <a:xfrm>
            <a:off x="1554480" y="509320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Incident response</a:t>
            </a:r>
            <a:endParaRPr lang="en-US" sz="1350" dirty="0"/>
          </a:p>
        </p:txBody>
      </p:sp>
      <p:sp>
        <p:nvSpPr>
          <p:cNvPr id="39" name="Text 30"/>
          <p:cNvSpPr txBox="1"/>
          <p:nvPr/>
        </p:nvSpPr>
        <p:spPr>
          <a:xfrm>
            <a:off x="923544" y="567842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Rehearse a plan with clear communication.</a:t>
            </a:r>
            <a:endParaRPr lang="en-US" sz="1100" dirty="0"/>
          </a:p>
        </p:txBody>
      </p:sp>
      <p:sp>
        <p:nvSpPr>
          <p:cNvPr id="40" name="Shape 31"/>
          <p:cNvSpPr/>
          <p:nvPr/>
        </p:nvSpPr>
        <p:spPr>
          <a:xfrm>
            <a:off x="4471416" y="489204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41" name="Shape 32"/>
          <p:cNvSpPr/>
          <p:nvPr/>
        </p:nvSpPr>
        <p:spPr>
          <a:xfrm>
            <a:off x="4709160" y="5129784"/>
            <a:ext cx="512064" cy="512064"/>
          </a:xfrm>
          <a:prstGeom prst="ellipse">
            <a:avLst/>
          </a:prstGeom>
          <a:solidFill>
            <a:srgbClr val="0B2A45"/>
          </a:solidFill>
          <a:ln/>
        </p:spPr>
      </p:sp>
      <p:pic>
        <p:nvPicPr>
          <p:cNvPr id="42" name="Image 7" descr="assets/icons/shield.png">    </p:cNvPr>
          <p:cNvPicPr>
            <a:picLocks noChangeAspect="1"/>
          </p:cNvPicPr>
          <p:nvPr/>
        </p:nvPicPr>
        <p:blipFill>
          <a:blip r:embed="rId9"/>
          <a:stretch>
            <a:fillRect/>
          </a:stretch>
        </p:blipFill>
        <p:spPr>
          <a:xfrm>
            <a:off x="4852538" y="5273162"/>
            <a:ext cx="225308" cy="225308"/>
          </a:xfrm>
          <a:prstGeom prst="rect">
            <a:avLst/>
          </a:prstGeom>
        </p:spPr>
      </p:pic>
      <p:sp>
        <p:nvSpPr>
          <p:cNvPr id="43" name="Text 33"/>
          <p:cNvSpPr txBox="1"/>
          <p:nvPr/>
        </p:nvSpPr>
        <p:spPr>
          <a:xfrm>
            <a:off x="5340096" y="509320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Least privilege</a:t>
            </a:r>
            <a:endParaRPr lang="en-US" sz="1350" dirty="0"/>
          </a:p>
        </p:txBody>
      </p:sp>
      <p:sp>
        <p:nvSpPr>
          <p:cNvPr id="44" name="Text 34"/>
          <p:cNvSpPr txBox="1"/>
          <p:nvPr/>
        </p:nvSpPr>
        <p:spPr>
          <a:xfrm>
            <a:off x="4709160" y="567842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Restrict who can reach sensitive file shares.</a:t>
            </a:r>
            <a:endParaRPr lang="en-US" sz="1100" dirty="0"/>
          </a:p>
        </p:txBody>
      </p:sp>
      <p:sp>
        <p:nvSpPr>
          <p:cNvPr id="45" name="Shape 35"/>
          <p:cNvSpPr/>
          <p:nvPr/>
        </p:nvSpPr>
        <p:spPr>
          <a:xfrm>
            <a:off x="8257032" y="4892040"/>
            <a:ext cx="3456432" cy="1353312"/>
          </a:xfrm>
          <a:prstGeom prst="roundRect">
            <a:avLst>
              <a:gd name="adj" fmla="val 6757"/>
            </a:avLst>
          </a:prstGeom>
          <a:solidFill>
            <a:srgbClr val="EAF4FB"/>
          </a:solidFill>
          <a:ln/>
          <a:effectLst>
            <a:outerShdw sx="100000" sy="100000" kx="0" ky="0" algn="bl" rotWithShape="0" blurRad="127000" dist="38100" dir="5400000">
              <a:srgbClr val="000000">
                <a:alpha val="35000"/>
              </a:srgbClr>
            </a:outerShdw>
          </a:effectLst>
        </p:spPr>
      </p:sp>
      <p:sp>
        <p:nvSpPr>
          <p:cNvPr id="46" name="Shape 36"/>
          <p:cNvSpPr/>
          <p:nvPr/>
        </p:nvSpPr>
        <p:spPr>
          <a:xfrm>
            <a:off x="8494776" y="5129784"/>
            <a:ext cx="512064" cy="512064"/>
          </a:xfrm>
          <a:prstGeom prst="ellipse">
            <a:avLst/>
          </a:prstGeom>
          <a:solidFill>
            <a:srgbClr val="0B2A45"/>
          </a:solidFill>
          <a:ln/>
        </p:spPr>
      </p:sp>
      <p:pic>
        <p:nvPicPr>
          <p:cNvPr id="47" name="Image 8" descr="assets/icons/clock.png">    </p:cNvPr>
          <p:cNvPicPr>
            <a:picLocks noChangeAspect="1"/>
          </p:cNvPicPr>
          <p:nvPr/>
        </p:nvPicPr>
        <p:blipFill>
          <a:blip r:embed="rId10"/>
          <a:stretch>
            <a:fillRect/>
          </a:stretch>
        </p:blipFill>
        <p:spPr>
          <a:xfrm>
            <a:off x="8638154" y="5273162"/>
            <a:ext cx="225308" cy="225308"/>
          </a:xfrm>
          <a:prstGeom prst="rect">
            <a:avLst/>
          </a:prstGeom>
        </p:spPr>
      </p:pic>
      <p:sp>
        <p:nvSpPr>
          <p:cNvPr id="48" name="Text 37"/>
          <p:cNvSpPr txBox="1"/>
          <p:nvPr/>
        </p:nvSpPr>
        <p:spPr>
          <a:xfrm>
            <a:off x="9125712" y="5093208"/>
            <a:ext cx="2450592" cy="502920"/>
          </a:xfrm>
          <a:prstGeom prst="rect">
            <a:avLst/>
          </a:prstGeom>
          <a:noFill/>
          <a:ln/>
        </p:spPr>
        <p:txBody>
          <a:bodyPr wrap="square" lIns="0" tIns="0" rIns="0" bIns="0" rtlCol="0" anchor="ctr"/>
          <a:lstStyle/>
          <a:p>
            <a:pPr indent="0" marL="0">
              <a:buNone/>
            </a:pPr>
            <a:r>
              <a:rPr lang="en-US" sz="1350" b="1" dirty="0">
                <a:solidFill>
                  <a:srgbClr val="0B2A45"/>
                </a:solidFill>
                <a:latin typeface="Arial" pitchFamily="34" charset="0"/>
                <a:ea typeface="Arial" pitchFamily="34" charset="-122"/>
                <a:cs typeface="Arial" pitchFamily="34" charset="-120"/>
              </a:rPr>
              <a:t>Rapid reporting</a:t>
            </a:r>
            <a:endParaRPr lang="en-US" sz="1350" dirty="0"/>
          </a:p>
        </p:txBody>
      </p:sp>
      <p:sp>
        <p:nvSpPr>
          <p:cNvPr id="49" name="Text 38"/>
          <p:cNvSpPr txBox="1"/>
          <p:nvPr/>
        </p:nvSpPr>
        <p:spPr>
          <a:xfrm>
            <a:off x="8494776" y="5678424"/>
            <a:ext cx="2999232" cy="502920"/>
          </a:xfrm>
          <a:prstGeom prst="rect">
            <a:avLst/>
          </a:prstGeom>
          <a:noFill/>
          <a:ln/>
        </p:spPr>
        <p:txBody>
          <a:bodyPr wrap="square" lIns="0" tIns="0" rIns="0" bIns="0" rtlCol="0" anchor="ctr"/>
          <a:lstStyle/>
          <a:p>
            <a:pPr indent="0" marL="0">
              <a:lnSpc>
                <a:spcPct val="98000"/>
              </a:lnSpc>
              <a:buNone/>
            </a:pPr>
            <a:r>
              <a:rPr lang="en-US" sz="1100" dirty="0">
                <a:solidFill>
                  <a:srgbClr val="475569"/>
                </a:solidFill>
                <a:latin typeface="Arial" pitchFamily="34" charset="0"/>
                <a:ea typeface="Arial" pitchFamily="34" charset="-122"/>
                <a:cs typeface="Arial" pitchFamily="34" charset="-120"/>
              </a:rPr>
              <a:t>Meet the CERT-In 6-hour reporting duty.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12</a:t>
            </a:r>
            <a:endParaRPr lang="en-US" sz="1100" dirty="0"/>
          </a:p>
        </p:txBody>
      </p:sp>
      <p:sp>
        <p:nvSpPr>
          <p:cNvPr id="3" name="Text 1"/>
          <p:cNvSpPr txBox="1"/>
          <p:nvPr/>
        </p:nvSpPr>
        <p:spPr>
          <a:xfrm>
            <a:off x="685800" y="50292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MODERN ANALYSIS</a:t>
            </a:r>
            <a:endParaRPr lang="en-US" sz="1250" dirty="0"/>
          </a:p>
        </p:txBody>
      </p:sp>
      <p:sp>
        <p:nvSpPr>
          <p:cNvPr id="4" name="Text 2"/>
          <p:cNvSpPr txBox="1"/>
          <p:nvPr/>
        </p:nvSpPr>
        <p:spPr>
          <a:xfrm>
            <a:off x="685800" y="822960"/>
            <a:ext cx="10789920" cy="1097280"/>
          </a:xfrm>
          <a:prstGeom prst="rect">
            <a:avLst/>
          </a:prstGeom>
          <a:noFill/>
          <a:ln/>
        </p:spPr>
        <p:txBody>
          <a:bodyPr wrap="square" lIns="0" tIns="0" rIns="0" bIns="0" rtlCol="0" anchor="ctr"/>
          <a:lstStyle/>
          <a:p>
            <a:pPr indent="0" marL="0">
              <a:lnSpc>
                <a:spcPct val="98000"/>
              </a:lnSpc>
              <a:buNone/>
            </a:pPr>
            <a:r>
              <a:rPr lang="en-US" sz="3600" b="1" dirty="0">
                <a:solidFill>
                  <a:srgbClr val="FFFFFF"/>
                </a:solidFill>
                <a:latin typeface="Arial" pitchFamily="34" charset="0"/>
                <a:ea typeface="Arial" pitchFamily="34" charset="-122"/>
                <a:cs typeface="Arial" pitchFamily="34" charset="-120"/>
              </a:rPr>
              <a:t>2022 vs recommended today</a:t>
            </a:r>
            <a:endParaRPr lang="en-US" sz="3600" dirty="0"/>
          </a:p>
        </p:txBody>
      </p:sp>
      <p:sp>
        <p:nvSpPr>
          <p:cNvPr id="5" name="Text 3"/>
          <p:cNvSpPr txBox="1"/>
          <p:nvPr/>
        </p:nvSpPr>
        <p:spPr>
          <a:xfrm>
            <a:off x="685800" y="1737360"/>
            <a:ext cx="10789920" cy="411480"/>
          </a:xfrm>
          <a:prstGeom prst="rect">
            <a:avLst/>
          </a:prstGeom>
          <a:noFill/>
          <a:ln/>
        </p:spPr>
        <p:txBody>
          <a:bodyPr wrap="square" lIns="0" tIns="0" rIns="0" bIns="0" rtlCol="0" anchor="ctr"/>
          <a:lstStyle/>
          <a:p>
            <a:pPr indent="0" marL="0">
              <a:buNone/>
            </a:pPr>
            <a:r>
              <a:rPr lang="en-US" sz="1400" i="1" dirty="0">
                <a:solidFill>
                  <a:srgbClr val="94A3B8"/>
                </a:solidFill>
                <a:latin typeface="Arial" pitchFamily="34" charset="0"/>
                <a:ea typeface="Arial" pitchFamily="34" charset="-122"/>
                <a:cs typeface="Arial" pitchFamily="34" charset="-120"/>
              </a:rPr>
              <a:t>How Tata Power's 2022 posture compares with recommended practice for a critical-infrastructure utility (present-day analysis).</a:t>
            </a:r>
            <a:endParaRPr lang="en-US" sz="1400" dirty="0"/>
          </a:p>
        </p:txBody>
      </p:sp>
      <p:sp>
        <p:nvSpPr>
          <p:cNvPr id="6" name="Shape 4"/>
          <p:cNvSpPr/>
          <p:nvPr/>
        </p:nvSpPr>
        <p:spPr>
          <a:xfrm>
            <a:off x="685800" y="2331720"/>
            <a:ext cx="2743200" cy="667512"/>
          </a:xfrm>
          <a:prstGeom prst="rect">
            <a:avLst/>
          </a:prstGeom>
          <a:solidFill>
            <a:srgbClr val="0B2A45"/>
          </a:solidFill>
          <a:ln w="12700">
            <a:solidFill>
              <a:srgbClr val="06121F"/>
            </a:solidFill>
            <a:prstDash val="solid"/>
          </a:ln>
        </p:spPr>
      </p:sp>
      <p:sp>
        <p:nvSpPr>
          <p:cNvPr id="7" name="Text 5"/>
          <p:cNvSpPr txBox="1"/>
          <p:nvPr/>
        </p:nvSpPr>
        <p:spPr>
          <a:xfrm>
            <a:off x="868680" y="2331720"/>
            <a:ext cx="2423160" cy="667512"/>
          </a:xfrm>
          <a:prstGeom prst="rect">
            <a:avLst/>
          </a:prstGeom>
          <a:noFill/>
          <a:ln/>
        </p:spPr>
        <p:txBody>
          <a:bodyPr wrap="square" lIns="0" tIns="0" rIns="0" bIns="0" rtlCol="0" anchor="ctr"/>
          <a:lstStyle/>
          <a:p>
            <a:pPr indent="0" marL="0">
              <a:lnSpc>
                <a:spcPct val="95000"/>
              </a:lnSpc>
              <a:buNone/>
            </a:pPr>
            <a:r>
              <a:rPr lang="en-US" sz="1350" b="1" dirty="0">
                <a:solidFill>
                  <a:srgbClr val="FFFFFF"/>
                </a:solidFill>
                <a:latin typeface="Arial" pitchFamily="34" charset="0"/>
                <a:ea typeface="Arial" pitchFamily="34" charset="-122"/>
                <a:cs typeface="Arial" pitchFamily="34" charset="-120"/>
              </a:rPr>
              <a:t>Feature</a:t>
            </a:r>
            <a:endParaRPr lang="en-US" sz="1350" dirty="0"/>
          </a:p>
        </p:txBody>
      </p:sp>
      <p:sp>
        <p:nvSpPr>
          <p:cNvPr id="8" name="Shape 6"/>
          <p:cNvSpPr/>
          <p:nvPr/>
        </p:nvSpPr>
        <p:spPr>
          <a:xfrm>
            <a:off x="3429000" y="2331720"/>
            <a:ext cx="4023360" cy="667512"/>
          </a:xfrm>
          <a:prstGeom prst="rect">
            <a:avLst/>
          </a:prstGeom>
          <a:solidFill>
            <a:srgbClr val="0B2A45"/>
          </a:solidFill>
          <a:ln w="12700">
            <a:solidFill>
              <a:srgbClr val="06121F"/>
            </a:solidFill>
            <a:prstDash val="solid"/>
          </a:ln>
        </p:spPr>
      </p:sp>
      <p:sp>
        <p:nvSpPr>
          <p:cNvPr id="9" name="Text 7"/>
          <p:cNvSpPr txBox="1"/>
          <p:nvPr/>
        </p:nvSpPr>
        <p:spPr>
          <a:xfrm>
            <a:off x="3611880" y="2331720"/>
            <a:ext cx="3703320" cy="667512"/>
          </a:xfrm>
          <a:prstGeom prst="rect">
            <a:avLst/>
          </a:prstGeom>
          <a:noFill/>
          <a:ln/>
        </p:spPr>
        <p:txBody>
          <a:bodyPr wrap="square" lIns="0" tIns="0" rIns="0" bIns="0" rtlCol="0" anchor="ctr"/>
          <a:lstStyle/>
          <a:p>
            <a:pPr indent="0" marL="0">
              <a:lnSpc>
                <a:spcPct val="95000"/>
              </a:lnSpc>
              <a:buNone/>
            </a:pPr>
            <a:r>
              <a:rPr lang="en-US" sz="1350" b="1" dirty="0">
                <a:solidFill>
                  <a:srgbClr val="22D3EE"/>
                </a:solidFill>
                <a:latin typeface="Arial" pitchFamily="34" charset="0"/>
                <a:ea typeface="Arial" pitchFamily="34" charset="-122"/>
                <a:cs typeface="Arial" pitchFamily="34" charset="-120"/>
              </a:rPr>
              <a:t>Tata Power (2022)</a:t>
            </a:r>
            <a:endParaRPr lang="en-US" sz="1350" dirty="0"/>
          </a:p>
        </p:txBody>
      </p:sp>
      <p:sp>
        <p:nvSpPr>
          <p:cNvPr id="10" name="Shape 8"/>
          <p:cNvSpPr/>
          <p:nvPr/>
        </p:nvSpPr>
        <p:spPr>
          <a:xfrm>
            <a:off x="7452360" y="2331720"/>
            <a:ext cx="4050792" cy="667512"/>
          </a:xfrm>
          <a:prstGeom prst="rect">
            <a:avLst/>
          </a:prstGeom>
          <a:solidFill>
            <a:srgbClr val="0B2A45"/>
          </a:solidFill>
          <a:ln w="12700">
            <a:solidFill>
              <a:srgbClr val="06121F"/>
            </a:solidFill>
            <a:prstDash val="solid"/>
          </a:ln>
        </p:spPr>
      </p:sp>
      <p:sp>
        <p:nvSpPr>
          <p:cNvPr id="11" name="Text 9"/>
          <p:cNvSpPr txBox="1"/>
          <p:nvPr/>
        </p:nvSpPr>
        <p:spPr>
          <a:xfrm>
            <a:off x="7635240" y="2331720"/>
            <a:ext cx="3730752" cy="667512"/>
          </a:xfrm>
          <a:prstGeom prst="rect">
            <a:avLst/>
          </a:prstGeom>
          <a:noFill/>
          <a:ln/>
        </p:spPr>
        <p:txBody>
          <a:bodyPr wrap="square" lIns="0" tIns="0" rIns="0" bIns="0" rtlCol="0" anchor="ctr"/>
          <a:lstStyle/>
          <a:p>
            <a:pPr indent="0" marL="0">
              <a:lnSpc>
                <a:spcPct val="95000"/>
              </a:lnSpc>
              <a:buNone/>
            </a:pPr>
            <a:r>
              <a:rPr lang="en-US" sz="1350" b="1" dirty="0">
                <a:solidFill>
                  <a:srgbClr val="22D3EE"/>
                </a:solidFill>
                <a:latin typeface="Arial" pitchFamily="34" charset="0"/>
                <a:ea typeface="Arial" pitchFamily="34" charset="-122"/>
                <a:cs typeface="Arial" pitchFamily="34" charset="-120"/>
              </a:rPr>
              <a:t>Recommended today</a:t>
            </a:r>
            <a:endParaRPr lang="en-US" sz="1350" dirty="0"/>
          </a:p>
        </p:txBody>
      </p:sp>
      <p:sp>
        <p:nvSpPr>
          <p:cNvPr id="12" name="Shape 10"/>
          <p:cNvSpPr/>
          <p:nvPr/>
        </p:nvSpPr>
        <p:spPr>
          <a:xfrm>
            <a:off x="685800" y="2999232"/>
            <a:ext cx="2743200" cy="667512"/>
          </a:xfrm>
          <a:prstGeom prst="rect">
            <a:avLst/>
          </a:prstGeom>
          <a:solidFill>
            <a:srgbClr val="EAF4FB"/>
          </a:solidFill>
          <a:ln w="12700">
            <a:solidFill>
              <a:srgbClr val="06121F"/>
            </a:solidFill>
            <a:prstDash val="solid"/>
          </a:ln>
        </p:spPr>
      </p:sp>
      <p:sp>
        <p:nvSpPr>
          <p:cNvPr id="13" name="Text 11"/>
          <p:cNvSpPr txBox="1"/>
          <p:nvPr/>
        </p:nvSpPr>
        <p:spPr>
          <a:xfrm>
            <a:off x="868680" y="2999232"/>
            <a:ext cx="2423160" cy="667512"/>
          </a:xfrm>
          <a:prstGeom prst="rect">
            <a:avLst/>
          </a:prstGeom>
          <a:noFill/>
          <a:ln/>
        </p:spPr>
        <p:txBody>
          <a:bodyPr wrap="square" lIns="0" tIns="0" rIns="0" bIns="0" rtlCol="0" anchor="ctr"/>
          <a:lstStyle/>
          <a:p>
            <a:pPr indent="0" marL="0">
              <a:lnSpc>
                <a:spcPct val="95000"/>
              </a:lnSpc>
              <a:buNone/>
            </a:pPr>
            <a:r>
              <a:rPr lang="en-US" sz="1250" b="1" dirty="0">
                <a:solidFill>
                  <a:srgbClr val="0B2A45"/>
                </a:solidFill>
                <a:latin typeface="Arial" pitchFamily="34" charset="0"/>
                <a:ea typeface="Arial" pitchFamily="34" charset="-122"/>
                <a:cs typeface="Arial" pitchFamily="34" charset="-120"/>
              </a:rPr>
              <a:t>IT/OT boundary</a:t>
            </a:r>
            <a:endParaRPr lang="en-US" sz="1250" dirty="0"/>
          </a:p>
        </p:txBody>
      </p:sp>
      <p:sp>
        <p:nvSpPr>
          <p:cNvPr id="14" name="Shape 12"/>
          <p:cNvSpPr/>
          <p:nvPr/>
        </p:nvSpPr>
        <p:spPr>
          <a:xfrm>
            <a:off x="3429000" y="2999232"/>
            <a:ext cx="4023360" cy="667512"/>
          </a:xfrm>
          <a:prstGeom prst="rect">
            <a:avLst/>
          </a:prstGeom>
          <a:solidFill>
            <a:srgbClr val="EAF4FB"/>
          </a:solidFill>
          <a:ln w="12700">
            <a:solidFill>
              <a:srgbClr val="06121F"/>
            </a:solidFill>
            <a:prstDash val="solid"/>
          </a:ln>
        </p:spPr>
      </p:sp>
      <p:sp>
        <p:nvSpPr>
          <p:cNvPr id="15" name="Text 13"/>
          <p:cNvSpPr txBox="1"/>
          <p:nvPr/>
        </p:nvSpPr>
        <p:spPr>
          <a:xfrm>
            <a:off x="3611880" y="2999232"/>
            <a:ext cx="3703320"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Held — supply unaffected</a:t>
            </a:r>
            <a:endParaRPr lang="en-US" sz="1250" dirty="0"/>
          </a:p>
        </p:txBody>
      </p:sp>
      <p:sp>
        <p:nvSpPr>
          <p:cNvPr id="16" name="Shape 14"/>
          <p:cNvSpPr/>
          <p:nvPr/>
        </p:nvSpPr>
        <p:spPr>
          <a:xfrm>
            <a:off x="7452360" y="2999232"/>
            <a:ext cx="4050792" cy="667512"/>
          </a:xfrm>
          <a:prstGeom prst="rect">
            <a:avLst/>
          </a:prstGeom>
          <a:solidFill>
            <a:srgbClr val="EAF4FB"/>
          </a:solidFill>
          <a:ln w="12700">
            <a:solidFill>
              <a:srgbClr val="06121F"/>
            </a:solidFill>
            <a:prstDash val="solid"/>
          </a:ln>
        </p:spPr>
      </p:sp>
      <p:sp>
        <p:nvSpPr>
          <p:cNvPr id="17" name="Text 15"/>
          <p:cNvSpPr txBox="1"/>
          <p:nvPr/>
        </p:nvSpPr>
        <p:spPr>
          <a:xfrm>
            <a:off x="7635240" y="2999232"/>
            <a:ext cx="3730752"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Purdue model, IEC 62443 zones, tested</a:t>
            </a:r>
            <a:endParaRPr lang="en-US" sz="1250" dirty="0"/>
          </a:p>
        </p:txBody>
      </p:sp>
      <p:sp>
        <p:nvSpPr>
          <p:cNvPr id="18" name="Shape 16"/>
          <p:cNvSpPr/>
          <p:nvPr/>
        </p:nvSpPr>
        <p:spPr>
          <a:xfrm>
            <a:off x="685800" y="3666744"/>
            <a:ext cx="2743200" cy="667512"/>
          </a:xfrm>
          <a:prstGeom prst="rect">
            <a:avLst/>
          </a:prstGeom>
          <a:solidFill>
            <a:srgbClr val="DCEBF7"/>
          </a:solidFill>
          <a:ln w="12700">
            <a:solidFill>
              <a:srgbClr val="06121F"/>
            </a:solidFill>
            <a:prstDash val="solid"/>
          </a:ln>
        </p:spPr>
      </p:sp>
      <p:sp>
        <p:nvSpPr>
          <p:cNvPr id="19" name="Text 17"/>
          <p:cNvSpPr txBox="1"/>
          <p:nvPr/>
        </p:nvSpPr>
        <p:spPr>
          <a:xfrm>
            <a:off x="868680" y="3666744"/>
            <a:ext cx="2423160" cy="667512"/>
          </a:xfrm>
          <a:prstGeom prst="rect">
            <a:avLst/>
          </a:prstGeom>
          <a:noFill/>
          <a:ln/>
        </p:spPr>
        <p:txBody>
          <a:bodyPr wrap="square" lIns="0" tIns="0" rIns="0" bIns="0" rtlCol="0" anchor="ctr"/>
          <a:lstStyle/>
          <a:p>
            <a:pPr indent="0" marL="0">
              <a:lnSpc>
                <a:spcPct val="95000"/>
              </a:lnSpc>
              <a:buNone/>
            </a:pPr>
            <a:r>
              <a:rPr lang="en-US" sz="1250" b="1" dirty="0">
                <a:solidFill>
                  <a:srgbClr val="0B2A45"/>
                </a:solidFill>
                <a:latin typeface="Arial" pitchFamily="34" charset="0"/>
                <a:ea typeface="Arial" pitchFamily="34" charset="-122"/>
                <a:cs typeface="Arial" pitchFamily="34" charset="-120"/>
              </a:rPr>
              <a:t>Monitoring</a:t>
            </a:r>
            <a:endParaRPr lang="en-US" sz="1250" dirty="0"/>
          </a:p>
        </p:txBody>
      </p:sp>
      <p:sp>
        <p:nvSpPr>
          <p:cNvPr id="20" name="Shape 18"/>
          <p:cNvSpPr/>
          <p:nvPr/>
        </p:nvSpPr>
        <p:spPr>
          <a:xfrm>
            <a:off x="3429000" y="3666744"/>
            <a:ext cx="4023360" cy="667512"/>
          </a:xfrm>
          <a:prstGeom prst="rect">
            <a:avLst/>
          </a:prstGeom>
          <a:solidFill>
            <a:srgbClr val="DCEBF7"/>
          </a:solidFill>
          <a:ln w="12700">
            <a:solidFill>
              <a:srgbClr val="06121F"/>
            </a:solidFill>
            <a:prstDash val="solid"/>
          </a:ln>
        </p:spPr>
      </p:sp>
      <p:sp>
        <p:nvSpPr>
          <p:cNvPr id="21" name="Text 19"/>
          <p:cNvSpPr txBox="1"/>
          <p:nvPr/>
        </p:nvSpPr>
        <p:spPr>
          <a:xfrm>
            <a:off x="3611880" y="3666744"/>
            <a:ext cx="3703320"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Data theft went unnoticed</a:t>
            </a:r>
            <a:endParaRPr lang="en-US" sz="1250" dirty="0"/>
          </a:p>
        </p:txBody>
      </p:sp>
      <p:sp>
        <p:nvSpPr>
          <p:cNvPr id="22" name="Shape 20"/>
          <p:cNvSpPr/>
          <p:nvPr/>
        </p:nvSpPr>
        <p:spPr>
          <a:xfrm>
            <a:off x="7452360" y="3666744"/>
            <a:ext cx="4050792" cy="667512"/>
          </a:xfrm>
          <a:prstGeom prst="rect">
            <a:avLst/>
          </a:prstGeom>
          <a:solidFill>
            <a:srgbClr val="DCEBF7"/>
          </a:solidFill>
          <a:ln w="12700">
            <a:solidFill>
              <a:srgbClr val="06121F"/>
            </a:solidFill>
            <a:prstDash val="solid"/>
          </a:ln>
        </p:spPr>
      </p:sp>
      <p:sp>
        <p:nvSpPr>
          <p:cNvPr id="23" name="Text 21"/>
          <p:cNvSpPr txBox="1"/>
          <p:nvPr/>
        </p:nvSpPr>
        <p:spPr>
          <a:xfrm>
            <a:off x="7635240" y="3666744"/>
            <a:ext cx="3730752"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EDR, NDR, DLP and a 24×7 SOC</a:t>
            </a:r>
            <a:endParaRPr lang="en-US" sz="1250" dirty="0"/>
          </a:p>
        </p:txBody>
      </p:sp>
      <p:sp>
        <p:nvSpPr>
          <p:cNvPr id="24" name="Shape 22"/>
          <p:cNvSpPr/>
          <p:nvPr/>
        </p:nvSpPr>
        <p:spPr>
          <a:xfrm>
            <a:off x="685800" y="4334256"/>
            <a:ext cx="2743200" cy="667512"/>
          </a:xfrm>
          <a:prstGeom prst="rect">
            <a:avLst/>
          </a:prstGeom>
          <a:solidFill>
            <a:srgbClr val="EAF4FB"/>
          </a:solidFill>
          <a:ln w="12700">
            <a:solidFill>
              <a:srgbClr val="06121F"/>
            </a:solidFill>
            <a:prstDash val="solid"/>
          </a:ln>
        </p:spPr>
      </p:sp>
      <p:sp>
        <p:nvSpPr>
          <p:cNvPr id="25" name="Text 23"/>
          <p:cNvSpPr txBox="1"/>
          <p:nvPr/>
        </p:nvSpPr>
        <p:spPr>
          <a:xfrm>
            <a:off x="868680" y="4334256"/>
            <a:ext cx="2423160" cy="667512"/>
          </a:xfrm>
          <a:prstGeom prst="rect">
            <a:avLst/>
          </a:prstGeom>
          <a:noFill/>
          <a:ln/>
        </p:spPr>
        <p:txBody>
          <a:bodyPr wrap="square" lIns="0" tIns="0" rIns="0" bIns="0" rtlCol="0" anchor="ctr"/>
          <a:lstStyle/>
          <a:p>
            <a:pPr indent="0" marL="0">
              <a:lnSpc>
                <a:spcPct val="95000"/>
              </a:lnSpc>
              <a:buNone/>
            </a:pPr>
            <a:r>
              <a:rPr lang="en-US" sz="1250" b="1" dirty="0">
                <a:solidFill>
                  <a:srgbClr val="0B2A45"/>
                </a:solidFill>
                <a:latin typeface="Arial" pitchFamily="34" charset="0"/>
                <a:ea typeface="Arial" pitchFamily="34" charset="-122"/>
                <a:cs typeface="Arial" pitchFamily="34" charset="-120"/>
              </a:rPr>
              <a:t>Personal data</a:t>
            </a:r>
            <a:endParaRPr lang="en-US" sz="1250" dirty="0"/>
          </a:p>
        </p:txBody>
      </p:sp>
      <p:sp>
        <p:nvSpPr>
          <p:cNvPr id="26" name="Shape 24"/>
          <p:cNvSpPr/>
          <p:nvPr/>
        </p:nvSpPr>
        <p:spPr>
          <a:xfrm>
            <a:off x="3429000" y="4334256"/>
            <a:ext cx="4023360" cy="667512"/>
          </a:xfrm>
          <a:prstGeom prst="rect">
            <a:avLst/>
          </a:prstGeom>
          <a:solidFill>
            <a:srgbClr val="EAF4FB"/>
          </a:solidFill>
          <a:ln w="12700">
            <a:solidFill>
              <a:srgbClr val="06121F"/>
            </a:solidFill>
            <a:prstDash val="solid"/>
          </a:ln>
        </p:spPr>
      </p:sp>
      <p:sp>
        <p:nvSpPr>
          <p:cNvPr id="27" name="Text 25"/>
          <p:cNvSpPr txBox="1"/>
          <p:nvPr/>
        </p:nvSpPr>
        <p:spPr>
          <a:xfrm>
            <a:off x="3611880" y="4334256"/>
            <a:ext cx="3703320"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Aadhaar / PAN in reachable shares</a:t>
            </a:r>
            <a:endParaRPr lang="en-US" sz="1250" dirty="0"/>
          </a:p>
        </p:txBody>
      </p:sp>
      <p:sp>
        <p:nvSpPr>
          <p:cNvPr id="28" name="Shape 26"/>
          <p:cNvSpPr/>
          <p:nvPr/>
        </p:nvSpPr>
        <p:spPr>
          <a:xfrm>
            <a:off x="7452360" y="4334256"/>
            <a:ext cx="4050792" cy="667512"/>
          </a:xfrm>
          <a:prstGeom prst="rect">
            <a:avLst/>
          </a:prstGeom>
          <a:solidFill>
            <a:srgbClr val="EAF4FB"/>
          </a:solidFill>
          <a:ln w="12700">
            <a:solidFill>
              <a:srgbClr val="06121F"/>
            </a:solidFill>
            <a:prstDash val="solid"/>
          </a:ln>
        </p:spPr>
      </p:sp>
      <p:sp>
        <p:nvSpPr>
          <p:cNvPr id="29" name="Text 27"/>
          <p:cNvSpPr txBox="1"/>
          <p:nvPr/>
        </p:nvSpPr>
        <p:spPr>
          <a:xfrm>
            <a:off x="7635240" y="4334256"/>
            <a:ext cx="3730752"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Masking, encryption, least privilege</a:t>
            </a:r>
            <a:endParaRPr lang="en-US" sz="1250" dirty="0"/>
          </a:p>
        </p:txBody>
      </p:sp>
      <p:sp>
        <p:nvSpPr>
          <p:cNvPr id="30" name="Shape 28"/>
          <p:cNvSpPr/>
          <p:nvPr/>
        </p:nvSpPr>
        <p:spPr>
          <a:xfrm>
            <a:off x="685800" y="5001768"/>
            <a:ext cx="2743200" cy="667512"/>
          </a:xfrm>
          <a:prstGeom prst="rect">
            <a:avLst/>
          </a:prstGeom>
          <a:solidFill>
            <a:srgbClr val="DCEBF7"/>
          </a:solidFill>
          <a:ln w="12700">
            <a:solidFill>
              <a:srgbClr val="06121F"/>
            </a:solidFill>
            <a:prstDash val="solid"/>
          </a:ln>
        </p:spPr>
      </p:sp>
      <p:sp>
        <p:nvSpPr>
          <p:cNvPr id="31" name="Text 29"/>
          <p:cNvSpPr txBox="1"/>
          <p:nvPr/>
        </p:nvSpPr>
        <p:spPr>
          <a:xfrm>
            <a:off x="868680" y="5001768"/>
            <a:ext cx="2423160" cy="667512"/>
          </a:xfrm>
          <a:prstGeom prst="rect">
            <a:avLst/>
          </a:prstGeom>
          <a:noFill/>
          <a:ln/>
        </p:spPr>
        <p:txBody>
          <a:bodyPr wrap="square" lIns="0" tIns="0" rIns="0" bIns="0" rtlCol="0" anchor="ctr"/>
          <a:lstStyle/>
          <a:p>
            <a:pPr indent="0" marL="0">
              <a:lnSpc>
                <a:spcPct val="95000"/>
              </a:lnSpc>
              <a:buNone/>
            </a:pPr>
            <a:r>
              <a:rPr lang="en-US" sz="1250" b="1" dirty="0">
                <a:solidFill>
                  <a:srgbClr val="0B2A45"/>
                </a:solidFill>
                <a:latin typeface="Arial" pitchFamily="34" charset="0"/>
                <a:ea typeface="Arial" pitchFamily="34" charset="-122"/>
                <a:cs typeface="Arial" pitchFamily="34" charset="-120"/>
              </a:rPr>
              <a:t>Backups</a:t>
            </a:r>
            <a:endParaRPr lang="en-US" sz="1250" dirty="0"/>
          </a:p>
        </p:txBody>
      </p:sp>
      <p:sp>
        <p:nvSpPr>
          <p:cNvPr id="32" name="Shape 30"/>
          <p:cNvSpPr/>
          <p:nvPr/>
        </p:nvSpPr>
        <p:spPr>
          <a:xfrm>
            <a:off x="3429000" y="5001768"/>
            <a:ext cx="4023360" cy="667512"/>
          </a:xfrm>
          <a:prstGeom prst="rect">
            <a:avLst/>
          </a:prstGeom>
          <a:solidFill>
            <a:srgbClr val="DCEBF7"/>
          </a:solidFill>
          <a:ln w="12700">
            <a:solidFill>
              <a:srgbClr val="06121F"/>
            </a:solidFill>
            <a:prstDash val="solid"/>
          </a:ln>
        </p:spPr>
      </p:sp>
      <p:sp>
        <p:nvSpPr>
          <p:cNvPr id="33" name="Text 31"/>
          <p:cNvSpPr txBox="1"/>
          <p:nvPr/>
        </p:nvSpPr>
        <p:spPr>
          <a:xfrm>
            <a:off x="3611880" y="5001768"/>
            <a:ext cx="3703320"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Enabled refusal to pay</a:t>
            </a:r>
            <a:endParaRPr lang="en-US" sz="1250" dirty="0"/>
          </a:p>
        </p:txBody>
      </p:sp>
      <p:sp>
        <p:nvSpPr>
          <p:cNvPr id="34" name="Shape 32"/>
          <p:cNvSpPr/>
          <p:nvPr/>
        </p:nvSpPr>
        <p:spPr>
          <a:xfrm>
            <a:off x="7452360" y="5001768"/>
            <a:ext cx="4050792" cy="667512"/>
          </a:xfrm>
          <a:prstGeom prst="rect">
            <a:avLst/>
          </a:prstGeom>
          <a:solidFill>
            <a:srgbClr val="DCEBF7"/>
          </a:solidFill>
          <a:ln w="12700">
            <a:solidFill>
              <a:srgbClr val="06121F"/>
            </a:solidFill>
            <a:prstDash val="solid"/>
          </a:ln>
        </p:spPr>
      </p:sp>
      <p:sp>
        <p:nvSpPr>
          <p:cNvPr id="35" name="Text 33"/>
          <p:cNvSpPr txBox="1"/>
          <p:nvPr/>
        </p:nvSpPr>
        <p:spPr>
          <a:xfrm>
            <a:off x="7635240" y="5001768"/>
            <a:ext cx="3730752"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Immutable, offline, restore-tested</a:t>
            </a:r>
            <a:endParaRPr lang="en-US" sz="1250" dirty="0"/>
          </a:p>
        </p:txBody>
      </p:sp>
      <p:sp>
        <p:nvSpPr>
          <p:cNvPr id="36" name="Shape 34"/>
          <p:cNvSpPr/>
          <p:nvPr/>
        </p:nvSpPr>
        <p:spPr>
          <a:xfrm>
            <a:off x="685800" y="5669280"/>
            <a:ext cx="2743200" cy="667512"/>
          </a:xfrm>
          <a:prstGeom prst="rect">
            <a:avLst/>
          </a:prstGeom>
          <a:solidFill>
            <a:srgbClr val="EAF4FB"/>
          </a:solidFill>
          <a:ln w="12700">
            <a:solidFill>
              <a:srgbClr val="06121F"/>
            </a:solidFill>
            <a:prstDash val="solid"/>
          </a:ln>
        </p:spPr>
      </p:sp>
      <p:sp>
        <p:nvSpPr>
          <p:cNvPr id="37" name="Text 35"/>
          <p:cNvSpPr txBox="1"/>
          <p:nvPr/>
        </p:nvSpPr>
        <p:spPr>
          <a:xfrm>
            <a:off x="868680" y="5669280"/>
            <a:ext cx="2423160" cy="667512"/>
          </a:xfrm>
          <a:prstGeom prst="rect">
            <a:avLst/>
          </a:prstGeom>
          <a:noFill/>
          <a:ln/>
        </p:spPr>
        <p:txBody>
          <a:bodyPr wrap="square" lIns="0" tIns="0" rIns="0" bIns="0" rtlCol="0" anchor="ctr"/>
          <a:lstStyle/>
          <a:p>
            <a:pPr indent="0" marL="0">
              <a:lnSpc>
                <a:spcPct val="95000"/>
              </a:lnSpc>
              <a:buNone/>
            </a:pPr>
            <a:r>
              <a:rPr lang="en-US" sz="1250" b="1" dirty="0">
                <a:solidFill>
                  <a:srgbClr val="0B2A45"/>
                </a:solidFill>
                <a:latin typeface="Arial" pitchFamily="34" charset="0"/>
                <a:ea typeface="Arial" pitchFamily="34" charset="-122"/>
                <a:cs typeface="Arial" pitchFamily="34" charset="-120"/>
              </a:rPr>
              <a:t>Communication</a:t>
            </a:r>
            <a:endParaRPr lang="en-US" sz="1250" dirty="0"/>
          </a:p>
        </p:txBody>
      </p:sp>
      <p:sp>
        <p:nvSpPr>
          <p:cNvPr id="38" name="Shape 36"/>
          <p:cNvSpPr/>
          <p:nvPr/>
        </p:nvSpPr>
        <p:spPr>
          <a:xfrm>
            <a:off x="3429000" y="5669280"/>
            <a:ext cx="4023360" cy="667512"/>
          </a:xfrm>
          <a:prstGeom prst="rect">
            <a:avLst/>
          </a:prstGeom>
          <a:solidFill>
            <a:srgbClr val="EAF4FB"/>
          </a:solidFill>
          <a:ln w="12700">
            <a:solidFill>
              <a:srgbClr val="06121F"/>
            </a:solidFill>
            <a:prstDash val="solid"/>
          </a:ln>
        </p:spPr>
      </p:sp>
      <p:sp>
        <p:nvSpPr>
          <p:cNvPr id="39" name="Text 37"/>
          <p:cNvSpPr txBox="1"/>
          <p:nvPr/>
        </p:nvSpPr>
        <p:spPr>
          <a:xfrm>
            <a:off x="3611880" y="5669280"/>
            <a:ext cx="3703320"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Brief exchange filing</a:t>
            </a:r>
            <a:endParaRPr lang="en-US" sz="1250" dirty="0"/>
          </a:p>
        </p:txBody>
      </p:sp>
      <p:sp>
        <p:nvSpPr>
          <p:cNvPr id="40" name="Shape 38"/>
          <p:cNvSpPr/>
          <p:nvPr/>
        </p:nvSpPr>
        <p:spPr>
          <a:xfrm>
            <a:off x="7452360" y="5669280"/>
            <a:ext cx="4050792" cy="667512"/>
          </a:xfrm>
          <a:prstGeom prst="rect">
            <a:avLst/>
          </a:prstGeom>
          <a:solidFill>
            <a:srgbClr val="EAF4FB"/>
          </a:solidFill>
          <a:ln w="12700">
            <a:solidFill>
              <a:srgbClr val="06121F"/>
            </a:solidFill>
            <a:prstDash val="solid"/>
          </a:ln>
        </p:spPr>
      </p:sp>
      <p:sp>
        <p:nvSpPr>
          <p:cNvPr id="41" name="Text 39"/>
          <p:cNvSpPr txBox="1"/>
          <p:nvPr/>
        </p:nvSpPr>
        <p:spPr>
          <a:xfrm>
            <a:off x="7635240" y="5669280"/>
            <a:ext cx="3730752" cy="667512"/>
          </a:xfrm>
          <a:prstGeom prst="rect">
            <a:avLst/>
          </a:prstGeom>
          <a:noFill/>
          <a:ln/>
        </p:spPr>
        <p:txBody>
          <a:bodyPr wrap="square" lIns="0" tIns="0" rIns="0" bIns="0" rtlCol="0" anchor="ctr"/>
          <a:lstStyle/>
          <a:p>
            <a:pPr indent="0" marL="0">
              <a:lnSpc>
                <a:spcPct val="95000"/>
              </a:lnSpc>
              <a:buNone/>
            </a:pPr>
            <a:r>
              <a:rPr lang="en-US" sz="1250" dirty="0">
                <a:solidFill>
                  <a:srgbClr val="0B2A45"/>
                </a:solidFill>
                <a:latin typeface="Arial" pitchFamily="34" charset="0"/>
                <a:ea typeface="Arial" pitchFamily="34" charset="-122"/>
                <a:cs typeface="Arial" pitchFamily="34" charset="-120"/>
              </a:rPr>
              <a:t>Timely notice to staff and CERT-In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13</a:t>
            </a:r>
            <a:endParaRPr lang="en-US" sz="1100" dirty="0"/>
          </a:p>
        </p:txBody>
      </p:sp>
      <p:pic>
        <p:nvPicPr>
          <p:cNvPr id="3" name="Image 0" descr="assets/grid.png">    </p:cNvPr>
          <p:cNvPicPr>
            <a:picLocks noChangeAspect="1"/>
          </p:cNvPicPr>
          <p:nvPr/>
        </p:nvPicPr>
        <p:blipFill>
          <a:blip r:embed="rId2"/>
          <a:stretch>
            <a:fillRect/>
          </a:stretch>
        </p:blipFill>
        <p:spPr>
          <a:xfrm>
            <a:off x="0" y="0"/>
            <a:ext cx="12191695" cy="6858000"/>
          </a:xfrm>
          <a:prstGeom prst="rect">
            <a:avLst/>
          </a:prstGeom>
        </p:spPr>
      </p:pic>
      <p:sp>
        <p:nvSpPr>
          <p:cNvPr id="4" name="Text 1"/>
          <p:cNvSpPr txBox="1"/>
          <p:nvPr/>
        </p:nvSpPr>
        <p:spPr>
          <a:xfrm>
            <a:off x="777240" y="91440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KEY TAKEAWAY</a:t>
            </a:r>
            <a:endParaRPr lang="en-US" sz="1250" dirty="0"/>
          </a:p>
        </p:txBody>
      </p:sp>
      <p:sp>
        <p:nvSpPr>
          <p:cNvPr id="5" name="Text 2"/>
          <p:cNvSpPr txBox="1"/>
          <p:nvPr/>
        </p:nvSpPr>
        <p:spPr>
          <a:xfrm>
            <a:off x="777240" y="1325880"/>
            <a:ext cx="10881360" cy="1371600"/>
          </a:xfrm>
          <a:prstGeom prst="rect">
            <a:avLst/>
          </a:prstGeom>
          <a:noFill/>
          <a:ln/>
        </p:spPr>
        <p:txBody>
          <a:bodyPr wrap="square" lIns="0" tIns="0" rIns="0" bIns="0" rtlCol="0" anchor="ctr"/>
          <a:lstStyle/>
          <a:p>
            <a:pPr indent="0" marL="0">
              <a:lnSpc>
                <a:spcPct val="104000"/>
              </a:lnSpc>
              <a:buNone/>
            </a:pPr>
            <a:r>
              <a:rPr lang="en-US" sz="3300" b="1" dirty="0">
                <a:solidFill>
                  <a:srgbClr val="FFFFFF"/>
                </a:solidFill>
                <a:latin typeface="Arial" pitchFamily="34" charset="0"/>
                <a:ea typeface="Arial" pitchFamily="34" charset="-122"/>
                <a:cs typeface="Arial" pitchFamily="34" charset="-120"/>
              </a:rPr>
              <a:t>A utility must defend its </a:t>
            </a:r>
            <a:pPr indent="0" marL="0">
              <a:lnSpc>
                <a:spcPct val="104000"/>
              </a:lnSpc>
              <a:buNone/>
            </a:pPr>
            <a:r>
              <a:rPr lang="en-US" sz="3300" b="1" dirty="0">
                <a:solidFill>
                  <a:srgbClr val="22D3EE"/>
                </a:solidFill>
                <a:latin typeface="Arial" pitchFamily="34" charset="0"/>
                <a:ea typeface="Arial" pitchFamily="34" charset="-122"/>
                <a:cs typeface="Arial" pitchFamily="34" charset="-120"/>
              </a:rPr>
              <a:t>data</a:t>
            </a:r>
            <a:pPr indent="0" marL="0">
              <a:lnSpc>
                <a:spcPct val="104000"/>
              </a:lnSpc>
              <a:buNone/>
            </a:pPr>
            <a:r>
              <a:rPr lang="en-US" sz="3300" b="1" dirty="0">
                <a:solidFill>
                  <a:srgbClr val="FFFFFF"/>
                </a:solidFill>
                <a:latin typeface="Arial" pitchFamily="34" charset="0"/>
                <a:ea typeface="Arial" pitchFamily="34" charset="-122"/>
                <a:cs typeface="Arial" pitchFamily="34" charset="-120"/>
              </a:rPr>
              <a:t> as carefully as its </a:t>
            </a:r>
            <a:pPr indent="0" marL="0">
              <a:lnSpc>
                <a:spcPct val="104000"/>
              </a:lnSpc>
              <a:buNone/>
            </a:pPr>
            <a:r>
              <a:rPr lang="en-US" sz="3300" b="1" dirty="0">
                <a:solidFill>
                  <a:srgbClr val="22D3EE"/>
                </a:solidFill>
                <a:latin typeface="Arial" pitchFamily="34" charset="0"/>
                <a:ea typeface="Arial" pitchFamily="34" charset="-122"/>
                <a:cs typeface="Arial" pitchFamily="34" charset="-120"/>
              </a:rPr>
              <a:t>grid.</a:t>
            </a:r>
            <a:endParaRPr lang="en-US" sz="3300" dirty="0"/>
          </a:p>
        </p:txBody>
      </p:sp>
      <p:sp>
        <p:nvSpPr>
          <p:cNvPr id="6" name="Text 3"/>
          <p:cNvSpPr txBox="1"/>
          <p:nvPr/>
        </p:nvSpPr>
        <p:spPr>
          <a:xfrm>
            <a:off x="777240" y="2880360"/>
            <a:ext cx="10607040" cy="640080"/>
          </a:xfrm>
          <a:prstGeom prst="rect">
            <a:avLst/>
          </a:prstGeom>
          <a:noFill/>
          <a:ln/>
        </p:spPr>
        <p:txBody>
          <a:bodyPr wrap="square" lIns="0" tIns="0" rIns="0" bIns="0" rtlCol="0" anchor="ctr"/>
          <a:lstStyle/>
          <a:p>
            <a:pPr indent="0" marL="0">
              <a:lnSpc>
                <a:spcPct val="110000"/>
              </a:lnSpc>
              <a:buNone/>
            </a:pPr>
            <a:r>
              <a:rPr lang="en-US" sz="1550" dirty="0">
                <a:solidFill>
                  <a:srgbClr val="EAF4FB"/>
                </a:solidFill>
                <a:latin typeface="Arial" pitchFamily="34" charset="0"/>
                <a:ea typeface="Arial" pitchFamily="34" charset="-122"/>
                <a:cs typeface="Arial" pitchFamily="34" charset="-120"/>
              </a:rPr>
              <a:t>The lights stayed on — but a breach of corporate IT is only ever a few steps from the systems that keep a country running.</a:t>
            </a:r>
            <a:endParaRPr lang="en-US" sz="1550" dirty="0"/>
          </a:p>
        </p:txBody>
      </p:sp>
      <p:sp>
        <p:nvSpPr>
          <p:cNvPr id="7" name="Shape 4"/>
          <p:cNvSpPr/>
          <p:nvPr/>
        </p:nvSpPr>
        <p:spPr>
          <a:xfrm>
            <a:off x="777240" y="3840480"/>
            <a:ext cx="1874520" cy="822960"/>
          </a:xfrm>
          <a:prstGeom prst="roundRect">
            <a:avLst>
              <a:gd name="adj" fmla="val 8889"/>
            </a:avLst>
          </a:prstGeom>
          <a:solidFill>
            <a:srgbClr val="0B2A45"/>
          </a:solidFill>
          <a:ln/>
        </p:spPr>
      </p:sp>
      <p:sp>
        <p:nvSpPr>
          <p:cNvPr id="8" name="Text 5"/>
          <p:cNvSpPr txBox="1"/>
          <p:nvPr/>
        </p:nvSpPr>
        <p:spPr>
          <a:xfrm>
            <a:off x="777240" y="3840480"/>
            <a:ext cx="1874520" cy="822960"/>
          </a:xfrm>
          <a:prstGeom prst="rect">
            <a:avLst/>
          </a:prstGeom>
          <a:noFill/>
          <a:ln/>
        </p:spPr>
        <p:txBody>
          <a:bodyPr wrap="square" lIns="0" tIns="0" rIns="0" bIns="0" rtlCol="0" anchor="ctr"/>
          <a:lstStyle/>
          <a:p>
            <a:pPr algn="ctr" indent="0" marL="0">
              <a:buNone/>
            </a:pPr>
            <a:r>
              <a:rPr lang="en-US" sz="1400" b="1" dirty="0">
                <a:solidFill>
                  <a:srgbClr val="EAF4FB"/>
                </a:solidFill>
                <a:latin typeface="Arial" pitchFamily="34" charset="0"/>
                <a:ea typeface="Arial" pitchFamily="34" charset="-122"/>
                <a:cs typeface="Arial" pitchFamily="34" charset="-120"/>
              </a:rPr>
              <a:t>IT breach</a:t>
            </a:r>
            <a:endParaRPr lang="en-US" sz="1400" dirty="0"/>
          </a:p>
        </p:txBody>
      </p:sp>
      <p:sp>
        <p:nvSpPr>
          <p:cNvPr id="9" name="Text 6"/>
          <p:cNvSpPr txBox="1"/>
          <p:nvPr/>
        </p:nvSpPr>
        <p:spPr>
          <a:xfrm>
            <a:off x="2617470" y="406908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0" name="Shape 7"/>
          <p:cNvSpPr/>
          <p:nvPr/>
        </p:nvSpPr>
        <p:spPr>
          <a:xfrm>
            <a:off x="2994660" y="3840480"/>
            <a:ext cx="1874520" cy="822960"/>
          </a:xfrm>
          <a:prstGeom prst="roundRect">
            <a:avLst>
              <a:gd name="adj" fmla="val 8889"/>
            </a:avLst>
          </a:prstGeom>
          <a:solidFill>
            <a:srgbClr val="0B2A45"/>
          </a:solidFill>
          <a:ln/>
        </p:spPr>
      </p:sp>
      <p:sp>
        <p:nvSpPr>
          <p:cNvPr id="11" name="Text 8"/>
          <p:cNvSpPr txBox="1"/>
          <p:nvPr/>
        </p:nvSpPr>
        <p:spPr>
          <a:xfrm>
            <a:off x="2994660" y="3840480"/>
            <a:ext cx="1874520" cy="822960"/>
          </a:xfrm>
          <a:prstGeom prst="rect">
            <a:avLst/>
          </a:prstGeom>
          <a:noFill/>
          <a:ln/>
        </p:spPr>
        <p:txBody>
          <a:bodyPr wrap="square" lIns="0" tIns="0" rIns="0" bIns="0" rtlCol="0" anchor="ctr"/>
          <a:lstStyle/>
          <a:p>
            <a:pPr algn="ctr" indent="0" marL="0">
              <a:buNone/>
            </a:pPr>
            <a:r>
              <a:rPr lang="en-US" sz="1400" b="1" dirty="0">
                <a:solidFill>
                  <a:srgbClr val="EAF4FB"/>
                </a:solidFill>
                <a:latin typeface="Arial" pitchFamily="34" charset="0"/>
                <a:ea typeface="Arial" pitchFamily="34" charset="-122"/>
                <a:cs typeface="Arial" pitchFamily="34" charset="-120"/>
              </a:rPr>
              <a:t>Data theft</a:t>
            </a:r>
            <a:endParaRPr lang="en-US" sz="1400" dirty="0"/>
          </a:p>
        </p:txBody>
      </p:sp>
      <p:sp>
        <p:nvSpPr>
          <p:cNvPr id="12" name="Text 9"/>
          <p:cNvSpPr txBox="1"/>
          <p:nvPr/>
        </p:nvSpPr>
        <p:spPr>
          <a:xfrm>
            <a:off x="4834890" y="406908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3" name="Shape 10"/>
          <p:cNvSpPr/>
          <p:nvPr/>
        </p:nvSpPr>
        <p:spPr>
          <a:xfrm>
            <a:off x="5212080" y="3840480"/>
            <a:ext cx="1874520" cy="822960"/>
          </a:xfrm>
          <a:prstGeom prst="roundRect">
            <a:avLst>
              <a:gd name="adj" fmla="val 8889"/>
            </a:avLst>
          </a:prstGeom>
          <a:solidFill>
            <a:srgbClr val="0B2A45"/>
          </a:solidFill>
          <a:ln/>
        </p:spPr>
      </p:sp>
      <p:sp>
        <p:nvSpPr>
          <p:cNvPr id="14" name="Text 11"/>
          <p:cNvSpPr txBox="1"/>
          <p:nvPr/>
        </p:nvSpPr>
        <p:spPr>
          <a:xfrm>
            <a:off x="5212080" y="3840480"/>
            <a:ext cx="1874520" cy="822960"/>
          </a:xfrm>
          <a:prstGeom prst="rect">
            <a:avLst/>
          </a:prstGeom>
          <a:noFill/>
          <a:ln/>
        </p:spPr>
        <p:txBody>
          <a:bodyPr wrap="square" lIns="0" tIns="0" rIns="0" bIns="0" rtlCol="0" anchor="ctr"/>
          <a:lstStyle/>
          <a:p>
            <a:pPr algn="ctr" indent="0" marL="0">
              <a:buNone/>
            </a:pPr>
            <a:r>
              <a:rPr lang="en-US" sz="1400" b="1" dirty="0">
                <a:solidFill>
                  <a:srgbClr val="EAF4FB"/>
                </a:solidFill>
                <a:latin typeface="Arial" pitchFamily="34" charset="0"/>
                <a:ea typeface="Arial" pitchFamily="34" charset="-122"/>
                <a:cs typeface="Arial" pitchFamily="34" charset="-120"/>
              </a:rPr>
              <a:t>Encrypt</a:t>
            </a:r>
            <a:endParaRPr lang="en-US" sz="1400" dirty="0"/>
          </a:p>
        </p:txBody>
      </p:sp>
      <p:sp>
        <p:nvSpPr>
          <p:cNvPr id="15" name="Text 12"/>
          <p:cNvSpPr txBox="1"/>
          <p:nvPr/>
        </p:nvSpPr>
        <p:spPr>
          <a:xfrm>
            <a:off x="7052310" y="406908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6" name="Shape 13"/>
          <p:cNvSpPr/>
          <p:nvPr/>
        </p:nvSpPr>
        <p:spPr>
          <a:xfrm>
            <a:off x="7429500" y="3840480"/>
            <a:ext cx="1874520" cy="822960"/>
          </a:xfrm>
          <a:prstGeom prst="roundRect">
            <a:avLst>
              <a:gd name="adj" fmla="val 8889"/>
            </a:avLst>
          </a:prstGeom>
          <a:solidFill>
            <a:srgbClr val="0B2A45"/>
          </a:solidFill>
          <a:ln/>
        </p:spPr>
      </p:sp>
      <p:sp>
        <p:nvSpPr>
          <p:cNvPr id="17" name="Text 14"/>
          <p:cNvSpPr txBox="1"/>
          <p:nvPr/>
        </p:nvSpPr>
        <p:spPr>
          <a:xfrm>
            <a:off x="7429500" y="3840480"/>
            <a:ext cx="1874520" cy="822960"/>
          </a:xfrm>
          <a:prstGeom prst="rect">
            <a:avLst/>
          </a:prstGeom>
          <a:noFill/>
          <a:ln/>
        </p:spPr>
        <p:txBody>
          <a:bodyPr wrap="square" lIns="0" tIns="0" rIns="0" bIns="0" rtlCol="0" anchor="ctr"/>
          <a:lstStyle/>
          <a:p>
            <a:pPr algn="ctr" indent="0" marL="0">
              <a:buNone/>
            </a:pPr>
            <a:r>
              <a:rPr lang="en-US" sz="1400" b="1" dirty="0">
                <a:solidFill>
                  <a:srgbClr val="EAF4FB"/>
                </a:solidFill>
                <a:latin typeface="Arial" pitchFamily="34" charset="0"/>
                <a:ea typeface="Arial" pitchFamily="34" charset="-122"/>
                <a:cs typeface="Arial" pitchFamily="34" charset="-120"/>
              </a:rPr>
              <a:t>Refuse &amp; leak</a:t>
            </a:r>
            <a:endParaRPr lang="en-US" sz="1400" dirty="0"/>
          </a:p>
        </p:txBody>
      </p:sp>
      <p:sp>
        <p:nvSpPr>
          <p:cNvPr id="18" name="Text 15"/>
          <p:cNvSpPr txBox="1"/>
          <p:nvPr/>
        </p:nvSpPr>
        <p:spPr>
          <a:xfrm>
            <a:off x="9269730" y="4069080"/>
            <a:ext cx="411480" cy="365760"/>
          </a:xfrm>
          <a:prstGeom prst="rect">
            <a:avLst/>
          </a:prstGeom>
          <a:noFill/>
          <a:ln/>
        </p:spPr>
        <p:txBody>
          <a:bodyPr wrap="square" lIns="0" tIns="0" rIns="0" bIns="0" rtlCol="0" anchor="ctr"/>
          <a:lstStyle/>
          <a:p>
            <a:pPr algn="ctr" indent="0" marL="0">
              <a:buNone/>
            </a:pPr>
            <a:r>
              <a:rPr lang="en-US" sz="2200" b="1" dirty="0">
                <a:solidFill>
                  <a:srgbClr val="22D3EE"/>
                </a:solidFill>
                <a:latin typeface="Arial" pitchFamily="34" charset="0"/>
                <a:ea typeface="Arial" pitchFamily="34" charset="-122"/>
                <a:cs typeface="Arial" pitchFamily="34" charset="-120"/>
              </a:rPr>
              <a:t>→</a:t>
            </a:r>
            <a:endParaRPr lang="en-US" sz="2200" dirty="0"/>
          </a:p>
        </p:txBody>
      </p:sp>
      <p:sp>
        <p:nvSpPr>
          <p:cNvPr id="19" name="Shape 16"/>
          <p:cNvSpPr/>
          <p:nvPr/>
        </p:nvSpPr>
        <p:spPr>
          <a:xfrm>
            <a:off x="9646920" y="3840480"/>
            <a:ext cx="1874520" cy="822960"/>
          </a:xfrm>
          <a:prstGeom prst="roundRect">
            <a:avLst>
              <a:gd name="adj" fmla="val 8889"/>
            </a:avLst>
          </a:prstGeom>
          <a:solidFill>
            <a:srgbClr val="22D3EE"/>
          </a:solidFill>
          <a:ln/>
        </p:spPr>
      </p:sp>
      <p:sp>
        <p:nvSpPr>
          <p:cNvPr id="20" name="Text 17"/>
          <p:cNvSpPr txBox="1"/>
          <p:nvPr/>
        </p:nvSpPr>
        <p:spPr>
          <a:xfrm>
            <a:off x="9646920" y="3840480"/>
            <a:ext cx="1874520" cy="822960"/>
          </a:xfrm>
          <a:prstGeom prst="rect">
            <a:avLst/>
          </a:prstGeom>
          <a:noFill/>
          <a:ln/>
        </p:spPr>
        <p:txBody>
          <a:bodyPr wrap="square" lIns="0" tIns="0" rIns="0" bIns="0" rtlCol="0" anchor="ctr"/>
          <a:lstStyle/>
          <a:p>
            <a:pPr algn="ctr" indent="0" marL="0">
              <a:buNone/>
            </a:pPr>
            <a:r>
              <a:rPr lang="en-US" sz="1400" b="1" dirty="0">
                <a:solidFill>
                  <a:srgbClr val="06121F"/>
                </a:solidFill>
                <a:latin typeface="Arial" pitchFamily="34" charset="0"/>
                <a:ea typeface="Arial" pitchFamily="34" charset="-122"/>
                <a:cs typeface="Arial" pitchFamily="34" charset="-120"/>
              </a:rPr>
              <a:t>Lessons</a:t>
            </a:r>
            <a:endParaRPr lang="en-US" sz="1400" dirty="0"/>
          </a:p>
        </p:txBody>
      </p:sp>
      <p:sp>
        <p:nvSpPr>
          <p:cNvPr id="21" name="Text 18"/>
          <p:cNvSpPr txBox="1"/>
          <p:nvPr/>
        </p:nvSpPr>
        <p:spPr>
          <a:xfrm>
            <a:off x="777240" y="5029200"/>
            <a:ext cx="10515600" cy="914400"/>
          </a:xfrm>
          <a:prstGeom prst="rect">
            <a:avLst/>
          </a:prstGeom>
          <a:noFill/>
          <a:ln/>
        </p:spPr>
        <p:txBody>
          <a:bodyPr wrap="square" lIns="0" tIns="0" rIns="0" bIns="0" rtlCol="0" anchor="ctr"/>
          <a:lstStyle/>
          <a:p>
            <a:pPr indent="0" marL="0">
              <a:lnSpc>
                <a:spcPct val="110000"/>
              </a:lnSpc>
              <a:buNone/>
            </a:pPr>
            <a:r>
              <a:rPr lang="en-US" sz="1500" dirty="0">
                <a:solidFill>
                  <a:srgbClr val="EAF4FB"/>
                </a:solidFill>
                <a:latin typeface="Arial" pitchFamily="34" charset="0"/>
                <a:ea typeface="Arial" pitchFamily="34" charset="-122"/>
                <a:cs typeface="Arial" pitchFamily="34" charset="-120"/>
              </a:rPr>
              <a:t>Serious yet contained: ransomware hit IT and leaked data, but the IT/OT boundary held. The gaps it exposed — late detection and poorly protected personal data — are the work that remains.</a:t>
            </a:r>
            <a:endParaRPr lang="en-US" sz="1500" dirty="0"/>
          </a:p>
        </p:txBody>
      </p:sp>
      <p:sp>
        <p:nvSpPr>
          <p:cNvPr id="22" name="Text 19"/>
          <p:cNvSpPr txBox="1"/>
          <p:nvPr/>
        </p:nvSpPr>
        <p:spPr>
          <a:xfrm>
            <a:off x="777240" y="6080760"/>
            <a:ext cx="10515600" cy="365760"/>
          </a:xfrm>
          <a:prstGeom prst="rect">
            <a:avLst/>
          </a:prstGeom>
          <a:noFill/>
          <a:ln/>
        </p:spPr>
        <p:txBody>
          <a:bodyPr wrap="square" lIns="0" tIns="0" rIns="0" bIns="0" rtlCol="0" anchor="ctr"/>
          <a:lstStyle/>
          <a:p>
            <a:pPr indent="0" marL="0">
              <a:buNone/>
            </a:pPr>
            <a:r>
              <a:rPr lang="en-US" sz="1300" i="1" dirty="0">
                <a:solidFill>
                  <a:srgbClr val="22D3EE"/>
                </a:solidFill>
                <a:latin typeface="Courier New" pitchFamily="34" charset="0"/>
                <a:ea typeface="Courier New" pitchFamily="34" charset="-122"/>
                <a:cs typeface="Courier New" pitchFamily="34" charset="-120"/>
              </a:rPr>
              <a:t>Takeaway: in a connected power sector, protecting data is protecting the grid.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430000" y="6400800"/>
            <a:ext cx="548640" cy="320040"/>
          </a:xfrm>
          <a:prstGeom prst="rect">
            <a:avLst/>
          </a:prstGeom>
          <a:noFill/>
          <a:ln/>
        </p:spPr>
        <p:txBody>
          <a:bodyPr wrap="square" lIns="0" tIns="0" rIns="0" bIns="0" rtlCol="0" anchor="ctr"/>
          <a:lstStyle/>
          <a:p>
            <a:pPr algn="r" indent="0" marL="0">
              <a:buNone/>
            </a:pPr>
            <a:r>
              <a:rPr lang="en-US" sz="1100" dirty="0">
                <a:solidFill>
                  <a:srgbClr val="94A3B8"/>
                </a:solidFill>
                <a:latin typeface="Courier New" pitchFamily="34" charset="0"/>
                <a:ea typeface="Courier New" pitchFamily="34" charset="-122"/>
                <a:cs typeface="Courier New" pitchFamily="34" charset="-120"/>
              </a:rPr>
              <a:t>14</a:t>
            </a:r>
            <a:endParaRPr lang="en-US" sz="1100" dirty="0"/>
          </a:p>
        </p:txBody>
      </p:sp>
      <p:sp>
        <p:nvSpPr>
          <p:cNvPr id="3" name="Text 1"/>
          <p:cNvSpPr txBox="1"/>
          <p:nvPr/>
        </p:nvSpPr>
        <p:spPr>
          <a:xfrm>
            <a:off x="685800" y="594360"/>
            <a:ext cx="5486400" cy="292608"/>
          </a:xfrm>
          <a:prstGeom prst="rect">
            <a:avLst/>
          </a:prstGeom>
          <a:noFill/>
          <a:ln/>
        </p:spPr>
        <p:txBody>
          <a:bodyPr wrap="square" lIns="0" tIns="0" rIns="0" bIns="0" rtlCol="0" anchor="ctr"/>
          <a:lstStyle/>
          <a:p>
            <a:pPr indent="0" marL="0">
              <a:buNone/>
            </a:pPr>
            <a:r>
              <a:rPr lang="en-US" sz="1250" spc="250" kern="0" dirty="0">
                <a:solidFill>
                  <a:srgbClr val="22D3EE"/>
                </a:solidFill>
                <a:latin typeface="Courier New" pitchFamily="34" charset="0"/>
                <a:ea typeface="Courier New" pitchFamily="34" charset="-122"/>
                <a:cs typeface="Courier New" pitchFamily="34" charset="-120"/>
              </a:rPr>
              <a:t>SOURCES</a:t>
            </a:r>
            <a:endParaRPr lang="en-US" sz="1250" dirty="0"/>
          </a:p>
        </p:txBody>
      </p:sp>
      <p:sp>
        <p:nvSpPr>
          <p:cNvPr id="4" name="Text 2"/>
          <p:cNvSpPr txBox="1"/>
          <p:nvPr/>
        </p:nvSpPr>
        <p:spPr>
          <a:xfrm>
            <a:off x="685800" y="914400"/>
            <a:ext cx="10789920" cy="10972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Arial" pitchFamily="34" charset="0"/>
                <a:ea typeface="Arial" pitchFamily="34" charset="-122"/>
                <a:cs typeface="Arial" pitchFamily="34" charset="-120"/>
              </a:rPr>
              <a:t>References</a:t>
            </a:r>
            <a:endParaRPr lang="en-US" sz="3800" dirty="0"/>
          </a:p>
        </p:txBody>
      </p:sp>
      <p:sp>
        <p:nvSpPr>
          <p:cNvPr id="5" name="Shape 3"/>
          <p:cNvSpPr/>
          <p:nvPr/>
        </p:nvSpPr>
        <p:spPr>
          <a:xfrm>
            <a:off x="685800" y="1965960"/>
            <a:ext cx="2514600" cy="457200"/>
          </a:xfrm>
          <a:prstGeom prst="roundRect">
            <a:avLst>
              <a:gd name="adj" fmla="val 12000"/>
            </a:avLst>
          </a:prstGeom>
          <a:solidFill>
            <a:srgbClr val="0B2A45"/>
          </a:solidFill>
          <a:ln/>
        </p:spPr>
      </p:sp>
      <p:sp>
        <p:nvSpPr>
          <p:cNvPr id="6" name="Text 4"/>
          <p:cNvSpPr txBox="1"/>
          <p:nvPr/>
        </p:nvSpPr>
        <p:spPr>
          <a:xfrm>
            <a:off x="685800" y="1965960"/>
            <a:ext cx="2514600" cy="457200"/>
          </a:xfrm>
          <a:prstGeom prst="rect">
            <a:avLst/>
          </a:prstGeom>
          <a:noFill/>
          <a:ln/>
        </p:spPr>
        <p:txBody>
          <a:bodyPr wrap="square" lIns="0" tIns="0" rIns="0" bIns="0"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Tata Power</a:t>
            </a:r>
            <a:endParaRPr lang="en-US" sz="1100" dirty="0"/>
          </a:p>
        </p:txBody>
      </p:sp>
      <p:sp>
        <p:nvSpPr>
          <p:cNvPr id="7" name="Text 5"/>
          <p:cNvSpPr txBox="1"/>
          <p:nvPr/>
        </p:nvSpPr>
        <p:spPr>
          <a:xfrm>
            <a:off x="3383280" y="1947672"/>
            <a:ext cx="8138160" cy="512064"/>
          </a:xfrm>
          <a:prstGeom prst="rect">
            <a:avLst/>
          </a:prstGeom>
          <a:noFill/>
          <a:ln/>
        </p:spPr>
        <p:txBody>
          <a:bodyPr wrap="square" lIns="0" tIns="0" rIns="0" bIns="0" rtlCol="0" anchor="ctr"/>
          <a:lstStyle/>
          <a:p>
            <a:pPr indent="0" marL="0">
              <a:lnSpc>
                <a:spcPct val="98000"/>
              </a:lnSpc>
              <a:buNone/>
            </a:pPr>
            <a:r>
              <a:rPr lang="en-US" sz="1150" dirty="0">
                <a:solidFill>
                  <a:srgbClr val="EAF4FB"/>
                </a:solidFill>
                <a:latin typeface="Arial" pitchFamily="34" charset="0"/>
                <a:ea typeface="Arial" pitchFamily="34" charset="-122"/>
                <a:cs typeface="Arial" pitchFamily="34" charset="-120"/>
              </a:rPr>
              <a:t>Disclosure to BSE/NSE under SEBI LODR Reg. 30 (14 Oct 2022); reported by Business Today / PTI.</a:t>
            </a:r>
            <a:endParaRPr lang="en-US" sz="1150" dirty="0"/>
          </a:p>
        </p:txBody>
      </p:sp>
      <p:sp>
        <p:nvSpPr>
          <p:cNvPr id="8" name="Shape 6"/>
          <p:cNvSpPr/>
          <p:nvPr/>
        </p:nvSpPr>
        <p:spPr>
          <a:xfrm>
            <a:off x="685800" y="2496312"/>
            <a:ext cx="2514600" cy="457200"/>
          </a:xfrm>
          <a:prstGeom prst="roundRect">
            <a:avLst>
              <a:gd name="adj" fmla="val 12000"/>
            </a:avLst>
          </a:prstGeom>
          <a:solidFill>
            <a:srgbClr val="0B2A45"/>
          </a:solidFill>
          <a:ln/>
        </p:spPr>
      </p:sp>
      <p:sp>
        <p:nvSpPr>
          <p:cNvPr id="9" name="Text 7"/>
          <p:cNvSpPr txBox="1"/>
          <p:nvPr/>
        </p:nvSpPr>
        <p:spPr>
          <a:xfrm>
            <a:off x="685800" y="2496312"/>
            <a:ext cx="2514600" cy="457200"/>
          </a:xfrm>
          <a:prstGeom prst="rect">
            <a:avLst/>
          </a:prstGeom>
          <a:noFill/>
          <a:ln/>
        </p:spPr>
        <p:txBody>
          <a:bodyPr wrap="square" lIns="0" tIns="0" rIns="0" bIns="0"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The Hacker News</a:t>
            </a:r>
            <a:endParaRPr lang="en-US" sz="1100" dirty="0"/>
          </a:p>
        </p:txBody>
      </p:sp>
      <p:sp>
        <p:nvSpPr>
          <p:cNvPr id="10" name="Text 8"/>
          <p:cNvSpPr txBox="1"/>
          <p:nvPr/>
        </p:nvSpPr>
        <p:spPr>
          <a:xfrm>
            <a:off x="3383280" y="2478024"/>
            <a:ext cx="8138160" cy="512064"/>
          </a:xfrm>
          <a:prstGeom prst="rect">
            <a:avLst/>
          </a:prstGeom>
          <a:noFill/>
          <a:ln/>
        </p:spPr>
        <p:txBody>
          <a:bodyPr wrap="square" lIns="0" tIns="0" rIns="0" bIns="0" rtlCol="0" anchor="ctr"/>
          <a:lstStyle/>
          <a:p>
            <a:pPr indent="0" marL="0">
              <a:lnSpc>
                <a:spcPct val="98000"/>
              </a:lnSpc>
              <a:buNone/>
            </a:pPr>
            <a:r>
              <a:rPr lang="en-US" sz="1150" dirty="0">
                <a:solidFill>
                  <a:srgbClr val="EAF4FB"/>
                </a:solidFill>
                <a:latin typeface="Arial" pitchFamily="34" charset="0"/>
                <a:ea typeface="Arial" pitchFamily="34" charset="-122"/>
                <a:cs typeface="Arial" pitchFamily="34" charset="-120"/>
              </a:rPr>
              <a:t>“Hive Ransomware Hackers Begin Leaking Data Stolen from Tata Power” (Oct 2022).</a:t>
            </a:r>
            <a:endParaRPr lang="en-US" sz="1150" dirty="0"/>
          </a:p>
        </p:txBody>
      </p:sp>
      <p:sp>
        <p:nvSpPr>
          <p:cNvPr id="11" name="Shape 9"/>
          <p:cNvSpPr/>
          <p:nvPr/>
        </p:nvSpPr>
        <p:spPr>
          <a:xfrm>
            <a:off x="685800" y="3026664"/>
            <a:ext cx="2514600" cy="457200"/>
          </a:xfrm>
          <a:prstGeom prst="roundRect">
            <a:avLst>
              <a:gd name="adj" fmla="val 12000"/>
            </a:avLst>
          </a:prstGeom>
          <a:solidFill>
            <a:srgbClr val="0B2A45"/>
          </a:solidFill>
          <a:ln/>
        </p:spPr>
      </p:sp>
      <p:sp>
        <p:nvSpPr>
          <p:cNvPr id="12" name="Text 10"/>
          <p:cNvSpPr txBox="1"/>
          <p:nvPr/>
        </p:nvSpPr>
        <p:spPr>
          <a:xfrm>
            <a:off x="685800" y="3026664"/>
            <a:ext cx="2514600" cy="457200"/>
          </a:xfrm>
          <a:prstGeom prst="rect">
            <a:avLst/>
          </a:prstGeom>
          <a:noFill/>
          <a:ln/>
        </p:spPr>
        <p:txBody>
          <a:bodyPr wrap="square" lIns="0" tIns="0" rIns="0" bIns="0"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Security Affairs</a:t>
            </a:r>
            <a:endParaRPr lang="en-US" sz="1100" dirty="0"/>
          </a:p>
        </p:txBody>
      </p:sp>
      <p:sp>
        <p:nvSpPr>
          <p:cNvPr id="13" name="Text 11"/>
          <p:cNvSpPr txBox="1"/>
          <p:nvPr/>
        </p:nvSpPr>
        <p:spPr>
          <a:xfrm>
            <a:off x="3383280" y="3008376"/>
            <a:ext cx="8138160" cy="512064"/>
          </a:xfrm>
          <a:prstGeom prst="rect">
            <a:avLst/>
          </a:prstGeom>
          <a:noFill/>
          <a:ln/>
        </p:spPr>
        <p:txBody>
          <a:bodyPr wrap="square" lIns="0" tIns="0" rIns="0" bIns="0" rtlCol="0" anchor="ctr"/>
          <a:lstStyle/>
          <a:p>
            <a:pPr indent="0" marL="0">
              <a:lnSpc>
                <a:spcPct val="98000"/>
              </a:lnSpc>
              <a:buNone/>
            </a:pPr>
            <a:r>
              <a:rPr lang="en-US" sz="1150" dirty="0">
                <a:solidFill>
                  <a:srgbClr val="EAF4FB"/>
                </a:solidFill>
                <a:latin typeface="Arial" pitchFamily="34" charset="0"/>
                <a:ea typeface="Arial" pitchFamily="34" charset="-122"/>
                <a:cs typeface="Arial" pitchFamily="34" charset="-120"/>
              </a:rPr>
              <a:t>“Hive ransomware gang starts leaking data allegedly stolen from Tata Power” (25 Oct 2022).</a:t>
            </a:r>
            <a:endParaRPr lang="en-US" sz="1150" dirty="0"/>
          </a:p>
        </p:txBody>
      </p:sp>
      <p:sp>
        <p:nvSpPr>
          <p:cNvPr id="14" name="Shape 12"/>
          <p:cNvSpPr/>
          <p:nvPr/>
        </p:nvSpPr>
        <p:spPr>
          <a:xfrm>
            <a:off x="685800" y="3557016"/>
            <a:ext cx="2514600" cy="457200"/>
          </a:xfrm>
          <a:prstGeom prst="roundRect">
            <a:avLst>
              <a:gd name="adj" fmla="val 12000"/>
            </a:avLst>
          </a:prstGeom>
          <a:solidFill>
            <a:srgbClr val="0B2A45"/>
          </a:solidFill>
          <a:ln/>
        </p:spPr>
      </p:sp>
      <p:sp>
        <p:nvSpPr>
          <p:cNvPr id="15" name="Text 13"/>
          <p:cNvSpPr txBox="1"/>
          <p:nvPr/>
        </p:nvSpPr>
        <p:spPr>
          <a:xfrm>
            <a:off x="685800" y="3557016"/>
            <a:ext cx="2514600" cy="457200"/>
          </a:xfrm>
          <a:prstGeom prst="rect">
            <a:avLst/>
          </a:prstGeom>
          <a:noFill/>
          <a:ln/>
        </p:spPr>
        <p:txBody>
          <a:bodyPr wrap="square" lIns="0" tIns="0" rIns="0" bIns="0"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CISA / FBI / HHS</a:t>
            </a:r>
            <a:endParaRPr lang="en-US" sz="1100" dirty="0"/>
          </a:p>
        </p:txBody>
      </p:sp>
      <p:sp>
        <p:nvSpPr>
          <p:cNvPr id="16" name="Text 14"/>
          <p:cNvSpPr txBox="1"/>
          <p:nvPr/>
        </p:nvSpPr>
        <p:spPr>
          <a:xfrm>
            <a:off x="3383280" y="3538728"/>
            <a:ext cx="8138160" cy="512064"/>
          </a:xfrm>
          <a:prstGeom prst="rect">
            <a:avLst/>
          </a:prstGeom>
          <a:noFill/>
          <a:ln/>
        </p:spPr>
        <p:txBody>
          <a:bodyPr wrap="square" lIns="0" tIns="0" rIns="0" bIns="0" rtlCol="0" anchor="ctr"/>
          <a:lstStyle/>
          <a:p>
            <a:pPr indent="0" marL="0">
              <a:lnSpc>
                <a:spcPct val="98000"/>
              </a:lnSpc>
              <a:buNone/>
            </a:pPr>
            <a:r>
              <a:rPr lang="en-US" sz="1150" dirty="0">
                <a:solidFill>
                  <a:srgbClr val="EAF4FB"/>
                </a:solidFill>
                <a:latin typeface="Arial" pitchFamily="34" charset="0"/>
                <a:ea typeface="Arial" pitchFamily="34" charset="-122"/>
                <a:cs typeface="Arial" pitchFamily="34" charset="-120"/>
              </a:rPr>
              <a:t>Joint Advisory AA22-321A: “#StopRansomware: Hive Ransomware” (17 Nov 2022).</a:t>
            </a:r>
            <a:endParaRPr lang="en-US" sz="1150" dirty="0"/>
          </a:p>
        </p:txBody>
      </p:sp>
      <p:sp>
        <p:nvSpPr>
          <p:cNvPr id="17" name="Shape 15"/>
          <p:cNvSpPr/>
          <p:nvPr/>
        </p:nvSpPr>
        <p:spPr>
          <a:xfrm>
            <a:off x="685800" y="4087368"/>
            <a:ext cx="2514600" cy="457200"/>
          </a:xfrm>
          <a:prstGeom prst="roundRect">
            <a:avLst>
              <a:gd name="adj" fmla="val 12000"/>
            </a:avLst>
          </a:prstGeom>
          <a:solidFill>
            <a:srgbClr val="0B2A45"/>
          </a:solidFill>
          <a:ln/>
        </p:spPr>
      </p:sp>
      <p:sp>
        <p:nvSpPr>
          <p:cNvPr id="18" name="Text 16"/>
          <p:cNvSpPr txBox="1"/>
          <p:nvPr/>
        </p:nvSpPr>
        <p:spPr>
          <a:xfrm>
            <a:off x="685800" y="4087368"/>
            <a:ext cx="2514600" cy="457200"/>
          </a:xfrm>
          <a:prstGeom prst="rect">
            <a:avLst/>
          </a:prstGeom>
          <a:noFill/>
          <a:ln/>
        </p:spPr>
        <p:txBody>
          <a:bodyPr wrap="square" lIns="0" tIns="0" rIns="0" bIns="0"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Recorded Future</a:t>
            </a:r>
            <a:endParaRPr lang="en-US" sz="1100" dirty="0"/>
          </a:p>
        </p:txBody>
      </p:sp>
      <p:sp>
        <p:nvSpPr>
          <p:cNvPr id="19" name="Text 17"/>
          <p:cNvSpPr txBox="1"/>
          <p:nvPr/>
        </p:nvSpPr>
        <p:spPr>
          <a:xfrm>
            <a:off x="3383280" y="4069080"/>
            <a:ext cx="8138160" cy="512064"/>
          </a:xfrm>
          <a:prstGeom prst="rect">
            <a:avLst/>
          </a:prstGeom>
          <a:noFill/>
          <a:ln/>
        </p:spPr>
        <p:txBody>
          <a:bodyPr wrap="square" lIns="0" tIns="0" rIns="0" bIns="0" rtlCol="0" anchor="ctr"/>
          <a:lstStyle/>
          <a:p>
            <a:pPr indent="0" marL="0">
              <a:lnSpc>
                <a:spcPct val="98000"/>
              </a:lnSpc>
              <a:buNone/>
            </a:pPr>
            <a:r>
              <a:rPr lang="en-US" sz="1150" dirty="0">
                <a:solidFill>
                  <a:srgbClr val="EAF4FB"/>
                </a:solidFill>
                <a:latin typeface="Arial" pitchFamily="34" charset="0"/>
                <a:ea typeface="Arial" pitchFamily="34" charset="-122"/>
                <a:cs typeface="Arial" pitchFamily="34" charset="-120"/>
              </a:rPr>
              <a:t>Insikt Group: targeting of Indian power-grid assets by state-sponsored activity (Apr 2022).</a:t>
            </a:r>
            <a:endParaRPr lang="en-US" sz="1150" dirty="0"/>
          </a:p>
        </p:txBody>
      </p:sp>
      <p:sp>
        <p:nvSpPr>
          <p:cNvPr id="20" name="Shape 18"/>
          <p:cNvSpPr/>
          <p:nvPr/>
        </p:nvSpPr>
        <p:spPr>
          <a:xfrm>
            <a:off x="685800" y="4617720"/>
            <a:ext cx="2514600" cy="457200"/>
          </a:xfrm>
          <a:prstGeom prst="roundRect">
            <a:avLst>
              <a:gd name="adj" fmla="val 12000"/>
            </a:avLst>
          </a:prstGeom>
          <a:solidFill>
            <a:srgbClr val="0B2A45"/>
          </a:solidFill>
          <a:ln/>
        </p:spPr>
      </p:sp>
      <p:sp>
        <p:nvSpPr>
          <p:cNvPr id="21" name="Text 19"/>
          <p:cNvSpPr txBox="1"/>
          <p:nvPr/>
        </p:nvSpPr>
        <p:spPr>
          <a:xfrm>
            <a:off x="685800" y="4617720"/>
            <a:ext cx="2514600" cy="457200"/>
          </a:xfrm>
          <a:prstGeom prst="rect">
            <a:avLst/>
          </a:prstGeom>
          <a:noFill/>
          <a:ln/>
        </p:spPr>
        <p:txBody>
          <a:bodyPr wrap="square" lIns="0" tIns="0" rIns="0" bIns="0"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Microsoft</a:t>
            </a:r>
            <a:endParaRPr lang="en-US" sz="1100" dirty="0"/>
          </a:p>
        </p:txBody>
      </p:sp>
      <p:sp>
        <p:nvSpPr>
          <p:cNvPr id="22" name="Text 20"/>
          <p:cNvSpPr txBox="1"/>
          <p:nvPr/>
        </p:nvSpPr>
        <p:spPr>
          <a:xfrm>
            <a:off x="3383280" y="4599432"/>
            <a:ext cx="8138160" cy="512064"/>
          </a:xfrm>
          <a:prstGeom prst="rect">
            <a:avLst/>
          </a:prstGeom>
          <a:noFill/>
          <a:ln/>
        </p:spPr>
        <p:txBody>
          <a:bodyPr wrap="square" lIns="0" tIns="0" rIns="0" bIns="0" rtlCol="0" anchor="ctr"/>
          <a:lstStyle/>
          <a:p>
            <a:pPr indent="0" marL="0">
              <a:lnSpc>
                <a:spcPct val="98000"/>
              </a:lnSpc>
              <a:buNone/>
            </a:pPr>
            <a:r>
              <a:rPr lang="en-US" sz="1150" dirty="0">
                <a:solidFill>
                  <a:srgbClr val="EAF4FB"/>
                </a:solidFill>
                <a:latin typeface="Arial" pitchFamily="34" charset="0"/>
                <a:ea typeface="Arial" pitchFamily="34" charset="-122"/>
                <a:cs typeface="Arial" pitchFamily="34" charset="-120"/>
              </a:rPr>
              <a:t>Security Blog: vulnerable SDK components and supply-chain risk in IoT/OT (22 Nov 2022).</a:t>
            </a:r>
            <a:endParaRPr lang="en-US" sz="1150" dirty="0"/>
          </a:p>
        </p:txBody>
      </p:sp>
      <p:sp>
        <p:nvSpPr>
          <p:cNvPr id="23" name="Shape 21"/>
          <p:cNvSpPr/>
          <p:nvPr/>
        </p:nvSpPr>
        <p:spPr>
          <a:xfrm>
            <a:off x="685800" y="5148072"/>
            <a:ext cx="2514600" cy="457200"/>
          </a:xfrm>
          <a:prstGeom prst="roundRect">
            <a:avLst>
              <a:gd name="adj" fmla="val 12000"/>
            </a:avLst>
          </a:prstGeom>
          <a:solidFill>
            <a:srgbClr val="0B2A45"/>
          </a:solidFill>
          <a:ln/>
        </p:spPr>
      </p:sp>
      <p:sp>
        <p:nvSpPr>
          <p:cNvPr id="24" name="Text 22"/>
          <p:cNvSpPr txBox="1"/>
          <p:nvPr/>
        </p:nvSpPr>
        <p:spPr>
          <a:xfrm>
            <a:off x="685800" y="5148072"/>
            <a:ext cx="2514600" cy="457200"/>
          </a:xfrm>
          <a:prstGeom prst="rect">
            <a:avLst/>
          </a:prstGeom>
          <a:noFill/>
          <a:ln/>
        </p:spPr>
        <p:txBody>
          <a:bodyPr wrap="square" lIns="0" tIns="0" rIns="0" bIns="0"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CERT-In / CEA</a:t>
            </a:r>
            <a:endParaRPr lang="en-US" sz="1100" dirty="0"/>
          </a:p>
        </p:txBody>
      </p:sp>
      <p:sp>
        <p:nvSpPr>
          <p:cNvPr id="25" name="Text 23"/>
          <p:cNvSpPr txBox="1"/>
          <p:nvPr/>
        </p:nvSpPr>
        <p:spPr>
          <a:xfrm>
            <a:off x="3383280" y="5129784"/>
            <a:ext cx="8138160" cy="512064"/>
          </a:xfrm>
          <a:prstGeom prst="rect">
            <a:avLst/>
          </a:prstGeom>
          <a:noFill/>
          <a:ln/>
        </p:spPr>
        <p:txBody>
          <a:bodyPr wrap="square" lIns="0" tIns="0" rIns="0" bIns="0" rtlCol="0" anchor="ctr"/>
          <a:lstStyle/>
          <a:p>
            <a:pPr indent="0" marL="0">
              <a:lnSpc>
                <a:spcPct val="98000"/>
              </a:lnSpc>
              <a:buNone/>
            </a:pPr>
            <a:r>
              <a:rPr lang="en-US" sz="1150" dirty="0">
                <a:solidFill>
                  <a:srgbClr val="EAF4FB"/>
                </a:solidFill>
                <a:latin typeface="Arial" pitchFamily="34" charset="0"/>
                <a:ea typeface="Arial" pitchFamily="34" charset="-122"/>
                <a:cs typeface="Arial" pitchFamily="34" charset="-120"/>
              </a:rPr>
              <a:t>CERT-In Directions (28 Apr 2022); CEA Guidelines on Cyber Security in the Power Sector (2021); IT Act 2000; DPDP Act 2023.</a:t>
            </a:r>
            <a:endParaRPr lang="en-US" sz="1150" dirty="0"/>
          </a:p>
        </p:txBody>
      </p:sp>
      <p:sp>
        <p:nvSpPr>
          <p:cNvPr id="26" name="Shape 24"/>
          <p:cNvSpPr/>
          <p:nvPr/>
        </p:nvSpPr>
        <p:spPr>
          <a:xfrm>
            <a:off x="685800" y="5678424"/>
            <a:ext cx="2514600" cy="457200"/>
          </a:xfrm>
          <a:prstGeom prst="roundRect">
            <a:avLst>
              <a:gd name="adj" fmla="val 12000"/>
            </a:avLst>
          </a:prstGeom>
          <a:solidFill>
            <a:srgbClr val="0B2A45"/>
          </a:solidFill>
          <a:ln/>
        </p:spPr>
      </p:sp>
      <p:sp>
        <p:nvSpPr>
          <p:cNvPr id="27" name="Text 25"/>
          <p:cNvSpPr txBox="1"/>
          <p:nvPr/>
        </p:nvSpPr>
        <p:spPr>
          <a:xfrm>
            <a:off x="685800" y="5678424"/>
            <a:ext cx="2514600" cy="457200"/>
          </a:xfrm>
          <a:prstGeom prst="rect">
            <a:avLst/>
          </a:prstGeom>
          <a:noFill/>
          <a:ln/>
        </p:spPr>
        <p:txBody>
          <a:bodyPr wrap="square" lIns="0" tIns="0" rIns="0" bIns="0" rtlCol="0" anchor="ctr"/>
          <a:lstStyle/>
          <a:p>
            <a:pPr algn="ctr" indent="0" marL="0">
              <a:buNone/>
            </a:pPr>
            <a:r>
              <a:rPr lang="en-US" sz="1100" b="1" dirty="0">
                <a:solidFill>
                  <a:srgbClr val="22D3EE"/>
                </a:solidFill>
                <a:latin typeface="Courier New" pitchFamily="34" charset="0"/>
                <a:ea typeface="Courier New" pitchFamily="34" charset="-122"/>
                <a:cs typeface="Courier New" pitchFamily="34" charset="-120"/>
              </a:rPr>
              <a:t>U.S. DoJ / FBI</a:t>
            </a:r>
            <a:endParaRPr lang="en-US" sz="1100" dirty="0"/>
          </a:p>
        </p:txBody>
      </p:sp>
      <p:sp>
        <p:nvSpPr>
          <p:cNvPr id="28" name="Text 26"/>
          <p:cNvSpPr txBox="1"/>
          <p:nvPr/>
        </p:nvSpPr>
        <p:spPr>
          <a:xfrm>
            <a:off x="3383280" y="5660136"/>
            <a:ext cx="8138160" cy="512064"/>
          </a:xfrm>
          <a:prstGeom prst="rect">
            <a:avLst/>
          </a:prstGeom>
          <a:noFill/>
          <a:ln/>
        </p:spPr>
        <p:txBody>
          <a:bodyPr wrap="square" lIns="0" tIns="0" rIns="0" bIns="0" rtlCol="0" anchor="ctr"/>
          <a:lstStyle/>
          <a:p>
            <a:pPr indent="0" marL="0">
              <a:lnSpc>
                <a:spcPct val="98000"/>
              </a:lnSpc>
              <a:buNone/>
            </a:pPr>
            <a:r>
              <a:rPr lang="en-US" sz="1150" dirty="0">
                <a:solidFill>
                  <a:srgbClr val="EAF4FB"/>
                </a:solidFill>
                <a:latin typeface="Arial" pitchFamily="34" charset="0"/>
                <a:ea typeface="Arial" pitchFamily="34" charset="-122"/>
                <a:cs typeface="Arial" pitchFamily="34" charset="-120"/>
              </a:rPr>
              <a:t>Disruption of the Hive ransomware network (26 Jan 2023); NIST SP 800-61 Rev. 2.</a:t>
            </a:r>
            <a:endParaRPr lang="en-US" sz="1150" dirty="0"/>
          </a:p>
        </p:txBody>
      </p:sp>
      <p:sp>
        <p:nvSpPr>
          <p:cNvPr id="29" name="Text 27"/>
          <p:cNvSpPr txBox="1"/>
          <p:nvPr/>
        </p:nvSpPr>
        <p:spPr>
          <a:xfrm>
            <a:off x="685800" y="6355080"/>
            <a:ext cx="10789920" cy="365760"/>
          </a:xfrm>
          <a:prstGeom prst="rect">
            <a:avLst/>
          </a:prstGeom>
          <a:noFill/>
          <a:ln/>
        </p:spPr>
        <p:txBody>
          <a:bodyPr wrap="square" lIns="0" tIns="0" rIns="0" bIns="0" rtlCol="0" anchor="ctr"/>
          <a:lstStyle/>
          <a:p>
            <a:pPr indent="0" marL="0">
              <a:lnSpc>
                <a:spcPct val="100000"/>
              </a:lnSpc>
              <a:buNone/>
            </a:pPr>
            <a:r>
              <a:rPr lang="en-US" sz="950" i="1" dirty="0">
                <a:solidFill>
                  <a:srgbClr val="94A3B8"/>
                </a:solidFill>
                <a:latin typeface="Arial" pitchFamily="34" charset="0"/>
                <a:ea typeface="Arial" pitchFamily="34" charset="-122"/>
                <a:cs typeface="Arial" pitchFamily="34" charset="-120"/>
              </a:rPr>
              <a:t>All facts are drawn from public sources. Tata Power published no forensic report, so the attack chain is a reconstruction based on Hive's documented behaviour; attacker claims are identified as claims. The 2022-vs-today comparison is present-day analysis.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Power Cyberattack 2022 - Cyber Security Case Study</dc:title>
  <dc:subject>PptxGenJS Presentation</dc:subject>
  <dc:creator>Cyber Security Case Study</dc:creator>
  <cp:lastModifiedBy>Cyber Security Case Study</cp:lastModifiedBy>
  <cp:revision>1</cp:revision>
  <dcterms:created xsi:type="dcterms:W3CDTF">2026-10-08T09:47:16Z</dcterms:created>
  <dcterms:modified xsi:type="dcterms:W3CDTF">2026-10-08T09:47:16Z</dcterms:modified>
</cp:coreProperties>
</file>